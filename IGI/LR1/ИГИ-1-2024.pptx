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72" r:id="rId1"/>
  </p:sldMasterIdLst>
  <p:notesMasterIdLst>
    <p:notesMasterId r:id="rId96"/>
  </p:notesMasterIdLst>
  <p:handoutMasterIdLst>
    <p:handoutMasterId r:id="rId97"/>
  </p:handoutMasterIdLst>
  <p:sldIdLst>
    <p:sldId id="280" r:id="rId2"/>
    <p:sldId id="433" r:id="rId3"/>
    <p:sldId id="515" r:id="rId4"/>
    <p:sldId id="516" r:id="rId5"/>
    <p:sldId id="517" r:id="rId6"/>
    <p:sldId id="561" r:id="rId7"/>
    <p:sldId id="504" r:id="rId8"/>
    <p:sldId id="508" r:id="rId9"/>
    <p:sldId id="509" r:id="rId10"/>
    <p:sldId id="510" r:id="rId11"/>
    <p:sldId id="514" r:id="rId12"/>
    <p:sldId id="586" r:id="rId13"/>
    <p:sldId id="587" r:id="rId14"/>
    <p:sldId id="588" r:id="rId15"/>
    <p:sldId id="590" r:id="rId16"/>
    <p:sldId id="591" r:id="rId17"/>
    <p:sldId id="592" r:id="rId18"/>
    <p:sldId id="589" r:id="rId19"/>
    <p:sldId id="593" r:id="rId20"/>
    <p:sldId id="594" r:id="rId21"/>
    <p:sldId id="511" r:id="rId22"/>
    <p:sldId id="512" r:id="rId23"/>
    <p:sldId id="513" r:id="rId24"/>
    <p:sldId id="585" r:id="rId25"/>
    <p:sldId id="437" r:id="rId26"/>
    <p:sldId id="438" r:id="rId27"/>
    <p:sldId id="527" r:id="rId28"/>
    <p:sldId id="562" r:id="rId29"/>
    <p:sldId id="563" r:id="rId30"/>
    <p:sldId id="564" r:id="rId31"/>
    <p:sldId id="565" r:id="rId32"/>
    <p:sldId id="566" r:id="rId33"/>
    <p:sldId id="567" r:id="rId34"/>
    <p:sldId id="529" r:id="rId35"/>
    <p:sldId id="526" r:id="rId36"/>
    <p:sldId id="560" r:id="rId37"/>
    <p:sldId id="521" r:id="rId38"/>
    <p:sldId id="569" r:id="rId39"/>
    <p:sldId id="568" r:id="rId40"/>
    <p:sldId id="531" r:id="rId41"/>
    <p:sldId id="532" r:id="rId42"/>
    <p:sldId id="533" r:id="rId43"/>
    <p:sldId id="523" r:id="rId44"/>
    <p:sldId id="524" r:id="rId45"/>
    <p:sldId id="522" r:id="rId46"/>
    <p:sldId id="534" r:id="rId47"/>
    <p:sldId id="536" r:id="rId48"/>
    <p:sldId id="573" r:id="rId49"/>
    <p:sldId id="530" r:id="rId50"/>
    <p:sldId id="571" r:id="rId51"/>
    <p:sldId id="535" r:id="rId52"/>
    <p:sldId id="572" r:id="rId53"/>
    <p:sldId id="574" r:id="rId54"/>
    <p:sldId id="575" r:id="rId55"/>
    <p:sldId id="538" r:id="rId56"/>
    <p:sldId id="576" r:id="rId57"/>
    <p:sldId id="540" r:id="rId58"/>
    <p:sldId id="577" r:id="rId59"/>
    <p:sldId id="570" r:id="rId60"/>
    <p:sldId id="539" r:id="rId61"/>
    <p:sldId id="544" r:id="rId62"/>
    <p:sldId id="545" r:id="rId63"/>
    <p:sldId id="542" r:id="rId64"/>
    <p:sldId id="546" r:id="rId65"/>
    <p:sldId id="549" r:id="rId66"/>
    <p:sldId id="543" r:id="rId67"/>
    <p:sldId id="578" r:id="rId68"/>
    <p:sldId id="579" r:id="rId69"/>
    <p:sldId id="580" r:id="rId70"/>
    <p:sldId id="547" r:id="rId71"/>
    <p:sldId id="548" r:id="rId72"/>
    <p:sldId id="541" r:id="rId73"/>
    <p:sldId id="581" r:id="rId74"/>
    <p:sldId id="525" r:id="rId75"/>
    <p:sldId id="583" r:id="rId76"/>
    <p:sldId id="559" r:id="rId77"/>
    <p:sldId id="582" r:id="rId78"/>
    <p:sldId id="551" r:id="rId79"/>
    <p:sldId id="552" r:id="rId80"/>
    <p:sldId id="550" r:id="rId81"/>
    <p:sldId id="553" r:id="rId82"/>
    <p:sldId id="554" r:id="rId83"/>
    <p:sldId id="555" r:id="rId84"/>
    <p:sldId id="556" r:id="rId85"/>
    <p:sldId id="558" r:id="rId86"/>
    <p:sldId id="557" r:id="rId87"/>
    <p:sldId id="584" r:id="rId88"/>
    <p:sldId id="595" r:id="rId89"/>
    <p:sldId id="597" r:id="rId90"/>
    <p:sldId id="598" r:id="rId91"/>
    <p:sldId id="599" r:id="rId92"/>
    <p:sldId id="596" r:id="rId93"/>
    <p:sldId id="520" r:id="rId94"/>
    <p:sldId id="537" r:id="rId95"/>
  </p:sldIdLst>
  <p:sldSz cx="12192000" cy="6858000"/>
  <p:notesSz cx="9928225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6600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39" autoAdjust="0"/>
    <p:restoredTop sz="85824" autoAdjust="0"/>
  </p:normalViewPr>
  <p:slideViewPr>
    <p:cSldViewPr snapToGrid="0">
      <p:cViewPr varScale="1">
        <p:scale>
          <a:sx n="60" d="100"/>
          <a:sy n="60" d="100"/>
        </p:scale>
        <p:origin x="1482" y="6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2275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14" d="100"/>
          <a:sy n="114" d="100"/>
        </p:scale>
        <p:origin x="1440" y="-222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viewProps" Target="viewProps.xml"/><Relationship Id="rId10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presProps" Target="presProps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23697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293CAB-A6E8-4F84-B002-DB1C4B9BC430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23697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9271A0-3214-4C0F-98E9-07E8770FBF3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8946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3697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56B409-7F35-4B75-975D-83CC9322541B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3697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3E2D1D-25A5-45DC-B24F-AC401B916F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6818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ru.wikipedia.org/wiki/Agile_Manifesto" TargetMode="External"/><Relationship Id="rId7" Type="http://schemas.openxmlformats.org/officeDocument/2006/relationships/hyperlink" Target="https://ru.wikipedia.org/wiki/Feature_driven_development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ru.wikipedia.org/wiki/%D0%91%D0%B5%D1%80%D0%B5%D0%B6%D0%BB%D0%B8%D0%B2%D0%B0%D1%8F_%D1%80%D0%B0%D0%B7%D1%80%D0%B0%D0%B1%D0%BE%D1%82%D0%BA%D0%B0_%D0%BF%D1%80%D0%BE%D0%B3%D1%80%D0%B0%D0%BC%D0%BC%D0%BD%D0%BE%D0%B3%D0%BE_%D0%BE%D0%B1%D0%B5%D1%81%D0%BF%D0%B5%D1%87%D0%B5%D0%BD%D0%B8%D1%8F" TargetMode="External"/><Relationship Id="rId5" Type="http://schemas.openxmlformats.org/officeDocument/2006/relationships/hyperlink" Target="https://ru.wikipedia.org/wiki/%D0%9A%D0%B0%D0%BD%D0%B1%D0%B0%D0%BD_(%D1%80%D0%B0%D0%B7%D1%80%D0%B0%D0%B1%D0%BE%D1%82%D0%BA%D0%B0)" TargetMode="External"/><Relationship Id="rId4" Type="http://schemas.openxmlformats.org/officeDocument/2006/relationships/hyperlink" Target="https://ru.wikipedia.org/wiki/SCRUM" TargetMode="Externa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skillfactory.ru/glossary/docker/" TargetMode="External"/><Relationship Id="rId7" Type="http://schemas.openxmlformats.org/officeDocument/2006/relationships/hyperlink" Target="https://cloud.yandex.ru/services/container-registry" TargetMode="External"/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cloud.yandex.ru/services/managed-kubernetes/" TargetMode="External"/><Relationship Id="rId5" Type="http://schemas.openxmlformats.org/officeDocument/2006/relationships/hyperlink" Target="https://cloud.yandex.ru/services/managed-gitlab" TargetMode="External"/><Relationship Id="rId4" Type="http://schemas.openxmlformats.org/officeDocument/2006/relationships/hyperlink" Target="https://blog.skillfactory.ru/glossary/github/" TargetMode="Externa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cloud.yandex.ru/blog/posts/2022/03/what-is-devops" TargetMode="External"/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nu.org/software/rcs/" TargetMode="External"/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devpractice.ru/git-for-beginners-part-4-git-arch/" TargetMode="External"/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devpractice.ru/git-for-beginners-part-4-git-arch/" TargetMode="External"/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2691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1434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DevOps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(англ.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development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operations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– набор практик, который направлен на сокращение жизненного цикла разработки систем и обеспечение непрерывной поставки программного обеспечения высокого качества. Взаимодействие разработчиков и специалистов по информационно-технологическому обслуживанию, а также взаимная интеграция их рабочих процессов, позволяет создавать качественные продукты в короткие сроки.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Разработка (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development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и эксплуатация (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operations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продолжительное время были изолированными модулями. Код писали программисты, а системные администраторы отвечали за его развертывание и интеграцию. В рамках одного проекта специалисты работали отдельно, поскольку связь между двумя разрозненными хранилищами была ограничена.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Этот метод работал с 1970 года, пока доминировала каскадная модель процесса разработки программного обеспечения, известная как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Waterfall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Методика предполагала последовательный переход между этапами без пропусков и возвращений на предыдущие стадии.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6907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https://proglib.io/p/osnovy-metodologii-devops-2021-02-20</a:t>
            </a:r>
          </a:p>
          <a:p>
            <a:endParaRPr lang="en-US" dirty="0"/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2001 году на смену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Waterfall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пришла гибкая методология разработки или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Agile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Она включает ряд подходов и практик, основанных на четырех ценностях и 12 принципах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«Манифеста гибкой разработки программного обеспечения»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Сюда также относят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SCRUM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ru-R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Kanban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ru-R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/>
              </a:rPr>
              <a:t>Lean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ru-R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7"/>
              </a:rPr>
              <a:t>Feature-driven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7"/>
              </a:rPr>
              <a:t> </a:t>
            </a:r>
            <a:r>
              <a:rPr lang="ru-R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7"/>
              </a:rPr>
              <a:t>development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(FDD) и другие сходные подходы.</a:t>
            </a:r>
          </a:p>
          <a:p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Agile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применяется к организации работы небольших групп, которые создают продукт короткими итерациями (от двух до четырех недель). Каждая итерация выглядит как программный проект, который включает все типовые задачи: планирование, анализ требований, проектирование, программирование, тестирование, документирование. В конце итерации заказчик получает рабочий продукт.</a:t>
            </a:r>
          </a:p>
          <a:p>
            <a:endParaRPr lang="en-US" dirty="0"/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Методология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Agile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критиковали за отсутствие управления требованиями. Заказчик может выставить новые требования в конце каждой итерации, что противоречит архитектуре уже созданного продукта. Частые изменения и усовершенствования продукта могут привести к массовому рефакторингу и плавающей стоимости проекта в итоге.</a:t>
            </a:r>
          </a:p>
          <a:p>
            <a:r>
              <a:rPr lang="en-US" dirty="0"/>
              <a:t>https://habr.com/ru/articles/681516/</a:t>
            </a:r>
            <a:r>
              <a:rPr lang="ru-RU" dirty="0"/>
              <a:t>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8835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https://proglib.io/p/osnovy-metodologii-devops-2021-02-20</a:t>
            </a:r>
          </a:p>
          <a:p>
            <a:r>
              <a:rPr lang="en-US" dirty="0"/>
              <a:t>https://intuit.ru/studies/courses/3680/922/lecture/32689?page=1 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2010 году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Дэймоном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Эдвардсом и Джоном Уиллисом была разработана модель CAMS, ключевые идеи которой стали принципами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DevOps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Согласно ей, развитие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DevOps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идет в трех направлениях: люди, процессы и инструменты. При этом важна поддержка каждого пункта на всех этапах развития.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Аббревиатура CAMS расшифровывается следующим образом: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культура (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culture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);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автоматизация (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automation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);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измерение (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measurement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);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обмен (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sharing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9090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https://proglib.io/p/osnovy-metodologii-devops-2021-02-20</a:t>
            </a:r>
          </a:p>
          <a:p>
            <a:r>
              <a:rPr lang="en-US" dirty="0"/>
              <a:t>https://intuit.ru/studies/courses/3680/922/lecture/32689?page=1 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9671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Сегодня эта концепция является доминирующей в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DevOps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является одной из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DevOps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практик.</a:t>
            </a:r>
          </a:p>
          <a:p>
            <a:r>
              <a:rPr lang="en-US" dirty="0"/>
              <a:t>https://habr.com/ru/company/otus/blog/515078/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7079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https://katalon.com/resources-center/blog/ci-cd-introduction</a:t>
            </a:r>
            <a:r>
              <a:rPr lang="ru-RU" dirty="0"/>
              <a:t>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1637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 latinLnBrk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https://blog.skillfactory.ru/glossary/ci-cd/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fontAlgn="base" latinLnBrk="0"/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Разработка по методике CI/CD соответствует таким основным принципам:</a:t>
            </a:r>
          </a:p>
          <a:p>
            <a:pPr fontAlgn="base" latinLnBrk="0"/>
            <a:r>
              <a:rPr lang="ru-RU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Распределение ответственности.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Задачи и этапы разработки разделяются между членами команды или ее подгруппами (при работе над большим проектом). Рабочий процесс организуется с учетом бизнес-логистики, внедрения сквозных функций, проведения тестов, безопасности хранения данных и т.д.</a:t>
            </a:r>
          </a:p>
          <a:p>
            <a:pPr fontAlgn="base" latinLnBrk="0"/>
            <a:r>
              <a:rPr lang="ru-RU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Сокращение рисков.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Каждый разработчик или подгруппа разработчиков должны стремиться минимизировать уязвимости и ошибки на всех этапах разработки. Для этого постоянно контролируется бизнес-логистика, проводится пользовательское тестирование продукта, оптимизируется хранение, обработка данных и т.д.</a:t>
            </a:r>
          </a:p>
          <a:p>
            <a:pPr fontAlgn="base" latinLnBrk="0"/>
            <a:r>
              <a:rPr lang="ru-RU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Оптимизация обратной связи.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Успех проекта зависит от того, как работают друг с другом разработчики, клиенты и пользователи. Это влияет на скорость внесения в приложение корректировок и обновлений. Если сборку и тестирование можно автоматизировать, то во многих других операциях требуется участие человека. Чтобы взаимодействие происходило </a:t>
            </a:r>
            <a:r>
              <a:rPr lang="ru-R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конструктивнее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уменьшается количество посредников между заказчиком, исполнителями и пользователями.</a:t>
            </a:r>
          </a:p>
          <a:p>
            <a:pPr fontAlgn="base" latinLnBrk="0"/>
            <a:r>
              <a:rPr lang="ru-RU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Создание рабочей среды.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Для удобства совместной работы у разработчиков должно быть общее рабочее пространство. Помимо основной ветки процесса в нем должна быть побочная – в ней удобнее проводить тестирование, вносить корректировки, отслеживать отказоустойчивость и т.д.</a:t>
            </a:r>
          </a:p>
          <a:p>
            <a:pPr fontAlgn="base" latinLnBrk="0"/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СI/CD представляет собой современную аналогию конвейерного производства. Их объединяют четкое распределение труда, непрерывный, потоковый характер рабочего процесса, параллельное выполнение сразу нескольких задач (например, </a:t>
            </a:r>
            <a:r>
              <a:rPr lang="ru-R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кодинга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тестирования). 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012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Команда разработки пишет новый код, исправляет ошибки или внедряет дополнительные функции, выполняет тесты, а затем отправляет в ветку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master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 актуальной сборкой программного продукта. Одна или несколько команд могут отправить любое количество модулей с кодом в ветку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master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Сборка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Когда срабатывает триггер, начинается автоматическая сборка и тестирование кода. Условия для запуска системы управления версиями и начала сборки настраиваются заранее.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Тестирование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Когда программа заканчивает тестировать работоспособность выкатываемой версии проекта, можно приступать к ручной проверке.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Релиз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Когда ручное тестирование завершено успешно, разработчики вносят нужные исправления и выпускают новую версию своего продукта.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Развёртывание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Финальная версия кода отправляется на боевой сервер. Пользователь начинает взаимодействовать с сервисом или приложением, изучать новые функции.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Поддержка и мониторинг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Программный продукт становится доступным обычным пользователям. В этот момент отдел разработки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мониторит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происходящее, отслеживая и анализируя пользовательский опыт.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Планирование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Используя данные мониторинга, разработчики формулируют идеи новых функций и план дальнейших улучшений продукта. Далее команда разработки приступает к написанию кода.</a:t>
            </a:r>
          </a:p>
          <a:p>
            <a:pPr fontAlgn="base" latinLnBrk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6513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 latinLnBrk="0"/>
            <a:r>
              <a:rPr lang="en-US" dirty="0"/>
              <a:t>https://katalon.com/resources-center/blog/ci-cd-introduction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9946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CI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Pipeline</a:t>
            </a:r>
            <a:endParaRPr lang="ru-RU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Название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workflow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Это имя вашего автоматического процесса (например, будет отображаться в списке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Actions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GitHub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2. 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[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push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Триггер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Workflow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запустится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 любом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push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в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(когда вы или кто-то загружает изменения в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GitHub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3. 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jobs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Начало списка задач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Здесь описываются все задачи, которые нужно выполнить (может быть несколько задач).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4. 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build-and-test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Название задачи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Эту задачу можно назвать как угодно (например, «тестирование-и-сборка»).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5. 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runs-on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ubuntu-latest</a:t>
            </a:r>
            <a:endParaRPr lang="ru-RU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Окружение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Задача будет выполняться на виртуальной машине с последней версией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Ubuntu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(предоставляется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GitHub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6. 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steps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Список шагов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Начало перечисления действий, которые выполнятся внутри задачи.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7. -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Checkout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code</a:t>
            </a:r>
            <a:endParaRPr lang="ru-RU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Шаг 1 — название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«Достань код из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». Без этого шага у процесса не будет доступа к вашему коду.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8. 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uses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actions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/checkout@v4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 делает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Использует готовое действие от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GitHub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чтобы скопировать ваш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на виртуальную машину.</a:t>
            </a:r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 @v4 — версия этого действия (как номер версии в приложении).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9. -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Install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dependencies</a:t>
            </a:r>
            <a:endParaRPr lang="ru-RU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Шаг 2 — название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«Установи зависимости». Например, библиотеки, без которых проект не соберется.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10. 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npm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install</a:t>
            </a:r>
            <a:endParaRPr lang="ru-RU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Команда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Выполняет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npm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install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в терминале (установка пакетов для Node.js).</a:t>
            </a:r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 Если бы проект был на Python, здесь могло бы быть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pip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install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-r requirements.txt.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11. -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tests</a:t>
            </a:r>
            <a:endParaRPr lang="ru-RU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Шаг 3 — название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«Запусти тесты». Проверяет, не сломали ли изменения существующий функционал.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12. 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npm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</a:t>
            </a:r>
            <a:endParaRPr lang="ru-RU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Команда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Запускает тесты через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npm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(стандартная команда для тестов в Node.js).</a:t>
            </a:r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 Если тесты провалятся — весь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workflow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завершится с ошибкой ❌.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13. -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project</a:t>
            </a:r>
            <a:endParaRPr lang="ru-RU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Шаг 4 — название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«Собери проект». Подготовка кода к использованию (например,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минификация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компиляция).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14. 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npm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</a:t>
            </a:r>
            <a:endParaRPr lang="ru-RU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Команда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Запускает сборку проекта через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npm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(создает папку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 или аналогичную).</a:t>
            </a:r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 Результат можно загрузить как артефакт или использовать для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деплоя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 это работает вместе: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 делаете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push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→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GitHub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запускает этот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workflow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Виртуальная машина с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Ubuntu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копирует ваш код.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Устанавливает зависимости → запускает тесты → собирает проект.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 все шаги прошли успешно — статус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workflow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будет ✅, иначе — ❌.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Пример сценария:</a:t>
            </a:r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 вы забыли установить библиотеку, шаг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npm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install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выдаст ошибку → процесс остановится, и вы получите уведомление.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4752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 name: CD Pipeline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Название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workflow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 имя процесса, которое будет отображаться в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GitHub Actions (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например, "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CD Pipeline").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 on: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Триггеры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Указывает, при каких событиях запускать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workflow.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 push: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 Workflow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запустится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только при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пуше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(загрузке изменений в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branches: [main]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Срабатывает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только для ветки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 типично для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CD —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деплой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происходит после слияния в основную ветку.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jobs: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Секция задач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Начало списка задач, которые будут выполнены.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deploy: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Название задачи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Здесь можно было бы написать что-то вроде "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deploy-to-production".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7. runs-on: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ubuntu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-latest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Окружение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Задача выполняется на виртуальной машине с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Ubuntu (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предоставляется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GitHub).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8. steps: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Список шагов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Последовательность действий для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деплоя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9. -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name: Checkout code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Шаг 1 — название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"Скопируй код из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".</a:t>
            </a:r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Без этого шага у процесса не будет доступа к вашему коду.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uses: actions/checkout@v4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Действие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Использует официальный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GitHub Action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копирования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@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v4 —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версия этого действия (всегда лучше указывать конкретную версию).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11. -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name: Install dependencies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Шаг 2 — название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"Установи зависимости проекта".</a:t>
            </a:r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Например,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Node.js-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библиотеки из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package.json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12. run: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npm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install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Команда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Устанавливает зависимости через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npm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менеджер пакетов для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JavaScript).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13. - name: Build project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Шаг 3 — название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"Собери проект".</a:t>
            </a:r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Подготовка кода к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деплою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(например,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минификация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CSS/JS).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14. run: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npm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run build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Команда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Запускает сборку через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npm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Обычно создает папку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 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или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build/ 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 готовыми файлами.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15. -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name: Deploy to S3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Шаг 4 — название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"Загрузи файлы на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AWS S3".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S3 —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 облачное хранилище файлов от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Amazon.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16. uses: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aws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-actions/configure-aws-credentials@v2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Действие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Настраивает доступ к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AWS.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Официальный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Action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AWS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авторизации.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17. 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Параметры авторизации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Здесь передаются данные для доступа к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AWS.</a:t>
            </a:r>
          </a:p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aws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-access-key-id: ${{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secrets.AWS_ACCESS_KEY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}}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Ключ доступа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AWS (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хранится в секретах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GitHub).</a:t>
            </a:r>
          </a:p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aws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-secret-access-key: ${{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secrets.AWS_SECRET_KEY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}}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Секретный ключ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AWS (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тоже в секретах).</a:t>
            </a:r>
          </a:p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aws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-region: us-east-1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Регион, где находится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S3-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бакет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(например,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us-east-1 —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Северная Вирджиния).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S3-бакет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это как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виртуальная корзина для файлов в облаке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от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Amazon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(AWS)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18. -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run: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aws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s3 sync ./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dist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s3://my-bucket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→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Команда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Синхронизирует папку ./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S3-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бакетом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my-bucket.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aws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CLI-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инструмент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AWS.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s3 sync —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загружает только новые/измененные файлы.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./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локальная папка со статическими файлами после сборки.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s3://my-bucket —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название вашего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бакета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AWS (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нужно заменить на свое).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7533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это контроль качества (проверка товара на брак).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CD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это доставка товара в магазины.</a:t>
            </a:r>
          </a:p>
          <a:p>
            <a:pPr lvl="1"/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Continuous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Delivery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товар запакован и готов к отправке, но нужно нажать кнопку «Отправить».</a:t>
            </a:r>
          </a:p>
          <a:p>
            <a:pPr lvl="1"/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Continuous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Deployment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товар автоматически отправляется в магазин сразу после проверки.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0046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 latinLnBrk="0"/>
            <a:r>
              <a:rPr lang="ru-RU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Преимущества CI/CD</a:t>
            </a:r>
          </a:p>
          <a:p>
            <a:pPr fontAlgn="base" latinLnBrk="0"/>
            <a:r>
              <a:rPr lang="ru-RU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Сокращение сроков разработки.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Методология уменьшает время доработок до нескольких дней, в сложных проектах — недель. Это позволяет разработчикам быстрее тестировать и опробовать нововведения, а затем внедрять их в продукт раньше конкурентов.</a:t>
            </a:r>
          </a:p>
          <a:p>
            <a:pPr fontAlgn="base" latinLnBrk="0"/>
            <a:r>
              <a:rPr lang="ru-RU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Отбор перспективных вариантов.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Быстрое тестирование и большое количество итераций позволяют разработчику вовремя отсеивать бесперспективные варианты кода на начальных этапах. Это также способствует экономичному расходованию времени и ресурсов без их распыления на тупиковые направления.</a:t>
            </a:r>
          </a:p>
          <a:p>
            <a:pPr fontAlgn="base" latinLnBrk="0"/>
            <a:r>
              <a:rPr lang="ru-RU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Качество тестирования.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Сочетание ручной и автоматизированной проверки позволяет выявлять ошибки на ранних этапах разработки. Это снижает вероятность их накопления на этапе релиза, что еще больше сокращает время работы над проектом.</a:t>
            </a:r>
          </a:p>
          <a:p>
            <a:pPr fontAlgn="base" latinLnBrk="0"/>
            <a:r>
              <a:rPr lang="ru-RU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Недостатки CI/CD</a:t>
            </a:r>
          </a:p>
          <a:p>
            <a:pPr fontAlgn="base" latinLnBrk="0"/>
            <a:r>
              <a:rPr lang="ru-RU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Высокие требования к опыту.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Рабочий процесс в любой компании можно перевести на методологию CI/CD. Однако это требует от разработчиков как знания самой концепции на практическом уровне, так и умения быстро реорганизовать процессы в самой организации. Иными словами, CI/CD имеет достаточно большой порог вхождения в сравнении со многими традиционными методологиями.</a:t>
            </a:r>
          </a:p>
          <a:p>
            <a:pPr fontAlgn="base" latinLnBrk="0"/>
            <a:r>
              <a:rPr lang="ru-RU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Сложность постоянного взаимодействия.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Непрерывная интеграция и доставка программного продукта требуют от разработчиков высокой </a:t>
            </a:r>
            <a:r>
              <a:rPr lang="ru-R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скоординированности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действий. На практике это означает, что должно быть отдельное лицо, которое занимается организацией рабочего процесса и налаживанием взаимодействия между членами команды.</a:t>
            </a:r>
          </a:p>
          <a:p>
            <a:pPr fontAlgn="base" latinLnBrk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6895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 latinLnBrk="0"/>
            <a:r>
              <a:rPr lang="en-US" sz="10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https://katalon.com/resources-center/blog/ci-cd-tools</a:t>
            </a:r>
            <a:r>
              <a:rPr lang="ru-RU" sz="10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дополнительное</a:t>
            </a:r>
          </a:p>
          <a:p>
            <a:pPr fontAlgn="base" latinLnBrk="0"/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 как непрерывная интеграция и развертывание подразумевает автоматизацию многих процессов в ходе разработки, для этого созданы различные программные инструменты и сервисы:</a:t>
            </a:r>
          </a:p>
          <a:p>
            <a:pPr fontAlgn="base" latinLnBrk="0"/>
            <a:r>
              <a:rPr lang="ru-RU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GitLab</a:t>
            </a:r>
            <a:r>
              <a:rPr lang="ru-RU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Эта платформа позволяет управлять хранилищами проекта, документировать результаты тестирования и доработок, анализировать и дополнять функциональность проекта, выявлять и устранять ошибки.</a:t>
            </a:r>
          </a:p>
          <a:p>
            <a:pPr fontAlgn="base" latinLnBrk="0"/>
            <a:r>
              <a:rPr lang="ru-RU" sz="1200" b="1" i="0" u="sng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Docker</a:t>
            </a:r>
            <a:r>
              <a:rPr lang="ru-RU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СD-система, позволяющая </a:t>
            </a:r>
            <a:r>
              <a:rPr lang="ru-R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контейнеризировать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проект, то есть упаковать его со всем окружением и зависимостями.</a:t>
            </a:r>
          </a:p>
          <a:p>
            <a:pPr fontAlgn="base" latinLnBrk="0"/>
            <a:r>
              <a:rPr lang="ru-RU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Travis</a:t>
            </a:r>
            <a:r>
              <a:rPr lang="ru-RU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-CI.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Сервер, который можно подключать к виртуальным </a:t>
            </a:r>
            <a:r>
              <a:rPr lang="ru-R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репозиториям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u="sng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GitHub</a:t>
            </a:r>
            <a:r>
              <a:rPr lang="ru-RU" sz="1200" b="0" i="0" u="sng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 минимальными настройками. Благодаря использованию облачных технологий его не нужно отдельно устанавливать.</a:t>
            </a:r>
          </a:p>
          <a:p>
            <a:pPr fontAlgn="base" latinLnBrk="0"/>
            <a:r>
              <a:rPr lang="ru-RU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Jenkins</a:t>
            </a:r>
            <a:r>
              <a:rPr lang="ru-RU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Один из самый популярных </a:t>
            </a:r>
            <a:r>
              <a:rPr lang="ru-R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DevOps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-инструментов, совместимый со всевозможными плагинами для адаптации под различные проекты и задачи.</a:t>
            </a:r>
          </a:p>
          <a:p>
            <a:pPr fontAlgn="base" latinLnBrk="0"/>
            <a:r>
              <a:rPr lang="ru-RU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PHP </a:t>
            </a:r>
            <a:r>
              <a:rPr lang="ru-RU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Censor</a:t>
            </a:r>
            <a:r>
              <a:rPr lang="ru-RU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CI-сервер, автоматизирующий сборку PHP-проектов. Может работать с </a:t>
            </a:r>
            <a:r>
              <a:rPr lang="ru-R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репозиториями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GitLab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Mercurial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другими, с библиотеками для тестирования </a:t>
            </a:r>
            <a:r>
              <a:rPr lang="ru-R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Atoum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PHP </a:t>
            </a:r>
            <a:r>
              <a:rPr lang="ru-R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Spec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Behat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fontAlgn="base" latinLnBrk="0"/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Возможность оперативно вносить изменения, постоянно тестировать и дорабатывать продукт, взаимодействовать не только друг с другом, но и с клиентом — вот что делает концепцию CI/CD популярной среди разработчиков. Сегодня ее понимание и практическое освоение являются важной рекомендацией при разработке как крупных, так и небольших проектов.</a:t>
            </a:r>
          </a:p>
          <a:p>
            <a:pPr fontAlgn="base" latinLnBrk="0"/>
            <a:endParaRPr lang="ru-RU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0"/>
            <a:endParaRPr lang="ru-RU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Команды используют разные инструменты для автоматизации процесса тестирования и доставки кода до конечных пользователей. Что применяют чаще всего?</a:t>
            </a:r>
          </a:p>
          <a:p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GitLab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CI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Используется для управления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репозиториями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проекта, ведения истории выполнения тестов и доработок, контроля ошибок. С помощью </a:t>
            </a:r>
            <a:r>
              <a:rPr lang="ru-R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Managed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 </a:t>
            </a:r>
            <a:r>
              <a:rPr lang="ru-R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Service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 </a:t>
            </a:r>
            <a:r>
              <a:rPr lang="ru-R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for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 </a:t>
            </a:r>
            <a:r>
              <a:rPr lang="ru-R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GitLab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можно управлять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DevOps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‑платформой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GitLab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 инфраструктуре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Yandex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Cloud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Jenkins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Проверенный временем инструмент, благодаря которому разработчики могут быстрее строить, автоматизировать и тестировать код. Поддерживает работу с более чем 1400 плагинами, позволяя настроить процесс под требования разных команд.</a:t>
            </a:r>
          </a:p>
          <a:p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Buddy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Умный инструмент с удобным интерфейсом. Надёжный, простой, а потому популярный. Подходит для полноценной разработки с использованием кода с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GitHub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Bitbucket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GitLab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Bamboo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CI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Инструмент может одновременно собирать, тестировать и развёртывать несколько проектов, при ошибках предоставляет анализ произошедшего, совместим с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PHPUnit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JUnit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Selenium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 поддерживает импорт из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Jenkins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Docker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Благодаря контейнеризации решаются многие задачи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микросервисной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архитектуры. Можно упаковать проект со всем окружением и зависимостями в контейнер, создавать кластеры актуальных версий, распределять нагрузку и вести статистику. Управлять проектом будет проще, если использовать </a:t>
            </a:r>
            <a:r>
              <a:rPr lang="ru-R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/>
              </a:rPr>
              <a:t>Managed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/>
              </a:rPr>
              <a:t> </a:t>
            </a:r>
            <a:r>
              <a:rPr lang="ru-R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/>
              </a:rPr>
              <a:t>Service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/>
              </a:rPr>
              <a:t> </a:t>
            </a:r>
            <a:r>
              <a:rPr lang="ru-R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/>
              </a:rPr>
              <a:t>for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/>
              </a:rPr>
              <a:t> </a:t>
            </a:r>
            <a:r>
              <a:rPr lang="ru-R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/>
              </a:rPr>
              <a:t>Kubernetes</a:t>
            </a:r>
            <a:r>
              <a:rPr lang="ru-RU" sz="1200" b="0" i="0" u="none" strike="noStrike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/>
              </a:rPr>
              <a:t>®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А если нужно управлять только образами и контейнерами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Docker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используйте </a:t>
            </a:r>
            <a:r>
              <a:rPr lang="ru-R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7"/>
              </a:rPr>
              <a:t>Container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7"/>
              </a:rPr>
              <a:t> </a:t>
            </a:r>
            <a:r>
              <a:rPr lang="ru-R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7"/>
              </a:rPr>
              <a:t>Registry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Circle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CI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Хорошо известная платформа для автоматизации сборки и тестирования, организации комплексного процесса развёртывания. Предусмотрена возможность интеграции с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Bitbucket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GitHub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GitHub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Enterprise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 также облачными сервисами. Решение поддерживает матрицу систем контроля версий, контейнерных систем и механизмов поставки.</a:t>
            </a:r>
          </a:p>
          <a:p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CodeShip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Инструмент умеет разворачивать код напрямую из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GitHub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Bitbucket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Предлагает удобную среду, которая совместима с разными технологиями, языками и развёртываниями в разных окружениях.</a:t>
            </a:r>
          </a:p>
          <a:p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Travis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‑CI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Облачный сервис непрерывной интеграции, который умеет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бесшовно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интегрироваться с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GitHub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 минимумом настроек.</a:t>
            </a:r>
          </a:p>
          <a:p>
            <a:pPr fontAlgn="base" latinLnBrk="0"/>
            <a:endParaRPr lang="ru-RU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 latinLnBrk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3689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 latinLnBrk="0"/>
            <a:r>
              <a:rPr lang="en-US" dirty="0"/>
              <a:t>https://www.spiceworks.com/tech/devops/articles/cicd-vs-devops/</a:t>
            </a:r>
            <a:endParaRPr lang="ru-RU" dirty="0"/>
          </a:p>
          <a:p>
            <a:pPr fontAlgn="base" latinLnBrk="0"/>
            <a:r>
              <a:rPr lang="en-US" dirty="0"/>
              <a:t>https://cloud.yandex.ru/blog/posts/2022/10/ci-cd</a:t>
            </a:r>
            <a:endParaRPr lang="ru-RU" dirty="0"/>
          </a:p>
          <a:p>
            <a:pPr fontAlgn="base" latinLnBrk="0"/>
            <a:endParaRPr lang="ru-RU" dirty="0"/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 чём отличие от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DevOps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DevOps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это более широкое понятие, чем методика CI/CD, поскольку распространяется на весь цикл разработки ПО. Сюда входит сотрудничество разработчиков, мониторинг, контроль версий и т. д. Если же говорить о CI/CD, то это одна из практик, основной элемент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DevOps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Можно сказать иначе: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DevOps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это философия и культура, которая позволяет улучшить качество разработки, а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Continuous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Integration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Continuous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Delivery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цепочка из упомянутых выше семи этапов, благодаря которым становится возможным данный подход.</a:t>
            </a:r>
          </a:p>
          <a:p>
            <a:pPr fontAlgn="base" latinLnBrk="0"/>
            <a:endParaRPr lang="en-US" dirty="0"/>
          </a:p>
          <a:p>
            <a:pPr fontAlgn="base" latinLnBrk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7851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 latinLnBrk="0"/>
            <a:endParaRPr lang="en-US" dirty="0"/>
          </a:p>
          <a:p>
            <a:pPr fontAlgn="base" latinLnBrk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034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84923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https://git-scm.com/book/en/v2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истемы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контроля версий являются важнейшей частью процесса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Continuous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integration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поскольку позволяют производить одновременную разработку, через доступное для всех разработчиков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версионирование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через удалённый сервер со всеми версиями. Таким образом любой из разработчиков может получить последнюю версию рабочего кода, соединить её со своей и проверить работоспособность. Также в данный процесс тесно внедрены системы тестирования. Так, в некоторых случаях буквально на каждый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могут запускаться юнит-тесты и интеграционное тестирование на CI сервере, которое в автоматическом режим проверит работоспособность и совместимость кода.</a:t>
            </a:r>
            <a:endParaRPr lang="en-US" b="1" dirty="0">
              <a:solidFill>
                <a:srgbClr val="484848"/>
              </a:solidFill>
              <a:latin typeface="TT Norms Pro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>
              <a:solidFill>
                <a:srgbClr val="484848"/>
              </a:solidFill>
              <a:latin typeface="TT Norms Pro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b="1" dirty="0">
                <a:solidFill>
                  <a:srgbClr val="484848"/>
                </a:solidFill>
                <a:latin typeface="TT Norms Pro"/>
              </a:rPr>
              <a:t>Системы версий.</a:t>
            </a:r>
            <a:r>
              <a:rPr lang="ru-RU" dirty="0">
                <a:solidFill>
                  <a:srgbClr val="484848"/>
                </a:solidFill>
                <a:latin typeface="TT Norms Pro"/>
              </a:rPr>
              <a:t> Например, </a:t>
            </a:r>
            <a:r>
              <a:rPr lang="ru-RU" dirty="0" err="1">
                <a:solidFill>
                  <a:srgbClr val="484848"/>
                </a:solidFill>
                <a:latin typeface="TT Norms Pro"/>
              </a:rPr>
              <a:t>Git</a:t>
            </a:r>
            <a:r>
              <a:rPr lang="ru-RU" dirty="0">
                <a:solidFill>
                  <a:srgbClr val="484848"/>
                </a:solidFill>
                <a:latin typeface="TT Norms Pro"/>
              </a:rPr>
              <a:t>. Они позволяют отслеживать процесс разработки, видеть все внесенные изменения, сливать разные версии кода и в случае поломки быстро откатить приложение к предыдущей, рабочей конфигурации.</a:t>
            </a:r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6548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https://git-scm.com/book/en/v2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dirty="0"/>
              <a:t>Локальные</a:t>
            </a:r>
            <a:r>
              <a:rPr lang="ru-RU" sz="1200" dirty="0"/>
              <a:t> (копирование файлов в отдельный каталог или база данных с записями об изменениях в файлах – контроль ревизий; пример: </a:t>
            </a:r>
            <a:r>
              <a:rPr lang="ru-RU" sz="1200" dirty="0">
                <a:hlinkClick r:id="rId3"/>
              </a:rPr>
              <a:t>RCS</a:t>
            </a:r>
            <a:r>
              <a:rPr lang="ru-RU" sz="1200" dirty="0"/>
              <a:t> хранит на диске наборы </a:t>
            </a:r>
            <a:r>
              <a:rPr lang="ru-RU" sz="1200" dirty="0" err="1"/>
              <a:t>патчей</a:t>
            </a:r>
            <a:r>
              <a:rPr lang="ru-RU" sz="1200" dirty="0"/>
              <a:t> (различий между файлами) в специальном формате, применяя которые она может воссоздавать состояние каждого файла в заданный момент времени.).</a:t>
            </a:r>
          </a:p>
          <a:p>
            <a:endParaRPr lang="ru-RU" dirty="0"/>
          </a:p>
          <a:p>
            <a:r>
              <a:rPr lang="ru-RU" sz="1200" b="1" dirty="0"/>
              <a:t>Централизованные</a:t>
            </a:r>
            <a:r>
              <a:rPr lang="ru-RU" sz="1200" dirty="0"/>
              <a:t> -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приложения типа клиент-сервер с доступом через специальное клиентское приложение, используют единственный сервер, содержащий все версии файлов, и некоторое количество клиентов, которые получают файлы из этого централизованного хранилища. Применение ЦСКВ являлось стандартом на протяжении многих лет. Администраторы имеют полный контроль над тем, кто и что может делать, и гораздо проще администрировать ЦСКВ, чем оперировать локальными базами данных на каждом клиенте.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Несмотря на это, данный подход тоже имеет серьёзные минусы. Самый очевидный минус — это единая точка отказа, представленная централизованным сервером. Если этот сервер выйдет из строя на час, то в течение этого времени никто не сможет использовать контроль версий для сохранения изменений, над которыми работает, а также никто не сможет обмениваться этими изменениями с другими разработчиками.</a:t>
            </a: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Распределённые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-(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Mercurial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Bazaar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или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Darcs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клиенты не просто скачивают снимок всех файлов (состояние файлов на определённый момент времени) — они полностью копируют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В этом случае, если один из серверов, через который разработчики обменивались данными, умрёт, любой клиентский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может быть скопирован на другой сервер для продолжения работы. Каждая копия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является полным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бэкапом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всех данных.</a:t>
            </a: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Многие РСКВ могут одновременно взаимодействовать с несколькими удалёнными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репозиториями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благодаря этому вы можете работать с различными группами людей, применяя различные подходы единовременно в рамках одного проекта. Это позволяет применять сразу несколько подходов в разработке, например, иерархические модели, что совершенно невозможно в централизованных системах.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https://devpractice.ru/git-for-beginners-part-1-what-is-vcs/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Распределенные системы контроля версий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Distributed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Version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Control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DVCS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позволяют хранить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(его копию) у каждого разработчика, работающего с данной системой.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 этом можно выделить 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центральный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репозиторий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(условно), в который будут отправляться изменения из локальных и, с ним же эти локальные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будут синхронизироваться. При работе с такой системой, пользователи периодически синхронизируют свои локальные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центральным и работают непосредственно со своей локальной копией. После внесения достаточного количества изменений в локальную копию они (изменения) отправляются на сервер. При этом сервер, чаще всего, выбирается условно, т.к. в большинстве 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DVCS 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нет такого понятия как “выделенный сервер с центральным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репозиторием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Большое преимущество такого подхода заключается в автономии разработчика при работе над проектом, гибкости общей системы и повышение надежности, благодаря тому, что каждый разработчик имеет локальную копию центрального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Две наиболее известные 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DVCS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– это 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и 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Mercurial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Начнем с 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Mercurial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эта система представляет собой свободную 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DVCS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которая построена таким образом, что в ней отсутствует понятие центрального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для работы с этой 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VCS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используется (как правило) консольная утилита 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hg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Mercurial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обладает всеми возможностями системы контроля версий, такими как ветвление, слияние, синхронизация с другими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репозиториями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Данный проект используют и поддерживают большое количество крупных разработчиков, среди них 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Mozilla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OpenOffice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OpenJDK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и многие другие. Сам продукт написан на языке 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и доступен на большинстве современных операционных систем (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Windows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Mac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Linux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также существует значительное количество утилит с графическим интерфейсом для работы с 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Mercurial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Основным конкурентом 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Mercurial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на рынке распределенных систем контроля версий является 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который, на сегодняшний день, выиграл гонку за лидерство.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08199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52437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73780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97786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51034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77814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24053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45184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https://devpractice.ru/git-for-beginners-part-1-what-is-vcs/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Среди крупных проектов, в рамках которых используется 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можно выделить ядро 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Linux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Android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свободен и распространяется под лицензией 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GNU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GPL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2 и, также как 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Mercurial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доступен практически на всех операционных системах.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 своим базовым возможностям 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схож с 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Mercurial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(и другими 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DVCS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но благодаря ряду достоинств (высокая скорость работы, возможность интеграции с другими 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VCS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удобный интерфейс) и очень активному сообществу, сформировавшемуся вокруг этой системы, 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вышел в лидеры рынка распределенных систем контроля версий. Необходимо отметить, что несмотря на большую популярность таких систем как 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крупные корпорации, подобные 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Google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используют свои 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VCS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0387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https://learngitbranching.js.org/ — интерактивная </a:t>
            </a:r>
            <a:r>
              <a:rPr lang="ru-RU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обучалка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ветвлению в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git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https://githowto.com/ru — отличный курс обучения гиту на русском с примерами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https://git-scm.com/book/ru/v2/ — pro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git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book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https://www.udemy.com/course/git-expert-4-hours/ — онлайн курс по гиту</a:t>
            </a: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8294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https://devpractice.ru/git-for-beginners-part-2-install-git/</a:t>
            </a:r>
          </a:p>
          <a:p>
            <a:pPr fontAlgn="base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способ использования </a:t>
            </a:r>
            <a:r>
              <a:rPr lang="en-US" sz="1200" b="1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этом окне доступны три возможных варианта:</a:t>
            </a:r>
          </a:p>
          <a:p>
            <a:pPr fontAlgn="base"/>
            <a:r>
              <a:rPr lang="ru-RU" sz="1200" b="1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</a:t>
            </a:r>
            <a:r>
              <a:rPr lang="ru-RU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ru-RU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Bash</a:t>
            </a:r>
            <a:r>
              <a:rPr lang="ru-RU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only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Переменная 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PATH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не модифицируется и работа с 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возможна только через специализированную оболочку, которая называется 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Bash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fontAlgn="base"/>
            <a:r>
              <a:rPr lang="ru-RU" sz="1200" b="1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</a:t>
            </a:r>
            <a:r>
              <a:rPr lang="ru-RU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ru-RU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ru-RU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Windows</a:t>
            </a:r>
            <a:r>
              <a:rPr lang="ru-RU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Command</a:t>
            </a:r>
            <a:r>
              <a:rPr lang="ru-RU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Prompt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этом случае происходит минимальная модификация переменной окружения 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PATH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которая позволит работать с 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через командную стоку 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Windows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Работа через 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Bash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также возможна.</a:t>
            </a:r>
          </a:p>
          <a:p>
            <a:pPr fontAlgn="base"/>
            <a:r>
              <a:rPr lang="ru-RU" sz="1200" b="1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</a:t>
            </a:r>
            <a:r>
              <a:rPr lang="ru-RU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</a:t>
            </a:r>
            <a:r>
              <a:rPr lang="ru-RU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optional</a:t>
            </a:r>
            <a:r>
              <a:rPr lang="ru-RU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Unix</a:t>
            </a:r>
            <a:r>
              <a:rPr lang="ru-RU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tools</a:t>
            </a:r>
            <a:r>
              <a:rPr lang="ru-RU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ru-RU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ru-RU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Windows</a:t>
            </a:r>
            <a:r>
              <a:rPr lang="ru-RU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Command</a:t>
            </a:r>
            <a:r>
              <a:rPr lang="ru-RU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Prompt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переменную 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PATH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вносится значительное количество модификаций, которые позволят, в рамках командной строки 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Windows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использовать как 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так и утилиты 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Unix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которые поставляются вместе с дистрибутивом 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fontAlgn="base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Наша рекомендация: опция 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Windows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Command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Prompt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fontAlgn="base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 Настройка правил окончания строки</a:t>
            </a:r>
          </a:p>
          <a:p>
            <a:pPr fontAlgn="base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Существует два варианта формирования конца строки в текстовых файлах – это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Windows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стиль и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Unix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стиль. Данное окно позволяет выбрать одну из опций, определяющих правило формирования окончания строки:</a:t>
            </a:r>
          </a:p>
          <a:p>
            <a:pPr fontAlgn="base"/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Checkout Windows-style, commit Unix-style line endings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Checkout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операция извлечения документа из хранилища и создания рабочей копии) производится в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Windows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стиле, а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commit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операция отправки изменений в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в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Unix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стиле.</a:t>
            </a:r>
          </a:p>
          <a:p>
            <a:pPr fontAlgn="base"/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Checkout as-is, commit Unix-style line </a:t>
            </a:r>
            <a:r>
              <a:rPr lang="en-US" sz="1200" b="1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endigns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Checkout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производится в том формате, в котором данные хранятся в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commit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осуществляется в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Unix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стиле.</a:t>
            </a:r>
          </a:p>
          <a:p>
            <a:pPr fontAlgn="base"/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Checkout as-is, commit as-is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Checkout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commit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производятся без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дополительных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преобразований.</a:t>
            </a:r>
          </a:p>
          <a:p>
            <a:pPr fontAlgn="base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Наша рекомендация: опция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Checkout Windows-style, commit Unix-style line endings.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6. 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Выбор эмулятора терминала, который будет использован с </a:t>
            </a:r>
            <a:r>
              <a:rPr lang="en-US" sz="1200" b="1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Bash</a:t>
            </a: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Возможен выбор из двух вариантов:</a:t>
            </a:r>
          </a:p>
          <a:p>
            <a:pPr fontAlgn="base"/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</a:t>
            </a:r>
            <a:r>
              <a:rPr lang="en-US" sz="1200" b="1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MinTTY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(the </a:t>
            </a:r>
            <a:r>
              <a:rPr lang="en-US" sz="1200" b="1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defaul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terminal of MSYS2)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Bash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будет использовать в качестве эмулятора терминала 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MinTTY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fontAlgn="base"/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Windows’ default console window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будет использовать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Windows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консоль (“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cmd.exe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”).</a:t>
            </a:r>
          </a:p>
          <a:p>
            <a:pPr fontAlgn="base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Наша рекомендация: опция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MinTTY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(the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defaul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terminal of MSYS2).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7. 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Настройка дополнительных параметров</a:t>
            </a:r>
          </a:p>
          <a:p>
            <a:pPr fontAlgn="base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Доступны следующие параметры:</a:t>
            </a:r>
          </a:p>
          <a:p>
            <a:pPr fontAlgn="base"/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Enable file system caching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Включение операции кэширования при работе с файлами. Эта опция позволит значительно повысить производительность.</a:t>
            </a:r>
          </a:p>
          <a:p>
            <a:pPr fontAlgn="base"/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Enable </a:t>
            </a:r>
            <a:r>
              <a:rPr lang="en-US" sz="1200" b="1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Credential Manager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Предоставляет возможность работы с защищенным хранилищем.</a:t>
            </a:r>
          </a:p>
          <a:p>
            <a:pPr fontAlgn="base"/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Enable symbolic links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Активирует работу с символьными ссылками.</a:t>
            </a:r>
          </a:p>
          <a:p>
            <a:pPr fontAlgn="base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Наша рекомендация: опции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Enable file system caching 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Enable 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Credential Manager.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8. 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Завершение установки</a:t>
            </a:r>
          </a:p>
          <a:p>
            <a:pPr fontAlgn="base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После нажатия на кнопку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Install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будет произведена установка 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Windows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 окончании установки пользователь получит соответствующее сообщение.</a:t>
            </a:r>
          </a:p>
          <a:p>
            <a:pPr fontAlgn="base"/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24632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60800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79090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https://devpractice.ru/git-for-beginners-part-3-config-git/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fontAlgn="base"/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Настройка системы 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предполагает, в первую очередь, указание имени пользователя и 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e-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mail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которые используются для подписи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коммитов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отправки изменений в удаленный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fontAlgn="base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 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существует три места, где хранятся настройки:</a:t>
            </a:r>
          </a:p>
          <a:p>
            <a:pPr fontAlgn="base"/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уровне системы;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уровне пользователя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C:\Users\ANNA\.gitconfig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уровне проекта (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репозитория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того, чтобы сконфигурировать 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на том или ином уровне вы можете изменить непосредственно конфигурационные файлы, но для этого нужно знать их формат, либо воспользоваться специальными командами, которые предоставляет 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Мы рекомендуем использовать команды.</a:t>
            </a:r>
          </a:p>
          <a:p>
            <a:pPr fontAlgn="base"/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Расположение конфигурационных файлов </a:t>
            </a:r>
            <a:r>
              <a:rPr lang="en-US" sz="1200" b="1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Windows</a:t>
            </a: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Уровень системы</a:t>
            </a:r>
          </a:p>
          <a:p>
            <a:pPr fontAlgn="base"/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Program Files\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\mingw64\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etc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gitconfig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Имейте ввиду, что для его изменения вам могут понадобиться права администратора!</a:t>
            </a:r>
          </a:p>
          <a:p>
            <a:pPr fontAlgn="base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Уровень пользователя</a:t>
            </a:r>
          </a:p>
          <a:p>
            <a:pPr fontAlgn="base"/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HOMEPATH%\.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gitconfig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Уровень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репозитория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папка_с_проектом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\.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Linux</a:t>
            </a: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Уровень системы</a:t>
            </a:r>
          </a:p>
          <a:p>
            <a:pPr fontAlgn="base"/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etc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gitconfig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Уровень пользователя</a:t>
            </a:r>
          </a:p>
          <a:p>
            <a:pPr fontAlgn="base"/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~/.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gitconfig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Уровень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репозитория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папка_с_проектом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/.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36719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- это утилита для работы в командной строке (хотя есть и опции для работы через графический интерфейс)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Все команды пишутся или в командной строке (терминале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или в установленном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Bash (MINGW64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меня, т.к. 64 битная 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windows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28172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https://devpractice.ru/git-for-beginners-part-3-config-git/</a:t>
            </a:r>
            <a:endParaRPr lang="ru-RU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Настройка ветки по умолчанию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Когда вы инициализируете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командой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init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создаёт ветку с именем 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master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по умолчанию. Начиная с версии 2.28, вы можете задать другое имя для создания ветки по умолчанию.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Например, чтобы установить имя 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для вашей ветки по умолчанию, выполните следующую команду: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--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global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init.defaultBranch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Чтобы посмотреть все установленные настройки и узнать где именно они заданы, используйте команду: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--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list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--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show-origin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00712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https://git-scm.com/book/ru/v2/%D0%92%D0%B2%D0%B5%D0%B4%D0%B5%D0%BD%D0%B8%D0%B5-%D0%9A%D0%B0%D0%BA-%D0%BF%D0%BE%D0%BB%D1%83%D1%87%D0%B8%D1%82%D1%8C-%D0%BF%D0%BE%D0%BC%D0%BE%D1%89%D1%8C%3F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64942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- это утилита для работы в командной строке (хотя есть и опции для работы через графический интерфейс)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08405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https://github.com/AnnaZva/Test1.git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38323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https://devpractice.ru/git-for-beginners-part-5-create-repo-and-commit/ -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репозиторий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создать на локальном компе (по умолчанию создастся в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C:/Users/ANNA/repo_test/.git/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ru-RU" b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02137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https://devpractice.ru/git-for-beginners-part-5-create-repo-and-commit/ -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репозиторий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создать на локальном компе (по умолчанию создастся в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C:/Users/ANNA/repo_test/.git/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ru-RU" b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606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https://devpractice.ru/git-for-beginners-part-5-create-repo-and-commit/ -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репозиторий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создать на локальном компе (по умолчанию создастся в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C:/Users/ANNA/repo_test/.git/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ru-RU" b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19220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Набор файлов, с которым мы работаем в данный момент, называется рабочая копия (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working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copy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После того, как решено, что все нужные изменения на данный момент внесены, и об этом можно сообщить системе контроля версий, разработчик производит отправку изменений в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repository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Репозиторий – это хранилище для нашего проекта, которое обслуживает система контроля версий. Сама операция отправки изменений называется 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commit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на русском языке ее так и называют –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Если нам необходимо взять данные из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то мы осуществляем операцию 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checkout</a:t>
            </a:r>
            <a:endParaRPr lang="ru-RU" sz="1200" b="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Дополнительно добавляется ещё одно место, которое можно назвать кэшем или 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stage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английской терминологии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Наличие 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stage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добавляет гибкости в процесс разработки, вы можете внести изменения в довольно большое количество файлов, но отправить их в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разных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коммитах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со своими специфическими комментариями.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Система контроля версий 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использует 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архитектуру трех деревьев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где регламент работы выглядит так:</a:t>
            </a:r>
          </a:p>
          <a:p>
            <a:pPr fontAlgn="base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Перед началом работы разработчик делает 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checkout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для того чтобы быть уверенным, что он будет работать с актуальной рабочей копией.</a:t>
            </a:r>
          </a:p>
          <a:p>
            <a:pPr fontAlgn="base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Разработчик вносит необходимые изменения в исходный код.</a:t>
            </a:r>
          </a:p>
          <a:p>
            <a:pPr fontAlgn="base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Разработчик отправляет необходимый набор файлов, изменения в которые внесены, в 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для того, чтобы потом построить из них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До того, как изменения будут отправлены в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разработчик может добавлять и удалять файлы из 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Набор файлов в 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как правило, идеологически связан между собой.</a:t>
            </a:r>
          </a:p>
          <a:p>
            <a:pPr fontAlgn="base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Разработчик отправляет изменения в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коммитит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их).</a:t>
            </a:r>
          </a:p>
          <a:p>
            <a:pPr fontAlgn="base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Повторить необходимое количество раз пункты 2 – 4.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08074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 точки зрения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Каждый файл может находится только в одном из двух состояний:</a:t>
            </a:r>
            <a:br>
              <a:rPr lang="ru-RU" dirty="0"/>
            </a:br>
            <a:br>
              <a:rPr lang="ru-RU" dirty="0"/>
            </a:b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Отслеживаемый.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Об этих файлах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знает и отслеживает изменения в них. Отслеживаемые файлы в свою очередь могут находится в следующих состояниях:</a:t>
            </a:r>
            <a:br>
              <a:rPr lang="ru-RU" dirty="0"/>
            </a:br>
            <a:br>
              <a:rPr lang="ru-RU" dirty="0"/>
            </a:b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Неизмененный. 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 есть с момента последнего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файле не было никаких изменений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Измененный. 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 есть с последнего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файле были произведены какие-то изменения.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Подготовленный к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коммиту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 значит, что вы внесли изменения в этот файл и затем проиндексировали их, и эти изменения будут добавлены в следующий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ru-RU" dirty="0"/>
            </a:b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2. 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Неотслеживаемый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неотслеживаемых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файлах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не знает, поэтому изменения в них не будут добавлены в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Это любые файлы в вашем рабочем каталоге, которые не входили в последний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не подготовлены к текущему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коммиту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89201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39766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55948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35431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46056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https://devpractice.ru/git-for-beginners-part-5-create-repo-and-commit/ -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репозиторий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создать на локальном компе (по умолчанию создастся в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C:/Users/ANNA/repo_test/.git/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</a:t>
            </a:r>
            <a:r>
              <a:rPr lang="ru-RU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но можно перейти в другую папку и диск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0" i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добавления файлов в локальное хранилище в 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используется несколько команд:</a:t>
            </a:r>
          </a:p>
          <a:p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- добавление файлов в стадию ожидания;</a:t>
            </a:r>
          </a:p>
          <a:p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commit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- добавление файлов в локальное хранилище;</a:t>
            </a:r>
          </a:p>
          <a:p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rm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- отмена действий.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b="0" dirty="0"/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Добавление файлов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Перед добавлением файлов в локальное хранилище их необходимо подготовить. Для этого используется команда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Через команду можно указать какие файлы необходимо добавить. 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Можно добавить всё, прописав 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. 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или 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-A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 также можно добавлять лишь некоторые файлы. Для их выбора можно воспользоваться различными командами:</a:t>
            </a:r>
          </a:p>
          <a:p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После подготовки файлов их необходимо отправить в локальное хранилище (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выполнить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Для этого используется команда </a:t>
            </a:r>
          </a:p>
          <a:p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commit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-m "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Комментари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".</a:t>
            </a:r>
          </a:p>
          <a:p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данных их необходимо комментировать, чтобы в дальнейшем каждое изменение в проекте было с комментарием (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описанием действий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Отмена действий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 вы добавили файлы в стадию ожидания, но передумали и не хотите добавлять некоторые из них, то вам пригодиться команда </a:t>
            </a:r>
          </a:p>
          <a:p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rm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cached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file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".</a:t>
            </a:r>
          </a:p>
          <a:p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ней укажите какой файл необходимо «выкинуть» из стадии ожидания на коммит.</a:t>
            </a:r>
          </a:p>
          <a:p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rm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--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cached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&gt;команда используется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Удалите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файл из области индексации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но сохраните локальную копию в рабочей директории.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Эта команда полезна в ряде ситуаций: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Отключение отслеживания файлов: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Основное назначение — предотвратить отслеживание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файла, который уже был добавлен в репозиторий (или только что добавлен в индекс), без удаления файла из локальной файловой системы.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Добавление в .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gitignore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Этот метод часто используется, когда вы случайно добавили конфиденциальную информацию (например, пароли или журналы) или нежелательные файлы (например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node_modules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.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DS_Storeфайлы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в систему отслеживания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Обычно вы запускаете команду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rm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--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cached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 затем добавляете шаблон файла в свой .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gitignore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файл.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Исправление 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.ошибок: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Если вы случайно добавили в область подготовки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.ненужные файлы,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rm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--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cachedвы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можете удалить их из этой области, оставив локальные файлы нетронутыми. </a:t>
            </a: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Игнорирование файлов</a:t>
            </a:r>
          </a:p>
          <a:p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имеет встроенную функцию .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gitignore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с помощью которой мы можем предотвратить случайное попадание в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ненужных файлов, папок и директорий. Очень часто в такой перечень попадают следующие данные: </a:t>
            </a:r>
          </a:p>
          <a:p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Логи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 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Артефакты систем сборки;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Папки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node_modules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проектах node.js;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Папки, созданные IDE, например,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Netbeans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или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IntelliJ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Разнообразные заметки разработчика.</a:t>
            </a:r>
          </a:p>
          <a:p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Работает функция .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gitignore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очень просто: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Создаем вручную файл под названием .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gitignore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сохраняем его в директорию проекта.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Внутри файла перечисляем названия файлов/папок, которые нужно игнорировать, каждое с новой строки.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Файл .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gitignore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добавляем,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коммитим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отправляем на сервер, как любой другой файл в проекте.</a:t>
            </a: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b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35853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https://devpractice.ru/git-for-beginners-part-5-create-repo-and-commit/ -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репозиторий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создать на локальном компе (по умолчанию создастся в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C:/Users/ANNA/repo_test/.git/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</a:t>
            </a:r>
            <a:r>
              <a:rPr lang="ru-RU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но можно перейти в другую папку и диск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0" i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добавления файлов в локальное хранилище в 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используется несколько команд:</a:t>
            </a:r>
          </a:p>
          <a:p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- добавление файлов в стадию ожидания;</a:t>
            </a:r>
          </a:p>
          <a:p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commit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- добавление файлов в локальное хранилище;</a:t>
            </a:r>
          </a:p>
          <a:p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rm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- отмена действий.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b="0" dirty="0"/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Добавление файлов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Перед добавлением файлов в локальное хранилище их необходимо подготовить. Для этого используется команда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Через команду можно указать какие файлы необходимо добавить. 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Можно добавить всё, прописав 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. 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или 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-A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 также можно добавлять лишь некоторые файлы. Для их выбора можно воспользоваться различными командами:</a:t>
            </a:r>
          </a:p>
          <a:p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После подготовки файлов их необходимо отправить в локальное хранилище (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выполнить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Для этого используется команда </a:t>
            </a:r>
          </a:p>
          <a:p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commit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-m "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Комментари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".</a:t>
            </a:r>
          </a:p>
          <a:p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данных их необходимо комментировать, чтобы в дальнейшем каждое изменение в проекте было с комментарием (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описанием действий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Отмена действий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 вы добавили файлы в стадию ожидания, но передумали и не хотите добавлять некоторые из них, то вам пригодиться команда </a:t>
            </a:r>
          </a:p>
          <a:p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rm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cached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file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".</a:t>
            </a:r>
          </a:p>
          <a:p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ней укажите какой файл необходимо «выкинуть» из стадии ожидания на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Игнорирование файлов</a:t>
            </a:r>
          </a:p>
          <a:p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имеет встроенную функцию .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gitignore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с помощью которой мы можем предотвратить случайное попадание в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ненужных файлов, папок и директорий. Очень часто в такой перечень попадают следующие данные: </a:t>
            </a:r>
          </a:p>
          <a:p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Логи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 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Артефакты систем сборки;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Папки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node_modules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проектах node.js;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Папки, созданные IDE, например,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Netbeans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или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IntelliJ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Разнообразные заметки разработчика.</a:t>
            </a:r>
          </a:p>
          <a:p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Работает функция .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gitignore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очень просто: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Создаем вручную файл под названием .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gitignore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сохраняем его в директорию проекта.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Внутри файла перечисляем названия файлов/папок, которые нужно игнорировать, каждое с новой строки.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Файл .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gitignore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добавляем,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коммитим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отправляем на сервер, как любой другой файл в проекте.</a:t>
            </a: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b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80229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https://devpractice.ru/git-for-beginners-part-5-create-repo-and-commit/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Добавим, созданный файл в 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Stage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(или 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cache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– это хранилище для файлов с изменениями, информация о которых попадет в единый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Stage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является элементом архитектуры трех деревьев, на базе которой построен 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более подробно смотрите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здесь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Для добавления файла 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README.md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в 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stage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необходимо воспользоваться командой 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171450" indent="-171450" fontAlgn="base">
              <a:buFont typeface="Wingdings" panose="05000000000000000000" pitchFamily="2" charset="2"/>
              <a:buChar char="Ø"/>
            </a:pPr>
            <a:r>
              <a:rPr lang="ru-RU" dirty="0" err="1"/>
              <a:t>git</a:t>
            </a:r>
            <a:r>
              <a:rPr lang="ru-RU" dirty="0"/>
              <a:t> </a:t>
            </a:r>
            <a:r>
              <a:rPr lang="ru-RU" dirty="0" err="1"/>
              <a:t>add</a:t>
            </a:r>
            <a:r>
              <a:rPr lang="ru-RU" dirty="0"/>
              <a:t> README.md </a:t>
            </a:r>
            <a:endParaRPr lang="en-US" dirty="0"/>
          </a:p>
          <a:p>
            <a:pPr marL="171450" indent="-171450" fontAlgn="base">
              <a:buFont typeface="Wingdings" panose="05000000000000000000" pitchFamily="2" charset="2"/>
              <a:buChar char="Ø"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Может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возникнуть ошибка</a:t>
            </a:r>
          </a:p>
          <a:p>
            <a:pPr fontAlgn="base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 выполнении команды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. у Вас может возникнуть подобная ошибка. Давайте разберемся почему это происходит и как это исправить.</a:t>
            </a:r>
          </a:p>
          <a:p>
            <a:pPr fontAlgn="base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Итак, полностью ошибка может выглядеть следующим образом:</a:t>
            </a:r>
          </a:p>
          <a:p>
            <a:pPr fontAlgn="base"/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will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have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original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endings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working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directory</a:t>
            </a:r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warning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LF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will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replaced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CRLF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path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fontAlgn="base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Здесь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всего-лишь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говорится, что перенос строки будет дополнен возвратом каретки.</a:t>
            </a:r>
          </a:p>
          <a:p>
            <a:pPr fontAlgn="base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 Вы работаете под ОС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Linux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или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Mac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OS, то убрать предупреждения можно этой командой:</a:t>
            </a:r>
          </a:p>
          <a:p>
            <a:pPr fontAlgn="base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--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global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core.autocrlf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input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 Вы работаете в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один под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Windows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просто хотите выключить эти предупреждения, то введите следующую команду:</a:t>
            </a:r>
          </a:p>
          <a:p>
            <a:pPr fontAlgn="base"/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core.autocrlf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true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или так</a:t>
            </a:r>
          </a:p>
          <a:p>
            <a:pPr fontAlgn="base"/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--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global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core.autocrlf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true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по-правильному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дожно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быть так:</a:t>
            </a:r>
          </a:p>
          <a:p>
            <a:pPr fontAlgn="base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--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global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core.autocrlf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false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Связанно это может быть с тем что переносы строк были в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Unix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-формате, когда дело происходило под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Windows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например. Очень просто конвертировать переносы строк в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Windows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-формат помогает текстовый редактор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Notepad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++: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Правка→EOL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конверсия→Преобразовать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WIN-формат.</a:t>
            </a:r>
          </a:p>
          <a:p>
            <a:pPr marL="171450" indent="-171450" fontAlgn="base">
              <a:buFont typeface="Wingdings" panose="05000000000000000000" pitchFamily="2" charset="2"/>
              <a:buChar char="Ø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 fontAlgn="base">
              <a:buFont typeface="Wingdings" panose="05000000000000000000" pitchFamily="2" charset="2"/>
              <a:buChar char="Ø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 fontAlgn="base">
              <a:buFont typeface="Wingdings" panose="05000000000000000000" pitchFamily="2" charset="2"/>
              <a:buChar char="Ø"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 изменение было произведено в нескольких файлах, и мы хотим их все отправить в 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то вместо имени файла поставьте точку.</a:t>
            </a:r>
          </a:p>
          <a:p>
            <a:pPr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представленный набор изменений готов к отправке в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т.е. к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коммиту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Сделаем это.</a:t>
            </a:r>
          </a:p>
          <a:p>
            <a:pPr fontAlgn="base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ru-RU" dirty="0"/>
              <a:t> </a:t>
            </a:r>
            <a:r>
              <a:rPr lang="en-US" dirty="0" err="1"/>
              <a:t>git</a:t>
            </a:r>
            <a:r>
              <a:rPr lang="en-US" dirty="0"/>
              <a:t> commit -m "[create repository]" [master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dirty="0"/>
              <a:t>root-commit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en-US" dirty="0"/>
              <a:t> 500067c] [create repository] 1 file changed, 0 insertions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dirty="0"/>
              <a:t>+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en-US" dirty="0"/>
              <a:t>, 0 deletions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dirty="0"/>
              <a:t>-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en-US" dirty="0"/>
              <a:t> create mode 100644 README.md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Проверим статус каталога.</a:t>
            </a:r>
          </a:p>
          <a:p>
            <a:pPr fontAlgn="base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ru-RU" dirty="0"/>
              <a:t> </a:t>
            </a:r>
            <a:r>
              <a:rPr lang="en-US" dirty="0" err="1"/>
              <a:t>git</a:t>
            </a:r>
            <a:r>
              <a:rPr lang="en-US" dirty="0"/>
              <a:t> status On branch master nothing to commit, working tree clean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 видно с момента последнего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никаких изменений в рабочем каталоге не производилось.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31843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https://devpractice.ru/git-for-beginners-part-5-create-repo-and-commit/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Добавим, созданный файл в 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Stage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(или 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cache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– это хранилище для файлов с изменениями, информация о которых попадет в единый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Stage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является элементом архитектуры трех деревьев, на базе которой построен 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более подробно смотрите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здесь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Для добавления файла 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README.md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в 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stage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необходимо воспользоваться командой 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171450" indent="-171450" fontAlgn="base">
              <a:buFont typeface="Wingdings" panose="05000000000000000000" pitchFamily="2" charset="2"/>
              <a:buChar char="Ø"/>
            </a:pPr>
            <a:r>
              <a:rPr lang="ru-RU" dirty="0" err="1"/>
              <a:t>git</a:t>
            </a:r>
            <a:r>
              <a:rPr lang="ru-RU" dirty="0"/>
              <a:t> </a:t>
            </a:r>
            <a:r>
              <a:rPr lang="ru-RU" dirty="0" err="1"/>
              <a:t>add</a:t>
            </a:r>
            <a:r>
              <a:rPr lang="ru-RU" dirty="0"/>
              <a:t> README.md </a:t>
            </a:r>
            <a:endParaRPr lang="en-US" dirty="0"/>
          </a:p>
          <a:p>
            <a:pPr marL="171450" indent="-171450" fontAlgn="base">
              <a:buFont typeface="Wingdings" panose="05000000000000000000" pitchFamily="2" charset="2"/>
              <a:buChar char="Ø"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Может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возникнуть ошибка</a:t>
            </a:r>
          </a:p>
          <a:p>
            <a:pPr fontAlgn="base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 выполнении команды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. у Вас может возникнуть подобная ошибка. Давайте разберемся почему это происходит и как это исправить.</a:t>
            </a:r>
          </a:p>
          <a:p>
            <a:pPr fontAlgn="base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Итак, полностью ошибка может выглядеть следующим образом:</a:t>
            </a:r>
          </a:p>
          <a:p>
            <a:pPr fontAlgn="base"/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will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have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original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endings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working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directory</a:t>
            </a:r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warning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LF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will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replaced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CRLF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path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fontAlgn="base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Здесь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всего-лишь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говорится, что перенос строки будет дополнен возвратом каретки.</a:t>
            </a:r>
          </a:p>
          <a:p>
            <a:pPr fontAlgn="base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 Вы работаете под ОС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Linux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или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Mac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OS, то убрать предупреждения можно этой командой:</a:t>
            </a:r>
          </a:p>
          <a:p>
            <a:pPr fontAlgn="base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--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global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core.autocrlf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input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 Вы работаете в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один под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Windows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просто хотите выключить эти предупреждения, то введите следующую команду:</a:t>
            </a:r>
          </a:p>
          <a:p>
            <a:pPr fontAlgn="base"/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core.autocrlf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true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или так</a:t>
            </a:r>
          </a:p>
          <a:p>
            <a:pPr fontAlgn="base"/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--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global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core.autocrlf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true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по-правильному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дожно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быть так:</a:t>
            </a:r>
          </a:p>
          <a:p>
            <a:pPr fontAlgn="base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--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global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core.autocrlf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false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Связанно это может быть с тем что переносы строк были в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Unix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-формате, когда дело происходило под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Windows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например. Очень просто конвертировать переносы строк в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Windows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-формат помогает текстовый редактор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Notepad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++: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Правка→EOL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конверсия→Преобразовать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WIN-формат.</a:t>
            </a:r>
          </a:p>
          <a:p>
            <a:pPr marL="171450" indent="-171450" fontAlgn="base">
              <a:buFont typeface="Wingdings" panose="05000000000000000000" pitchFamily="2" charset="2"/>
              <a:buChar char="Ø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 fontAlgn="base">
              <a:buFont typeface="Wingdings" panose="05000000000000000000" pitchFamily="2" charset="2"/>
              <a:buChar char="Ø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 fontAlgn="base">
              <a:buFont typeface="Wingdings" panose="05000000000000000000" pitchFamily="2" charset="2"/>
              <a:buChar char="Ø"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 изменение было произведено в нескольких файлах, и мы хотим их все отправить в 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то вместо имени файла поставьте точку.</a:t>
            </a:r>
          </a:p>
          <a:p>
            <a:pPr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представленный набор изменений готов к отправке в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т.е. к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коммиту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Сделаем это.</a:t>
            </a:r>
          </a:p>
          <a:p>
            <a:pPr fontAlgn="base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ru-RU" dirty="0"/>
              <a:t> </a:t>
            </a:r>
            <a:r>
              <a:rPr lang="en-US" dirty="0" err="1"/>
              <a:t>git</a:t>
            </a:r>
            <a:r>
              <a:rPr lang="en-US" dirty="0"/>
              <a:t> commit -m "[create repository]" [master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dirty="0"/>
              <a:t>root-commit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en-US" dirty="0"/>
              <a:t> 500067c] [create repository] 1 file changed, 0 insertions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dirty="0"/>
              <a:t>+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en-US" dirty="0"/>
              <a:t>, 0 deletions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dirty="0"/>
              <a:t>-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en-US" dirty="0"/>
              <a:t> create mode 100644 README.md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Проверим статус каталога.</a:t>
            </a:r>
          </a:p>
          <a:p>
            <a:pPr fontAlgn="base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ru-RU" dirty="0"/>
              <a:t> </a:t>
            </a:r>
            <a:r>
              <a:rPr lang="en-US" dirty="0" err="1"/>
              <a:t>git</a:t>
            </a:r>
            <a:r>
              <a:rPr lang="en-US" dirty="0"/>
              <a:t> status On branch master nothing to commit, working tree clean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 видно с момента последнего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никаких изменений в рабочем каталоге не производилось.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06368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https://github.com/AnnaZva/Test1.git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Другой</a:t>
            </a:r>
            <a:r>
              <a:rPr lang="ru-RU" baseline="0" dirty="0"/>
              <a:t> вариант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чтобы связать созданный нами локальный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репозитарий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удаленным, выполним такую команду:</a:t>
            </a:r>
          </a:p>
          <a:p>
            <a:r>
              <a:rPr lang="ru-RU" dirty="0"/>
              <a:t># </a:t>
            </a:r>
            <a:r>
              <a:rPr lang="en-US" dirty="0"/>
              <a:t>This is only an example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-US" dirty="0"/>
              <a:t> Replace the URI with your own repository address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-US" dirty="0"/>
              <a:t> </a:t>
            </a:r>
          </a:p>
          <a:p>
            <a:r>
              <a:rPr lang="en-US" dirty="0"/>
              <a:t>$ </a:t>
            </a:r>
            <a:r>
              <a:rPr lang="en-US" b="1" dirty="0" err="1"/>
              <a:t>git</a:t>
            </a:r>
            <a:r>
              <a:rPr lang="en-US" b="1" dirty="0"/>
              <a:t> remote add origin https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://</a:t>
            </a:r>
            <a:r>
              <a:rPr lang="en-US" b="1" dirty="0"/>
              <a:t>github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-US" b="1" dirty="0"/>
              <a:t>com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en-US" b="1" dirty="0"/>
              <a:t>tutorialzine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en-US" b="1" dirty="0"/>
              <a:t>awesome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en-US" b="1" dirty="0"/>
              <a:t>project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-US" b="1" dirty="0"/>
              <a:t>git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49070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https://devpractice.ru/git-for-beginners-part-5-create-repo-and-commit/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dirty="0"/>
          </a:p>
          <a:p>
            <a:pPr fontAlgn="base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 мы посмотрим на список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коммитов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которые были отправлены в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то увидим, что он пустой – это правильно, т.к. мы пока только создали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ничего ещё туда не отправляли.</a:t>
            </a:r>
          </a:p>
          <a:p>
            <a:pPr marL="171450" indent="-171450" fontAlgn="base">
              <a:buFont typeface="Wingdings" panose="05000000000000000000" pitchFamily="2" charset="2"/>
              <a:buChar char="Ø"/>
            </a:pPr>
            <a:r>
              <a:rPr lang="en-US" dirty="0" err="1"/>
              <a:t>git</a:t>
            </a:r>
            <a:r>
              <a:rPr lang="en-US" dirty="0"/>
              <a:t> log </a:t>
            </a:r>
            <a:endParaRPr lang="ru-RU" dirty="0"/>
          </a:p>
          <a:p>
            <a:pPr marL="171450" indent="-171450" fontAlgn="base">
              <a:buFont typeface="Wingdings" panose="05000000000000000000" pitchFamily="2" charset="2"/>
              <a:buChar char="Ø"/>
            </a:pPr>
            <a:r>
              <a:rPr lang="en-US" dirty="0"/>
              <a:t>fatal: your current branch 'master' does not have any commits yet </a:t>
            </a:r>
            <a:endParaRPr lang="ru-RU" dirty="0"/>
          </a:p>
          <a:p>
            <a:pPr marL="171450" indent="-171450" fontAlgn="base">
              <a:buFont typeface="Wingdings" panose="05000000000000000000" pitchFamily="2" charset="2"/>
              <a:buChar char="Ø"/>
            </a:pP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 fontAlgn="base">
              <a:buFont typeface="Wingdings" panose="05000000000000000000" pitchFamily="2" charset="2"/>
              <a:buChar char="Ø"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просмотра состояния рабочего каталога воспользуемся командой 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status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171450" indent="-171450" fontAlgn="base">
              <a:buFont typeface="Wingdings" panose="05000000000000000000" pitchFamily="2" charset="2"/>
              <a:buChar char="Ø"/>
            </a:pPr>
            <a:r>
              <a:rPr lang="en-US" dirty="0" err="1"/>
              <a:t>git</a:t>
            </a:r>
            <a:r>
              <a:rPr lang="en-US" dirty="0"/>
              <a:t> status </a:t>
            </a:r>
            <a:endParaRPr lang="ru-RU" dirty="0"/>
          </a:p>
          <a:p>
            <a:pPr marL="171450" indent="-171450" fontAlgn="base">
              <a:buFont typeface="Wingdings" panose="05000000000000000000" pitchFamily="2" charset="2"/>
              <a:buChar char="Ø"/>
            </a:pPr>
            <a:r>
              <a:rPr lang="en-US" dirty="0"/>
              <a:t>On branch master Initial commit nothing to commit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dirty="0"/>
              <a:t>create/copy files and use "</a:t>
            </a:r>
            <a:r>
              <a:rPr lang="en-US" dirty="0" err="1"/>
              <a:t>git</a:t>
            </a:r>
            <a:r>
              <a:rPr lang="en-US" dirty="0"/>
              <a:t> add" to track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en-US" dirty="0"/>
              <a:t> </a:t>
            </a:r>
            <a:endParaRPr lang="ru-RU" dirty="0"/>
          </a:p>
          <a:p>
            <a:pPr marL="171450" indent="-171450" fontAlgn="base">
              <a:buFont typeface="Wingdings" panose="05000000000000000000" pitchFamily="2" charset="2"/>
              <a:buChar char="Ø"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Создадим в нашем каталоге пустой файл.</a:t>
            </a:r>
          </a:p>
          <a:p>
            <a:pPr fontAlgn="base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ru-RU" dirty="0"/>
              <a:t> </a:t>
            </a:r>
            <a:r>
              <a:rPr lang="en-US" dirty="0"/>
              <a:t>touch README.md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Теперь, если мы выполним команду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status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 увидим, что в нашем каталоге появился один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неотслеживаемый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файл: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README.md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b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676946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https://devpractice.ru/git-for-beginners-part-5-create-repo-and-commit/ -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репозиторий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создать на локальном компе (по умолчанию создастся в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C:/Users/ANNA/repo_test/.git/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</a:t>
            </a:r>
            <a:r>
              <a:rPr lang="ru-RU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но можно перейти в другую папку и диск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en-US" sz="1200" b="0" i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Теперь, когда у нас в локальном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репозитарии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создан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мы подключились к удаленному, можем отправить его на сервер. Мы это будем делать каждый раз, когда хотим обновить данные в удаленном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репозитарии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Отправка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осуществляется с помощью команды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push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которая имеет два параметра - имя удаленного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(в нашем случае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origin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и ветку, в которую необходимо внести изменения (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master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это ветка по умолчанию для всех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репозиториев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r>
              <a:rPr lang="ru-RU" dirty="0"/>
              <a:t>$ </a:t>
            </a:r>
            <a:r>
              <a:rPr lang="ru-RU" dirty="0" err="1"/>
              <a:t>git</a:t>
            </a:r>
            <a:r>
              <a:rPr lang="ru-RU" dirty="0"/>
              <a:t> </a:t>
            </a:r>
            <a:r>
              <a:rPr lang="ru-RU" dirty="0" err="1"/>
              <a:t>push</a:t>
            </a:r>
            <a:r>
              <a:rPr lang="ru-RU" dirty="0"/>
              <a:t> </a:t>
            </a:r>
            <a:r>
              <a:rPr lang="ru-RU" dirty="0" err="1"/>
              <a:t>origin</a:t>
            </a:r>
            <a:r>
              <a:rPr lang="ru-RU" dirty="0"/>
              <a:t> </a:t>
            </a:r>
            <a:r>
              <a:rPr lang="ru-RU" dirty="0" err="1"/>
              <a:t>master</a:t>
            </a:r>
            <a:r>
              <a:rPr lang="ru-RU" dirty="0"/>
              <a:t> </a:t>
            </a:r>
            <a:r>
              <a:rPr lang="ru-RU" dirty="0" err="1"/>
              <a:t>Counting</a:t>
            </a:r>
            <a:r>
              <a:rPr lang="ru-RU" dirty="0"/>
              <a:t> </a:t>
            </a:r>
            <a:r>
              <a:rPr lang="ru-RU" dirty="0" err="1"/>
              <a:t>objects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ru-RU" dirty="0"/>
              <a:t>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3,</a:t>
            </a:r>
            <a:r>
              <a:rPr lang="ru-RU" dirty="0"/>
              <a:t> </a:t>
            </a:r>
            <a:r>
              <a:rPr lang="ru-RU" dirty="0" err="1"/>
              <a:t>done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ru-RU" dirty="0"/>
              <a:t> </a:t>
            </a:r>
            <a:r>
              <a:rPr lang="ru-RU" dirty="0" err="1"/>
              <a:t>Writing</a:t>
            </a:r>
            <a:r>
              <a:rPr lang="ru-RU" dirty="0"/>
              <a:t> </a:t>
            </a:r>
            <a:r>
              <a:rPr lang="ru-RU" dirty="0" err="1"/>
              <a:t>objects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ru-RU" dirty="0"/>
              <a:t>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100%</a:t>
            </a:r>
            <a:r>
              <a:rPr lang="ru-RU" dirty="0"/>
              <a:t>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(3/3),</a:t>
            </a:r>
            <a:r>
              <a:rPr lang="ru-RU" dirty="0"/>
              <a:t>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212</a:t>
            </a:r>
            <a:r>
              <a:rPr lang="ru-RU" dirty="0"/>
              <a:t> </a:t>
            </a:r>
            <a:r>
              <a:rPr lang="ru-RU" dirty="0" err="1"/>
              <a:t>bytes</a:t>
            </a:r>
            <a:r>
              <a:rPr lang="ru-RU" dirty="0"/>
              <a:t>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|</a:t>
            </a:r>
            <a:r>
              <a:rPr lang="ru-RU" dirty="0"/>
              <a:t>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</a:t>
            </a:r>
            <a:r>
              <a:rPr lang="ru-RU" dirty="0"/>
              <a:t> </a:t>
            </a:r>
            <a:r>
              <a:rPr lang="ru-RU" dirty="0" err="1"/>
              <a:t>bytes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ru-RU" dirty="0"/>
              <a:t>s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ru-RU" dirty="0"/>
              <a:t> </a:t>
            </a:r>
            <a:r>
              <a:rPr lang="ru-RU" dirty="0" err="1"/>
              <a:t>done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ru-RU" dirty="0"/>
              <a:t> </a:t>
            </a:r>
            <a:r>
              <a:rPr lang="ru-RU" dirty="0" err="1"/>
              <a:t>Total</a:t>
            </a:r>
            <a:r>
              <a:rPr lang="ru-RU" dirty="0"/>
              <a:t>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ru-RU" dirty="0"/>
              <a:t>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ru-RU" dirty="0" err="1"/>
              <a:t>delta</a:t>
            </a:r>
            <a:r>
              <a:rPr lang="ru-RU" dirty="0"/>
              <a:t>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0),</a:t>
            </a:r>
            <a:r>
              <a:rPr lang="ru-RU" dirty="0"/>
              <a:t> </a:t>
            </a:r>
            <a:r>
              <a:rPr lang="ru-RU" dirty="0" err="1"/>
              <a:t>reused</a:t>
            </a:r>
            <a:r>
              <a:rPr lang="ru-RU" dirty="0"/>
              <a:t>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</a:t>
            </a:r>
            <a:r>
              <a:rPr lang="ru-RU" dirty="0"/>
              <a:t>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ru-RU" dirty="0" err="1"/>
              <a:t>delta</a:t>
            </a:r>
            <a:r>
              <a:rPr lang="ru-RU" dirty="0"/>
              <a:t>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0)</a:t>
            </a:r>
            <a:r>
              <a:rPr lang="ru-RU" dirty="0"/>
              <a:t> </a:t>
            </a:r>
            <a:r>
              <a:rPr lang="ru-RU" dirty="0" err="1"/>
              <a:t>To</a:t>
            </a:r>
            <a:r>
              <a:rPr lang="ru-RU" dirty="0"/>
              <a:t> https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://</a:t>
            </a:r>
            <a:r>
              <a:rPr lang="ru-RU" dirty="0"/>
              <a:t>github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ru-RU" dirty="0"/>
              <a:t>com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ru-RU" dirty="0"/>
              <a:t>tutorialzine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ru-RU" dirty="0"/>
              <a:t>awesome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ru-RU" dirty="0"/>
              <a:t>project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ru-RU" dirty="0"/>
              <a:t>git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</a:t>
            </a:r>
            <a:r>
              <a:rPr lang="ru-RU" dirty="0"/>
              <a:t>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ru-RU" dirty="0"/>
              <a:t> </a:t>
            </a:r>
            <a:r>
              <a:rPr lang="ru-RU" dirty="0" err="1">
                <a:effectLst/>
              </a:rPr>
              <a:t>branch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</a:t>
            </a:r>
            <a:r>
              <a:rPr lang="ru-RU" dirty="0"/>
              <a:t> </a:t>
            </a:r>
            <a:r>
              <a:rPr lang="ru-RU" dirty="0" err="1"/>
              <a:t>master</a:t>
            </a:r>
            <a:r>
              <a:rPr lang="ru-RU" dirty="0"/>
              <a:t>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-&gt;</a:t>
            </a:r>
            <a:r>
              <a:rPr lang="ru-RU" dirty="0"/>
              <a:t> </a:t>
            </a:r>
            <a:r>
              <a:rPr lang="ru-RU" dirty="0" err="1"/>
              <a:t>master</a:t>
            </a:r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 мы все сделали правильно, то отправленный файл hello.txt на удаленном сервере мы можем увидеть с помощью браузера. Важный момент – некоторые сервисы для отправки изменений могут требовать дополнительной аутентификации.</a:t>
            </a:r>
          </a:p>
          <a:p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 клонировать удаленный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репозитарий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 у других пользователей возникла необходимость клонировать удаленный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репозитарий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они могут получить полностью работоспособную копию на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своем компьютере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 помощи команды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clone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- адрес удаленного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тот,</a:t>
            </a:r>
            <a:r>
              <a:rPr lang="ru-RU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 которого клонируем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ru-RU" dirty="0"/>
              <a:t>$ </a:t>
            </a:r>
            <a:r>
              <a:rPr lang="ru-RU" dirty="0" err="1"/>
              <a:t>git</a:t>
            </a:r>
            <a:r>
              <a:rPr lang="ru-RU" dirty="0"/>
              <a:t> </a:t>
            </a:r>
            <a:r>
              <a:rPr lang="ru-RU" dirty="0" err="1"/>
              <a:t>clone</a:t>
            </a:r>
            <a:r>
              <a:rPr lang="ru-RU" dirty="0"/>
              <a:t> https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://</a:t>
            </a:r>
            <a:r>
              <a:rPr lang="ru-RU" dirty="0"/>
              <a:t>github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ru-RU" dirty="0"/>
              <a:t>com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ru-RU" dirty="0"/>
              <a:t>tutorialzine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ru-RU" dirty="0"/>
              <a:t>awesome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ru-RU" dirty="0"/>
              <a:t>project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ru-RU" dirty="0"/>
              <a:t>git</a:t>
            </a:r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GitHub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автоматически создаст новый локальный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репозитарий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виде удаленного на собственном сервере.</a:t>
            </a:r>
          </a:p>
          <a:p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 запросить изменения с удаленного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репозитария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случае, если другим пользователям нет необходимости делать клон удаленного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репозитария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 нужно просто получить информацию об изменениях, это можно сделать с помощью команды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pull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ru-RU" dirty="0"/>
              <a:t>$ </a:t>
            </a:r>
            <a:r>
              <a:rPr lang="ru-RU" dirty="0" err="1"/>
              <a:t>git</a:t>
            </a:r>
            <a:r>
              <a:rPr lang="ru-RU" dirty="0"/>
              <a:t> </a:t>
            </a:r>
            <a:r>
              <a:rPr lang="ru-RU" dirty="0" err="1"/>
              <a:t>pull</a:t>
            </a:r>
            <a:r>
              <a:rPr lang="ru-RU" dirty="0"/>
              <a:t> </a:t>
            </a:r>
            <a:r>
              <a:rPr lang="ru-RU" dirty="0" err="1"/>
              <a:t>origin</a:t>
            </a:r>
            <a:r>
              <a:rPr lang="ru-RU" dirty="0"/>
              <a:t> </a:t>
            </a:r>
            <a:r>
              <a:rPr lang="ru-RU" dirty="0" err="1"/>
              <a:t>master</a:t>
            </a:r>
            <a:r>
              <a:rPr lang="ru-RU" dirty="0"/>
              <a:t> </a:t>
            </a:r>
            <a:endParaRPr lang="en-US" dirty="0"/>
          </a:p>
          <a:p>
            <a:r>
              <a:rPr lang="ru-RU" dirty="0" err="1"/>
              <a:t>From</a:t>
            </a:r>
            <a:r>
              <a:rPr lang="ru-RU" dirty="0"/>
              <a:t> https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://</a:t>
            </a:r>
            <a:r>
              <a:rPr lang="ru-RU" dirty="0"/>
              <a:t>github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ru-RU" dirty="0"/>
              <a:t>com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ru-RU" dirty="0"/>
              <a:t>tutorialzine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ru-RU" dirty="0"/>
              <a:t>awesome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ru-RU" dirty="0"/>
              <a:t>project 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 err="1"/>
              <a:t>branch</a:t>
            </a:r>
            <a:r>
              <a:rPr lang="ru-RU" dirty="0"/>
              <a:t> </a:t>
            </a:r>
            <a:r>
              <a:rPr lang="ru-RU" dirty="0" err="1"/>
              <a:t>master</a:t>
            </a:r>
            <a:r>
              <a:rPr lang="ru-RU" dirty="0"/>
              <a:t>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-&gt;</a:t>
            </a:r>
            <a:r>
              <a:rPr lang="ru-RU" dirty="0"/>
              <a:t> FETCH_HEAD 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 err="1"/>
              <a:t>Already</a:t>
            </a:r>
            <a:r>
              <a:rPr lang="ru-RU" dirty="0"/>
              <a:t> </a:t>
            </a:r>
            <a:r>
              <a:rPr lang="ru-RU" dirty="0" err="1"/>
              <a:t>up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ru-RU" dirty="0" err="1"/>
              <a:t>to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ru-RU" dirty="0" err="1"/>
              <a:t>date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Она скачивает новые изменения. Так как мы ничего нового не вносили с тех пор, как клонировали проект, изменений, доступных к скачиванию, нет.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b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922595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 возникает такая ошибка</a:t>
            </a:r>
            <a:endParaRPr lang="ru-RU" b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14553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https://github.com/AnnaZva/Test1.git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fontAlgn="base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надо изменить 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url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удалённого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remote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терминологии 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</a:p>
          <a:p>
            <a:r>
              <a:rPr lang="en-US" dirty="0"/>
              <a:t>$ </a:t>
            </a:r>
            <a:r>
              <a:rPr lang="en-US" dirty="0" err="1"/>
              <a:t>git</a:t>
            </a:r>
            <a:r>
              <a:rPr lang="en-US" dirty="0"/>
              <a:t> remote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</a:t>
            </a:r>
            <a:r>
              <a:rPr lang="en-US" dirty="0"/>
              <a:t>-</a:t>
            </a:r>
            <a:r>
              <a:rPr lang="en-US" dirty="0" err="1"/>
              <a:t>url</a:t>
            </a:r>
            <a:r>
              <a:rPr lang="en-US" dirty="0"/>
              <a:t> origin </a:t>
            </a:r>
            <a:r>
              <a:rPr lang="en-US" dirty="0" err="1"/>
              <a:t>url</a:t>
            </a:r>
            <a:r>
              <a:rPr lang="en-US" dirty="0"/>
              <a:t>-</a:t>
            </a:r>
            <a:r>
              <a:rPr lang="ru-RU" dirty="0"/>
              <a:t>нового-</a:t>
            </a:r>
            <a:r>
              <a:rPr lang="ru-RU" dirty="0" err="1"/>
              <a:t>репозитория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41832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 возникает такая ошибка</a:t>
            </a:r>
            <a:endParaRPr lang="ru-RU" b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311120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 возникает такая ошибка</a:t>
            </a:r>
            <a:endParaRPr lang="ru-RU" b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146682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https://git-scm.com/book/ru/v2/%D0%92%D0%B5%D1%82%D0%B2%D0%BB%D0%B5%D0%BD%D0%B8%D0%B5-%D0%B2-Git-%D0%9E%D1%81%D0%BD%D0%BE%D0%B2%D1%8B-%D0%B2%D0%B5%D1%82%D0%B2%D0%BB%D0%B5%D0%BD%D0%B8%D1%8F-%D0%B8-%D1%81%D0%BB%D0%B8%D1%8F%D0%BD%D0%B8%D1%8F</a:t>
            </a:r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  <a:p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 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указывает на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относительного которого будет создана рабочая копия во-время операции 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checkout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Другими словами, когда вы переключаетесь с ветки на, используя операцию 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checkout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то в вашем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указатель 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 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будет переключаться между последними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коммитами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выбираемых вами ветвей.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Давайте рассмотрим простой пример рабочего процесса, который может быть полезен в вашем проекте. Ваша работа построена так: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 работаете над сайтом.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 создаете ветку для новой статьи, которую вы пишете.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 работаете в этой ветке.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этот момент вы получаете сообщение, что обнаружена критическая ошибка, требующая скорейшего исправления. Ваши действия: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Переключиться на основную ветку.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Создать ветку для добавления исправления.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После тестирования слить ветку содержащую исправление с основной веткой.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Переключиться назад в ту ветку, где вы пишете статью и продолжить работать.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576320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https://git-scm.com/book/ru/v2/%D0%92%D0%B5%D1%82%D0%B2%D0%BB%D0%B5%D0%BD%D0%B8%D0%B5-%D0%B2-Git-%D0%9E%D1%81%D0%BD%D0%BE%D0%B2%D1%8B-%D0%B2%D0%B5%D1%82%D0%B2%D0%BB%D0%B5%D0%BD%D0%B8%D1%8F-%D0%B8-%D1%81%D0%BB%D0%B8%D1%8F%D0%BD%D0%B8%D1%8F</a:t>
            </a:r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  <a:p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 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указывает на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относительного которого будет создана рабочая копия во-время операции 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checkout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Другими словами, когда вы переключаетесь с ветки на, используя операцию 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checkout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то в вашем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указатель 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 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будет переключаться между последними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коммитами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выбираемых вами ветвей.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Давайте рассмотрим простой пример рабочего процесса, который может быть полезен в вашем проекте. Ваша работа построена так: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 работаете над сайтом.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 создаете ветку для новой статьи, которую вы пишете.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 работаете в этой ветке.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этот момент вы получаете сообщение, что обнаружена критическая ошибка, требующая скорейшего исправления. Ваши действия: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Переключиться на основную ветку.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Создать ветку для добавления исправления.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После тестирования слить ветку содержащую исправление с основной веткой.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Переключиться назад в ту ветку, где вы пишете статью и продолжить работать.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990506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https://git-scm.com/book/ru/v2/%D0%92%D0%B5%D1%82%D0%B2%D0%BB%D0%B5%D0%BD%D0%B8%D0%B5-%D0%B2-Git-%D0%9E%D1%81%D0%BD%D0%BE%D0%B2%D1%8B-%D0%B2%D0%B5%D1%82%D0%B2%D0%BB%D0%B5%D0%BD%D0%B8%D1%8F-%D0%B8-%D1%81%D0%BB%D0%B8%D1%8F%D0%BD%D0%B8%D1%8F</a:t>
            </a:r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  <a:p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 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указывает на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относительного которого будет создана рабочая копия во-время операции 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checkout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Другими словами, когда вы переключаетесь с ветки на, используя операцию 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checkout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то в вашем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указатель 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 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будет переключаться между последними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коммитами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выбираемых вами ветвей.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Давайте рассмотрим простой пример рабочего процесса, который может быть полезен в вашем проекте. Ваша работа построена так: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 работаете над сайтом.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 создаете ветку для новой статьи, которую вы пишете.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 работаете в этой ветке.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этот момент вы получаете сообщение, что обнаружена критическая ошибка, требующая скорейшего исправления. Ваши действия: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Переключиться на основную ветку.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Создать ветку для добавления исправления.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После тестирования слить ветку содержащую исправление с основной веткой.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Переключиться назад в ту ветку, где вы пишете статью и продолжить работать.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535800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944390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https://itproger.com/course/git/3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список действий, которые производит 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checkout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чтобы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переключить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нас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новую ветку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br>
              <a:rPr lang="ru-RU" dirty="0"/>
            </a:b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Программа проверяет, существует ли указанная ветка.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Затем программа переключает указатель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 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новую ветку.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Последним шагом программа меняет рабочую копию так, чтобы она соответствовала новой ветке.</a:t>
            </a: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Чтобы просмотреть проект на стадии какого-либо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вам необходимо прописать команду 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checkout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где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это идентификатор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который хотите просмотреть.</a:t>
            </a:r>
          </a:p>
          <a:p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Чтобы узнать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изначально пропишите команду 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--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oneline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Тогда вы получите список всех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коммитов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что были сделаны в вашем проекте, а также их идентификаторы.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Чтобы просмотреть какой-либо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выполните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комманду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 </a:t>
            </a:r>
            <a:r>
              <a:rPr lang="ru-RU" b="1" dirty="0" err="1"/>
              <a:t>git</a:t>
            </a:r>
            <a:r>
              <a:rPr lang="ru-RU" b="1" dirty="0"/>
              <a:t> </a:t>
            </a:r>
            <a:r>
              <a:rPr lang="ru-RU" b="1" dirty="0" err="1"/>
              <a:t>checkout</a:t>
            </a:r>
            <a:r>
              <a:rPr lang="ru-RU" b="1" dirty="0"/>
              <a:t> 102e2f1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Здесь вы просмотрите проект на стадии первого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461338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672100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https://devpractice.ru/git-for-beginners-part-5-create-repo-and-commit/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Теперь взглянем на список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коммитов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171450" indent="-171450" fontAlgn="base">
              <a:buFont typeface="Wingdings" panose="05000000000000000000" pitchFamily="2" charset="2"/>
              <a:buChar char="Ø"/>
            </a:pPr>
            <a:r>
              <a:rPr lang="en-US" dirty="0" err="1"/>
              <a:t>git</a:t>
            </a:r>
            <a:r>
              <a:rPr lang="en-US" dirty="0"/>
              <a:t> log </a:t>
            </a:r>
          </a:p>
          <a:p>
            <a:pPr marL="171450" indent="-171450" fontAlgn="base">
              <a:buFont typeface="Wingdings" panose="05000000000000000000" pitchFamily="2" charset="2"/>
              <a:buChar char="Ø"/>
            </a:pPr>
            <a:r>
              <a:rPr lang="en-US" dirty="0"/>
              <a:t>commit 500067cc0b80643d38e2a24e9e0699031ada6be3 Author: Writer &lt;writer@someserver.com&gt; Date: Mon Feb 12 22:51:14 2018 +0500 [create repository]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 приведенной информации видно, что был отправлен один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который имеет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500067cc0b80643d38e2a24e9e0699031ada6be3,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более подробно об идентификаторах будет рассказано в следующих уроках. Автор данного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он (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был создан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 Feb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12 22:51:14 2018 +0500,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 сообщением:  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 repository]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 довольно подробная информация, когда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коммитов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станет много, такой формат вывода будет не очень удобным, сокращенный вариант выглядит так.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dirty="0" err="1"/>
              <a:t>git</a:t>
            </a:r>
            <a:r>
              <a:rPr lang="en-US" dirty="0"/>
              <a:t> log --</a:t>
            </a:r>
            <a:r>
              <a:rPr lang="en-US" dirty="0" err="1"/>
              <a:t>oneline</a:t>
            </a:r>
            <a:r>
              <a:rPr lang="en-US" dirty="0"/>
              <a:t>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dirty="0"/>
              <a:t>500067c [create repository]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560518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808417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Команда 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pull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автоматически сливает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коммиты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не давая вам сначала просмотреть их. Если вы не пристально следите за ветками, выполнение этой команды может привести к частым конфликтам.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Команда </a:t>
            </a:r>
            <a:r>
              <a:rPr lang="ru-RU" dirty="0" err="1"/>
              <a:t>git</a:t>
            </a:r>
            <a:r>
              <a:rPr lang="ru-RU" dirty="0"/>
              <a:t> </a:t>
            </a:r>
            <a:r>
              <a:rPr lang="ru-RU" dirty="0" err="1"/>
              <a:t>pull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работает как комбинация команд </a:t>
            </a:r>
            <a:r>
              <a:rPr lang="ru-RU" dirty="0" err="1"/>
              <a:t>git</a:t>
            </a:r>
            <a:r>
              <a:rPr lang="ru-RU" dirty="0"/>
              <a:t> </a:t>
            </a:r>
            <a:r>
              <a:rPr lang="ru-RU" dirty="0" err="1"/>
              <a:t>fetch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и </a:t>
            </a:r>
            <a:r>
              <a:rPr lang="ru-RU" dirty="0" err="1"/>
              <a:t>git</a:t>
            </a:r>
            <a:r>
              <a:rPr lang="ru-RU" dirty="0"/>
              <a:t> </a:t>
            </a:r>
            <a:r>
              <a:rPr lang="ru-RU" dirty="0" err="1"/>
              <a:t>merge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т. е.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вначале забирает изменения из указанного удалённого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 затем пытается слить их с текущей веткой.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Команда </a:t>
            </a:r>
            <a:r>
              <a:rPr lang="ru-RU" dirty="0" err="1"/>
              <a:t>git</a:t>
            </a:r>
            <a:r>
              <a:rPr lang="ru-RU" dirty="0"/>
              <a:t> </a:t>
            </a:r>
            <a:r>
              <a:rPr lang="ru-RU" dirty="0" err="1"/>
              <a:t>fetch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связывается с удалённым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репозиторием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забирает из него все изменения, которых у вас пока нет и сохраняет их локально.</a:t>
            </a:r>
            <a:endParaRPr lang="ru-RU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dirty="0"/>
              <a:t>Мы можем использовать </a:t>
            </a:r>
            <a:r>
              <a:rPr lang="en-US" dirty="0" err="1"/>
              <a:t>git</a:t>
            </a:r>
            <a:r>
              <a:rPr lang="en-US" dirty="0"/>
              <a:t>-checkout </a:t>
            </a:r>
            <a:r>
              <a:rPr lang="ru-RU" dirty="0"/>
              <a:t>команда с -</a:t>
            </a:r>
            <a:r>
              <a:rPr lang="en-US" dirty="0"/>
              <a:t>b </a:t>
            </a:r>
            <a:r>
              <a:rPr lang="ru-RU" dirty="0"/>
              <a:t>возможность создать новую ветку. Он создает новую ветку с указанным именем, а затем проверяет ее.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# </a:t>
            </a:r>
            <a:r>
              <a:rPr lang="en-US" dirty="0"/>
              <a:t>Create a branch locally and check it out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git</a:t>
            </a:r>
            <a:r>
              <a:rPr lang="en-US" dirty="0"/>
              <a:t> checkout -b &lt;branch&gt;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# Push the branch to the remote and set upstream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git</a:t>
            </a:r>
            <a:r>
              <a:rPr lang="en-US" dirty="0"/>
              <a:t> push [-u | –set-upstream] &lt;remote&gt; &lt;branch&gt;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Здесь &lt;</a:t>
            </a:r>
            <a:r>
              <a:rPr lang="en-US" dirty="0"/>
              <a:t>remote&gt; </a:t>
            </a:r>
            <a:r>
              <a:rPr lang="ru-RU" dirty="0"/>
              <a:t>является удаленной текущей веткой (обычно источником) и &lt;</a:t>
            </a:r>
            <a:r>
              <a:rPr lang="en-US" dirty="0"/>
              <a:t>branch&gt; </a:t>
            </a:r>
            <a:r>
              <a:rPr lang="ru-RU" dirty="0"/>
              <a:t>это название ветки. --</a:t>
            </a:r>
            <a:r>
              <a:rPr lang="en-US" dirty="0"/>
              <a:t>set-upstream (</a:t>
            </a:r>
            <a:r>
              <a:rPr lang="ru-RU" dirty="0"/>
              <a:t>или же -</a:t>
            </a:r>
            <a:r>
              <a:rPr lang="en-US" dirty="0"/>
              <a:t>u) </a:t>
            </a:r>
            <a:r>
              <a:rPr lang="ru-RU" dirty="0"/>
              <a:t>установить восходящую ветвь для данной ветки. Если --</a:t>
            </a:r>
            <a:r>
              <a:rPr lang="en-US" dirty="0"/>
              <a:t>set-upstream </a:t>
            </a:r>
            <a:r>
              <a:rPr lang="ru-RU" dirty="0"/>
              <a:t>опция пропущена, </a:t>
            </a:r>
            <a:r>
              <a:rPr lang="en-US" dirty="0" err="1"/>
              <a:t>git</a:t>
            </a:r>
            <a:r>
              <a:rPr lang="en-US" dirty="0"/>
              <a:t> pull </a:t>
            </a:r>
            <a:r>
              <a:rPr lang="ru-RU" dirty="0"/>
              <a:t>и некоторые другие команды не будут выполняться. Вы также можете отправить новую ветку вверх по течению позже с помощью </a:t>
            </a:r>
            <a:r>
              <a:rPr lang="en-US" dirty="0" err="1"/>
              <a:t>git</a:t>
            </a:r>
            <a:r>
              <a:rPr lang="en-US" dirty="0"/>
              <a:t> push -u </a:t>
            </a:r>
            <a:r>
              <a:rPr lang="ru-RU" dirty="0"/>
              <a:t>команда.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128735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Команда 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pull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автоматически сливает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коммиты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не давая вам сначала просмотреть их. Если вы не пристально следите за ветками, выполнение этой команды может привести к частым конфликтам.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Команда </a:t>
            </a:r>
            <a:r>
              <a:rPr lang="ru-RU" dirty="0" err="1"/>
              <a:t>git</a:t>
            </a:r>
            <a:r>
              <a:rPr lang="ru-RU" dirty="0"/>
              <a:t> </a:t>
            </a:r>
            <a:r>
              <a:rPr lang="ru-RU" dirty="0" err="1"/>
              <a:t>pull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работает как комбинация команд </a:t>
            </a:r>
            <a:r>
              <a:rPr lang="ru-RU" dirty="0" err="1"/>
              <a:t>git</a:t>
            </a:r>
            <a:r>
              <a:rPr lang="ru-RU" dirty="0"/>
              <a:t> </a:t>
            </a:r>
            <a:r>
              <a:rPr lang="ru-RU" dirty="0" err="1"/>
              <a:t>fetch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и </a:t>
            </a:r>
            <a:r>
              <a:rPr lang="ru-RU" dirty="0" err="1"/>
              <a:t>git</a:t>
            </a:r>
            <a:r>
              <a:rPr lang="ru-RU" dirty="0"/>
              <a:t> </a:t>
            </a:r>
            <a:r>
              <a:rPr lang="ru-RU" dirty="0" err="1"/>
              <a:t>merge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т. е.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вначале забирает изменения из указанного удалённого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 затем пытается слить их с текущей веткой.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Команда </a:t>
            </a:r>
            <a:r>
              <a:rPr lang="ru-RU" dirty="0" err="1"/>
              <a:t>git</a:t>
            </a:r>
            <a:r>
              <a:rPr lang="ru-RU" dirty="0"/>
              <a:t> </a:t>
            </a:r>
            <a:r>
              <a:rPr lang="ru-RU" dirty="0" err="1"/>
              <a:t>fetch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связывается с удалённым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репозиторием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забирает из него все изменения, которых у вас пока нет и сохраняет их локально.</a:t>
            </a:r>
            <a:endParaRPr lang="ru-RU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dirty="0"/>
              <a:t>Мы можем использовать </a:t>
            </a:r>
            <a:r>
              <a:rPr lang="en-US" dirty="0" err="1"/>
              <a:t>git</a:t>
            </a:r>
            <a:r>
              <a:rPr lang="en-US" dirty="0"/>
              <a:t>-checkout </a:t>
            </a:r>
            <a:r>
              <a:rPr lang="ru-RU" dirty="0"/>
              <a:t>команда с -</a:t>
            </a:r>
            <a:r>
              <a:rPr lang="en-US" dirty="0"/>
              <a:t>b </a:t>
            </a:r>
            <a:r>
              <a:rPr lang="ru-RU" dirty="0"/>
              <a:t>возможность создать новую ветку. Он создает новую ветку с указанным именем, а затем проверяет ее.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# </a:t>
            </a:r>
            <a:r>
              <a:rPr lang="en-US" dirty="0"/>
              <a:t>Create a branch locally and check it out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git</a:t>
            </a:r>
            <a:r>
              <a:rPr lang="en-US" dirty="0"/>
              <a:t> checkout -b &lt;branch&gt;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# Push the branch to the remote and set upstream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git</a:t>
            </a:r>
            <a:r>
              <a:rPr lang="en-US" dirty="0"/>
              <a:t> push [-u | –set-upstream] &lt;remote&gt; &lt;branch&gt;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Здесь &lt;</a:t>
            </a:r>
            <a:r>
              <a:rPr lang="en-US" dirty="0"/>
              <a:t>remote&gt; </a:t>
            </a:r>
            <a:r>
              <a:rPr lang="ru-RU" dirty="0"/>
              <a:t>является удаленной текущей веткой (обычно источником) и &lt;</a:t>
            </a:r>
            <a:r>
              <a:rPr lang="en-US" dirty="0"/>
              <a:t>branch&gt; </a:t>
            </a:r>
            <a:r>
              <a:rPr lang="ru-RU" dirty="0"/>
              <a:t>это название ветки. --</a:t>
            </a:r>
            <a:r>
              <a:rPr lang="en-US" dirty="0"/>
              <a:t>set-upstream (</a:t>
            </a:r>
            <a:r>
              <a:rPr lang="ru-RU" dirty="0"/>
              <a:t>или же -</a:t>
            </a:r>
            <a:r>
              <a:rPr lang="en-US" dirty="0"/>
              <a:t>u) </a:t>
            </a:r>
            <a:r>
              <a:rPr lang="ru-RU" dirty="0"/>
              <a:t>установить восходящую ветвь для данной ветки. Если --</a:t>
            </a:r>
            <a:r>
              <a:rPr lang="en-US" dirty="0"/>
              <a:t>set-upstream </a:t>
            </a:r>
            <a:r>
              <a:rPr lang="ru-RU" dirty="0"/>
              <a:t>опция пропущена, </a:t>
            </a:r>
            <a:r>
              <a:rPr lang="en-US" dirty="0" err="1"/>
              <a:t>git</a:t>
            </a:r>
            <a:r>
              <a:rPr lang="en-US" dirty="0"/>
              <a:t> pull </a:t>
            </a:r>
            <a:r>
              <a:rPr lang="ru-RU" dirty="0"/>
              <a:t>и некоторые другие команды не будут выполняться. Вы также можете отправить новую ветку вверх по течению позже с помощью </a:t>
            </a:r>
            <a:r>
              <a:rPr lang="en-US" dirty="0" err="1"/>
              <a:t>git</a:t>
            </a:r>
            <a:r>
              <a:rPr lang="en-US" dirty="0"/>
              <a:t> push -u </a:t>
            </a:r>
            <a:r>
              <a:rPr lang="ru-RU" dirty="0"/>
              <a:t>команда.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65402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060923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https://pingvinus.ru/git/1690</a:t>
            </a:r>
            <a:endParaRPr lang="ru-RU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https://www.atlassian.com/ru/git/tutorials/using-branches/git-merge</a:t>
            </a:r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https://itproger.com/course/git/5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Слияние используется в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чтобы собрать воедино разветвленную историю. Команда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merge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выполняет слияние отдельных направлений разработки, созданных с помощью команды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branch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в единую ветку.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Обратите внимание: все приведенные ниже команды выполняют слияние в текущую ветку, в то время как целевая ветка остается без изменений. Поэтому команда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merge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часто используется в сочетании с командами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checkout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(для выбора текущей ветки) и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branch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-d (для удаления устаревшей целевой ветки).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>
                <a:solidFill>
                  <a:schemeClr val="dk1"/>
                </a:solidFill>
              </a:rPr>
              <a:t>При слиянии веток могут происходить конфликты. Для разрешения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ru-RU" dirty="0">
                <a:solidFill>
                  <a:schemeClr val="dk1"/>
                </a:solidFill>
              </a:rPr>
              <a:t>конфликтов можно использовать </a:t>
            </a:r>
            <a:r>
              <a:rPr lang="ru-RU" dirty="0" err="1">
                <a:solidFill>
                  <a:schemeClr val="dk1"/>
                </a:solidFill>
              </a:rPr>
              <a:t>git</a:t>
            </a:r>
            <a:r>
              <a:rPr lang="ru-RU" dirty="0">
                <a:solidFill>
                  <a:schemeClr val="dk1"/>
                </a:solidFill>
              </a:rPr>
              <a:t> </a:t>
            </a:r>
            <a:r>
              <a:rPr lang="ru-RU" dirty="0" err="1">
                <a:solidFill>
                  <a:schemeClr val="dk1"/>
                </a:solidFill>
              </a:rPr>
              <a:t>mergetool</a:t>
            </a:r>
            <a:r>
              <a:rPr lang="ru-RU" dirty="0">
                <a:solidFill>
                  <a:schemeClr val="dk1"/>
                </a:solidFill>
              </a:rPr>
              <a:t>. (Используйте </a:t>
            </a:r>
            <a:r>
              <a:rPr lang="ru-RU" dirty="0" err="1">
                <a:solidFill>
                  <a:schemeClr val="dk1"/>
                </a:solidFill>
              </a:rPr>
              <a:t>десктопные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ru-RU" dirty="0">
                <a:solidFill>
                  <a:schemeClr val="dk1"/>
                </a:solidFill>
              </a:rPr>
              <a:t>версии с </a:t>
            </a:r>
            <a:r>
              <a:rPr lang="en-US" dirty="0">
                <a:solidFill>
                  <a:schemeClr val="dk1"/>
                </a:solidFill>
              </a:rPr>
              <a:t>UI).</a:t>
            </a:r>
            <a:endParaRPr lang="ru-RU" sz="18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468509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656948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59865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38580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eaLnBrk="1" fontAlgn="t" latinLnBrk="0" hangingPunct="1"/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ru-RU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Переименовать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удаленную ветку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endParaRPr lang="ru-RU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branch -m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oldname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newname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Переименовать локальную ветку</a:t>
            </a:r>
            <a:endParaRPr lang="ru-RU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endParaRPr lang="ru-RU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push origin :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oldname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Удалить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ветку (</a:t>
            </a:r>
            <a:r>
              <a:rPr lang="ru-R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oldname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которую вы хотите переименовать</a:t>
            </a:r>
          </a:p>
          <a:p>
            <a:pPr rtl="0" eaLnBrk="1" fontAlgn="auto" latinLnBrk="0" hangingPunct="1"/>
            <a:endParaRPr lang="ru-RU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push origin -u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newname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Загрузить (</a:t>
            </a:r>
            <a:r>
              <a:rPr lang="ru-R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push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ветку </a:t>
            </a:r>
            <a:r>
              <a:rPr lang="ru-R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newname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 удаленный </a:t>
            </a:r>
            <a:r>
              <a:rPr lang="ru-R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репозиторий</a:t>
            </a:r>
            <a:endParaRPr lang="ru-RU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auto" latinLnBrk="0" hangingPunct="1"/>
            <a:endParaRPr lang="ru-RU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r>
              <a:rPr lang="en-US" sz="1200" b="0" i="0" u="none" strike="noStrike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merge fix_bug_001 </a:t>
            </a:r>
            <a:endParaRPr lang="ru-RU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auto" latinLnBrk="0" hangingPunct="1"/>
            <a:r>
              <a:rPr lang="ru-RU" sz="1200" b="0" i="0" u="none" strike="noStrike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мержим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ветки (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fix/bug_001 -&gt; _master)</a:t>
            </a:r>
            <a:endParaRPr lang="ru-RU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r>
              <a:rPr lang="en-US" sz="1200" b="0" i="0" u="none" strike="noStrike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branch -d fix_bug_001</a:t>
            </a:r>
            <a:endParaRPr lang="ru-RU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r>
              <a:rPr lang="ru-RU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удаляем ветку</a:t>
            </a:r>
            <a:endParaRPr lang="ru-RU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524772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820129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пояснить</a:t>
            </a:r>
            <a:r>
              <a:rPr lang="ru-RU" sz="1200" b="1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результат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983030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пояснить</a:t>
            </a:r>
            <a:r>
              <a:rPr lang="ru-RU" sz="1200" b="1" i="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результат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08224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пояснить</a:t>
            </a:r>
            <a:r>
              <a:rPr lang="ru-RU" sz="1200" b="1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результат</a:t>
            </a:r>
            <a:endParaRPr lang="en-US" sz="1200" b="1" i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1" i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r>
              <a:rPr lang="en-US" sz="1200" b="0" i="0" u="none" strike="noStrike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push origin 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iss53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</a:p>
          <a:p>
            <a:pPr rtl="0" eaLnBrk="1" fontAlgn="t" latinLnBrk="0" hangingPunct="1"/>
            <a:r>
              <a:rPr lang="ru-RU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отправка изменений из локальной ветки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iss53 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удаленную ветку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br1</a:t>
            </a:r>
            <a:endParaRPr lang="ru-RU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1" i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ru-RU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Переименовать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удаленную ветку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endParaRPr lang="ru-RU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branch -m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oldname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newname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Переименовать локальную ветку</a:t>
            </a:r>
            <a:endParaRPr lang="ru-RU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endParaRPr lang="ru-RU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push origin :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oldname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Удалить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ветку (</a:t>
            </a:r>
            <a:r>
              <a:rPr lang="ru-R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oldname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которую вы хотите переименовать</a:t>
            </a:r>
          </a:p>
          <a:p>
            <a:pPr rtl="0" eaLnBrk="1" fontAlgn="auto" latinLnBrk="0" hangingPunct="1"/>
            <a:endParaRPr lang="ru-RU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push origin -u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newname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Загрузить (</a:t>
            </a:r>
            <a:r>
              <a:rPr lang="ru-R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push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ветку </a:t>
            </a:r>
            <a:r>
              <a:rPr lang="ru-R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newname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 удаленный </a:t>
            </a:r>
            <a:r>
              <a:rPr lang="ru-R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репозиторий</a:t>
            </a:r>
            <a:endParaRPr lang="ru-RU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auto" latinLnBrk="0" hangingPunct="1"/>
            <a:endParaRPr lang="ru-RU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r>
              <a:rPr lang="en-US" sz="1200" b="0" i="0" u="none" strike="noStrike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merge fix_bug_001 </a:t>
            </a:r>
            <a:endParaRPr lang="ru-RU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auto" latinLnBrk="0" hangingPunct="1"/>
            <a:r>
              <a:rPr lang="ru-RU" sz="1200" b="0" i="0" u="none" strike="noStrike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мержим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ветки (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fix/bug_001 -&gt; _master)</a:t>
            </a:r>
            <a:endParaRPr lang="ru-RU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r>
              <a:rPr lang="en-US" sz="1200" b="0" i="0" u="none" strike="noStrike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branch -d fix_bug_001</a:t>
            </a:r>
            <a:endParaRPr lang="ru-RU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r>
              <a:rPr lang="ru-RU" sz="1200" b="0" i="0" u="none" strike="noStrike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удаляем ветку</a:t>
            </a:r>
            <a:endParaRPr lang="ru-RU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951104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пояснить</a:t>
            </a:r>
            <a:r>
              <a:rPr lang="ru-RU" sz="1200" b="1" i="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результат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67666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Отмена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коммита</a:t>
            </a:r>
            <a:endParaRPr lang="ru-RU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отмены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используйте команду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revert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где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это идентификатор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который хотите просмотреть. После выполнения команды вы отмените определенный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Удаление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коммита</a:t>
            </a:r>
            <a:endParaRPr lang="ru-RU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удаления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используйте команду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reset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--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hard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где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это идентификатор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который хотите просмотреть. После выполнения команды вы удалите определенный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все данные будут возвращены к проекту что был на стадии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коммита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https://githowto.com/ru/removing_commits_from_a_branch</a:t>
            </a:r>
            <a:endParaRPr lang="ru-RU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www.atlassian.com/ru/git/tutorials/undoing-changes/git-reset#:~:text=%D0%A0%D0%B5%D0%B7%D1%8E%D0%BC%D0%B5,%D1%81%D1%82%D1%80%D0%BE%D0%BA%D0%B8%2C%20%D1%81%D0%BE%D0%BE%D1%82%D0%B2%D0%B5%D1%82%D1%81%D1%82%D0%B2%D1%83%D1%8E%D1%89%D0%B8%D0%B5%20%D1%8D%D1%82%D0%B8%D0%BC%20%D1%82%D1%80%D0%B5%D0%BC%20%D0%B4%D0%B5%D1%80%D0%B5%D0%B2%D1%8C%D1%8F%D0%BC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https://proglib.io/p/git-cheatsheet</a:t>
            </a:r>
            <a:endParaRPr lang="ru-RU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- это утилита для работы в командной строке (хотя есть и опции для работы через графический интерфейс)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https://selectel.ru/blog/tutorials/how-to-rebase-commits-and-branches/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570989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804538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https://learngitbranching.js.org/ — интерактивная </a:t>
            </a:r>
            <a:r>
              <a:rPr lang="ru-RU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обучалка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ветвлению в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git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https://githowto.com/ru — отличный курс обучения гиту на русском с примерами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https://git-scm.com/book/ru/v2/ — pro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git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book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https://www.udemy.com/course/git-expert-4-hours/ — онлайн курс по гиту</a:t>
            </a: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pPr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8659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AE0A-37F8-43B6-8A56-4BDD2B51FA78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755-7084-4254-A2EF-6950312A7CC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8766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AE0A-37F8-43B6-8A56-4BDD2B51FA78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755-7084-4254-A2EF-6950312A7CC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195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AE0A-37F8-43B6-8A56-4BDD2B51FA78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755-7084-4254-A2EF-6950312A7CC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2813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AE0A-37F8-43B6-8A56-4BDD2B51FA78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755-7084-4254-A2EF-6950312A7CC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802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AE0A-37F8-43B6-8A56-4BDD2B51FA78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755-7084-4254-A2EF-6950312A7CC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522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AE0A-37F8-43B6-8A56-4BDD2B51FA78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755-7084-4254-A2EF-6950312A7CC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294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AE0A-37F8-43B6-8A56-4BDD2B51FA78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755-7084-4254-A2EF-6950312A7CC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958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642AE0A-37F8-43B6-8A56-4BDD2B51FA78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B6A1755-7084-4254-A2EF-6950312A7CC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951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AE0A-37F8-43B6-8A56-4BDD2B51FA78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755-7084-4254-A2EF-6950312A7CC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344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AE0A-37F8-43B6-8A56-4BDD2B51FA78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755-7084-4254-A2EF-6950312A7CC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933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AE0A-37F8-43B6-8A56-4BDD2B51FA78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755-7084-4254-A2EF-6950312A7CC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857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642AE0A-37F8-43B6-8A56-4BDD2B51FA78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7B6A1755-7084-4254-A2EF-6950312A7CC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5273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ru.wikipedia.org/wiki/SCRUM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hyperlink" Target="https://ru.wikipedia.org/wiki/%D0%91%D0%B5%D1%80%D0%B5%D0%B6%D0%BB%D0%B8%D0%B2%D0%B0%D1%8F_%D1%80%D0%B0%D0%B7%D1%80%D0%B0%D0%B1%D0%BE%D1%82%D0%BA%D0%B0_%D0%BF%D1%80%D0%BE%D0%B3%D1%80%D0%B0%D0%BC%D0%BC%D0%BD%D0%BE%D0%B3%D0%BE_%D0%BE%D0%B1%D0%B5%D1%81%D0%BF%D0%B5%D1%87%D0%B5%D0%BD%D0%B8%D1%8F" TargetMode="External"/><Relationship Id="rId4" Type="http://schemas.openxmlformats.org/officeDocument/2006/relationships/hyperlink" Target="https://ru.wikipedia.org/wiki/%D0%9A%D0%B0%D0%BD%D0%B1%D0%B0%D0%BD_(%D1%80%D0%B0%D0%B7%D1%80%D0%B0%D0%B1%D0%BE%D1%82%D0%BA%D0%B0)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atlassian.com/ru/software/jira" TargetMode="External"/><Relationship Id="rId13" Type="http://schemas.openxmlformats.org/officeDocument/2006/relationships/hyperlink" Target="https://prometheus.io/docs/introduction/overview/" TargetMode="External"/><Relationship Id="rId3" Type="http://schemas.openxmlformats.org/officeDocument/2006/relationships/image" Target="../media/image4.png"/><Relationship Id="rId7" Type="http://schemas.openxmlformats.org/officeDocument/2006/relationships/hyperlink" Target="https://www.nongnu.org/cvs/" TargetMode="External"/><Relationship Id="rId12" Type="http://schemas.openxmlformats.org/officeDocument/2006/relationships/hyperlink" Target="https://www.vagrantup.com/" TargetMode="External"/><Relationship Id="rId2" Type="http://schemas.openxmlformats.org/officeDocument/2006/relationships/notesSlide" Target="../notesSlides/notesSlide6.xml"/><Relationship Id="rId16" Type="http://schemas.openxmlformats.org/officeDocument/2006/relationships/hyperlink" Target="https://www.nagios.org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mercurial-scm.org/" TargetMode="External"/><Relationship Id="rId11" Type="http://schemas.openxmlformats.org/officeDocument/2006/relationships/hyperlink" Target="https://www.chef.io/products/chef-infra" TargetMode="External"/><Relationship Id="rId5" Type="http://schemas.openxmlformats.org/officeDocument/2006/relationships/hyperlink" Target="https://subversion.apache.org/" TargetMode="External"/><Relationship Id="rId15" Type="http://schemas.openxmlformats.org/officeDocument/2006/relationships/hyperlink" Target="https://www.elastic.co/elastic-stack?ultron=B-Stack-Trials-EMEA-C-Exact&amp;gambit=Elasticsearch-ELK&amp;blade=adwords-s&amp;hulk=cpc&amp;Device=c&amp;thor=elk%20stack&amp;gclid=Cj0KCQiAvbiBBhD-ARIsAGM48bwTIRIKaubLR8xJNSwwr5R6Za7WG_iHQzFVQIkU6xxi1CW2B_BFj_caAqaDEALw_wcB" TargetMode="External"/><Relationship Id="rId10" Type="http://schemas.openxmlformats.org/officeDocument/2006/relationships/hyperlink" Target="https://puppet.com/" TargetMode="External"/><Relationship Id="rId4" Type="http://schemas.openxmlformats.org/officeDocument/2006/relationships/hyperlink" Target="https://git-scm.com/" TargetMode="External"/><Relationship Id="rId9" Type="http://schemas.openxmlformats.org/officeDocument/2006/relationships/hyperlink" Target="https://www.ansible.com/" TargetMode="External"/><Relationship Id="rId14" Type="http://schemas.openxmlformats.org/officeDocument/2006/relationships/hyperlink" Target="https://www.splunk.com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hyperlink" Target="https://mcs.mail.ru/blog/chto-takoe-metodologiya-devops" TargetMode="External"/><Relationship Id="rId3" Type="http://schemas.openxmlformats.org/officeDocument/2006/relationships/hyperlink" Target="https://katalon.com/resources-center/blog/ci-cd-tools" TargetMode="External"/><Relationship Id="rId7" Type="http://schemas.openxmlformats.org/officeDocument/2006/relationships/hyperlink" Target="https://habr.com/ru/company/otus/blog/515078/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loud.yandex.ru/blog/posts/2022/10/ci-cd" TargetMode="External"/><Relationship Id="rId5" Type="http://schemas.openxmlformats.org/officeDocument/2006/relationships/hyperlink" Target="https://www.spiceworks.com/tech/devops/articles/cicd-vs-devops/" TargetMode="External"/><Relationship Id="rId10" Type="http://schemas.openxmlformats.org/officeDocument/2006/relationships/hyperlink" Target="https://intuit.ru/studies/courses/3680/922/lecture/32689?page=1" TargetMode="External"/><Relationship Id="rId4" Type="http://schemas.openxmlformats.org/officeDocument/2006/relationships/hyperlink" Target="https://katalon.com/resources-center/blog/ci-cd-introduction" TargetMode="External"/><Relationship Id="rId9" Type="http://schemas.openxmlformats.org/officeDocument/2006/relationships/hyperlink" Target="https://proglib.io/p/osnovy-metodologii-devops-2021-02-20" TargetMode="Externa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nu.org/software/rcs/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nu.org/software/rcs/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gitbranching.js.org/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udemy.com/course/git-expert-4-hours/" TargetMode="External"/><Relationship Id="rId5" Type="http://schemas.openxmlformats.org/officeDocument/2006/relationships/hyperlink" Target="https://git-scm.com/book/ru/v2/" TargetMode="External"/><Relationship Id="rId4" Type="http://schemas.openxmlformats.org/officeDocument/2006/relationships/hyperlink" Target="https://githowto.com/ru" TargetMode="Externa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-scm.com/downloads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martiqa.ru/courses/git/lesson-1" TargetMode="Externa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hyperlink" Target="mailto:remote.origin.url=git@github.com:login/&#1088;&#1077;&#1087;&#1086;&#1079;&#1080;&#1090;&#1086;&#1088;&#1080;&#1081;" TargetMode="External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tmp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Избранные главы информатики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Лекция</a:t>
            </a:r>
            <a:r>
              <a:rPr lang="en-US" dirty="0"/>
              <a:t> 1</a:t>
            </a:r>
          </a:p>
        </p:txBody>
      </p:sp>
    </p:spTree>
    <p:extLst>
      <p:ext uri="{BB962C8B-B14F-4D97-AF65-F5344CB8AC3E}">
        <p14:creationId xmlns:p14="http://schemas.microsoft.com/office/powerpoint/2010/main" val="2129827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buClr>
                <a:srgbClr val="FF0000"/>
              </a:buClr>
            </a:pPr>
            <a:r>
              <a:rPr lang="ru-RU" dirty="0"/>
              <a:t>Основы CI/CD</a:t>
            </a:r>
            <a:r>
              <a:rPr lang="en-US" dirty="0"/>
              <a:t>, </a:t>
            </a:r>
            <a:r>
              <a:rPr lang="en-US" dirty="0" err="1"/>
              <a:t>Git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2493433"/>
            <a:ext cx="10058400" cy="3260596"/>
          </a:xfrm>
        </p:spPr>
        <p:txBody>
          <a:bodyPr>
            <a:normAutofit/>
          </a:bodyPr>
          <a:lstStyle/>
          <a:p>
            <a:pPr marL="514350" lvl="0" indent="-514350">
              <a:buClr>
                <a:schemeClr val="tx1"/>
              </a:buClr>
              <a:buFont typeface="+mj-lt"/>
              <a:buAutoNum type="arabicPeriod"/>
            </a:pPr>
            <a:r>
              <a:rPr lang="ru-RU" sz="3600" dirty="0">
                <a:solidFill>
                  <a:schemeClr val="tx1"/>
                </a:solidFill>
              </a:rPr>
              <a:t>Основы CI/CD </a:t>
            </a:r>
            <a:endParaRPr lang="en-US" sz="3600" dirty="0">
              <a:solidFill>
                <a:schemeClr val="tx1"/>
              </a:solidFill>
            </a:endParaRPr>
          </a:p>
          <a:p>
            <a:pPr marL="514350" lvl="0" indent="-514350">
              <a:buClr>
                <a:schemeClr val="tx1"/>
              </a:buClr>
              <a:buFont typeface="+mj-lt"/>
              <a:buAutoNum type="arabicPeriod"/>
            </a:pPr>
            <a:r>
              <a:rPr lang="en-US" sz="3600" dirty="0">
                <a:solidFill>
                  <a:schemeClr val="tx1"/>
                </a:solidFill>
              </a:rPr>
              <a:t>G</a:t>
            </a:r>
            <a:r>
              <a:rPr lang="ru-RU" sz="3600" dirty="0" err="1">
                <a:solidFill>
                  <a:schemeClr val="tx1"/>
                </a:solidFill>
              </a:rPr>
              <a:t>it</a:t>
            </a:r>
            <a:r>
              <a:rPr lang="ru-RU" sz="3600" dirty="0">
                <a:solidFill>
                  <a:schemeClr val="tx1"/>
                </a:solidFill>
              </a:rPr>
              <a:t> и системы контроля версий</a:t>
            </a:r>
          </a:p>
        </p:txBody>
      </p:sp>
    </p:spTree>
    <p:extLst>
      <p:ext uri="{BB962C8B-B14F-4D97-AF65-F5344CB8AC3E}">
        <p14:creationId xmlns:p14="http://schemas.microsoft.com/office/powerpoint/2010/main" val="1594573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Waterfall</a:t>
            </a:r>
            <a:endParaRPr lang="ru-RU" dirty="0"/>
          </a:p>
        </p:txBody>
      </p:sp>
      <p:pic>
        <p:nvPicPr>
          <p:cNvPr id="4" name="Объект 3" descr="Вырезка экрана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4229" y="1890489"/>
            <a:ext cx="9076171" cy="4691211"/>
          </a:xfrm>
        </p:spPr>
      </p:pic>
      <p:sp>
        <p:nvSpPr>
          <p:cNvPr id="5" name="Прямоугольник 4"/>
          <p:cNvSpPr/>
          <p:nvPr/>
        </p:nvSpPr>
        <p:spPr>
          <a:xfrm>
            <a:off x="199629" y="5873234"/>
            <a:ext cx="7056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1970 </a:t>
            </a:r>
          </a:p>
        </p:txBody>
      </p:sp>
    </p:spTree>
    <p:extLst>
      <p:ext uri="{BB962C8B-B14F-4D97-AF65-F5344CB8AC3E}">
        <p14:creationId xmlns:p14="http://schemas.microsoft.com/office/powerpoint/2010/main" val="2223739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04900" y="286603"/>
            <a:ext cx="11087100" cy="1450757"/>
          </a:xfrm>
        </p:spPr>
        <p:txBody>
          <a:bodyPr>
            <a:normAutofit/>
          </a:bodyPr>
          <a:lstStyle/>
          <a:p>
            <a:r>
              <a:rPr lang="en-US" dirty="0"/>
              <a:t>Agile ( </a:t>
            </a:r>
            <a:r>
              <a:rPr lang="en-US" dirty="0">
                <a:hlinkClick r:id="rId3"/>
              </a:rPr>
              <a:t>SCRUM</a:t>
            </a:r>
            <a:r>
              <a:rPr lang="en-US" dirty="0"/>
              <a:t>, </a:t>
            </a:r>
            <a:r>
              <a:rPr lang="en-US" dirty="0">
                <a:hlinkClick r:id="rId4"/>
              </a:rPr>
              <a:t>Kanban</a:t>
            </a:r>
            <a:r>
              <a:rPr lang="en-US" dirty="0"/>
              <a:t>, </a:t>
            </a:r>
            <a:r>
              <a:rPr lang="en-US" dirty="0">
                <a:hlinkClick r:id="rId5"/>
              </a:rPr>
              <a:t>Lean</a:t>
            </a:r>
            <a:r>
              <a:rPr lang="en-US" dirty="0"/>
              <a:t>…)</a:t>
            </a:r>
            <a:endParaRPr lang="ru-RU" dirty="0"/>
          </a:p>
        </p:txBody>
      </p:sp>
      <p:pic>
        <p:nvPicPr>
          <p:cNvPr id="5" name="Объект 4" descr="Вырезка экрана"/>
          <p:cNvPicPr>
            <a:picLocks noGrp="1" noChangeAspect="1"/>
          </p:cNvPicPr>
          <p:nvPr>
            <p:ph idx="1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743" y="1748309"/>
            <a:ext cx="11485720" cy="3429123"/>
          </a:xfrm>
        </p:spPr>
      </p:pic>
      <p:sp>
        <p:nvSpPr>
          <p:cNvPr id="4" name="Прямоугольник 3"/>
          <p:cNvSpPr/>
          <p:nvPr/>
        </p:nvSpPr>
        <p:spPr>
          <a:xfrm>
            <a:off x="0" y="5916096"/>
            <a:ext cx="6527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2001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73502E-C1C3-A544-7482-F04B77FD138A}"/>
              </a:ext>
            </a:extLst>
          </p:cNvPr>
          <p:cNvSpPr txBox="1"/>
          <p:nvPr/>
        </p:nvSpPr>
        <p:spPr>
          <a:xfrm>
            <a:off x="4829176" y="4948832"/>
            <a:ext cx="715803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Четыре ценности </a:t>
            </a:r>
            <a:r>
              <a:rPr lang="ru-RU" b="1" dirty="0" err="1"/>
              <a:t>Agile</a:t>
            </a:r>
            <a:r>
              <a:rPr lang="ru-RU" b="1" dirty="0"/>
              <a:t>:</a:t>
            </a:r>
          </a:p>
          <a:p>
            <a:r>
              <a:rPr lang="ru-RU" dirty="0"/>
              <a:t>Люди и взаимодействие важнее процессов и инструментов.</a:t>
            </a:r>
          </a:p>
          <a:p>
            <a:r>
              <a:rPr lang="ru-RU" dirty="0"/>
              <a:t>Работающий продукт важнее исчерпывающей документации.</a:t>
            </a:r>
          </a:p>
          <a:p>
            <a:r>
              <a:rPr lang="ru-RU" dirty="0"/>
              <a:t>Сотрудничество с заказчиком важнее согласования условий контракта.</a:t>
            </a:r>
          </a:p>
          <a:p>
            <a:r>
              <a:rPr lang="ru-RU" dirty="0"/>
              <a:t>Готовность к изменениям важнее следования первоначальному плану.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DE7094-B9EF-16A2-FC5C-4DA9513A74DE}"/>
              </a:ext>
            </a:extLst>
          </p:cNvPr>
          <p:cNvSpPr txBox="1"/>
          <p:nvPr/>
        </p:nvSpPr>
        <p:spPr>
          <a:xfrm>
            <a:off x="204786" y="6285428"/>
            <a:ext cx="58912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-apple-system"/>
              </a:rPr>
              <a:t>Developers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, </a:t>
            </a:r>
            <a:r>
              <a:rPr lang="en-US" dirty="0"/>
              <a:t>Product owner</a:t>
            </a:r>
            <a:r>
              <a:rPr lang="ru-RU" dirty="0"/>
              <a:t>(</a:t>
            </a:r>
            <a:r>
              <a:rPr lang="en-US" dirty="0"/>
              <a:t>Product Backlog</a:t>
            </a:r>
            <a:r>
              <a:rPr lang="ru-RU" dirty="0"/>
              <a:t>), </a:t>
            </a:r>
            <a:r>
              <a:rPr lang="en-US" dirty="0"/>
              <a:t>Scrum master </a:t>
            </a:r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2142D8-58BB-59F5-9FFB-B8EC0CB162FA}"/>
              </a:ext>
            </a:extLst>
          </p:cNvPr>
          <p:cNvSpPr txBox="1"/>
          <p:nvPr/>
        </p:nvSpPr>
        <p:spPr>
          <a:xfrm>
            <a:off x="0" y="6499740"/>
            <a:ext cx="63257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Sprint Planning</a:t>
            </a:r>
            <a:r>
              <a:rPr lang="ru-RU" dirty="0"/>
              <a:t>, </a:t>
            </a:r>
            <a:r>
              <a:rPr lang="en-US" dirty="0"/>
              <a:t>Daily Scrum</a:t>
            </a:r>
            <a:r>
              <a:rPr lang="ru-RU" dirty="0"/>
              <a:t>, </a:t>
            </a:r>
            <a:r>
              <a:rPr lang="en-US" dirty="0"/>
              <a:t>Sprint Review</a:t>
            </a:r>
            <a:r>
              <a:rPr lang="ru-RU" dirty="0"/>
              <a:t>, </a:t>
            </a:r>
            <a:r>
              <a:rPr lang="en-US" dirty="0"/>
              <a:t>Sprint Retrospective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63088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04900" y="449778"/>
            <a:ext cx="5381625" cy="1450757"/>
          </a:xfrm>
        </p:spPr>
        <p:txBody>
          <a:bodyPr>
            <a:normAutofit/>
          </a:bodyPr>
          <a:lstStyle/>
          <a:p>
            <a:r>
              <a:rPr lang="en-US" dirty="0"/>
              <a:t>DevOps </a:t>
            </a:r>
            <a:br>
              <a:rPr lang="ru-RU" dirty="0"/>
            </a:br>
            <a:r>
              <a:rPr lang="ru-RU" dirty="0"/>
              <a:t>модель </a:t>
            </a:r>
            <a:r>
              <a:rPr lang="en-US" dirty="0"/>
              <a:t>CAMS</a:t>
            </a:r>
          </a:p>
        </p:txBody>
      </p:sp>
      <p:pic>
        <p:nvPicPr>
          <p:cNvPr id="4" name="Объект 3" descr="Вырезка экрана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37360"/>
            <a:ext cx="7798308" cy="4587240"/>
          </a:xfrm>
        </p:spPr>
      </p:pic>
      <p:sp>
        <p:nvSpPr>
          <p:cNvPr id="6" name="Прямоугольник 5"/>
          <p:cNvSpPr/>
          <p:nvPr/>
        </p:nvSpPr>
        <p:spPr>
          <a:xfrm>
            <a:off x="8091487" y="1900535"/>
            <a:ext cx="38862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err="1">
                <a:latin typeface="Roboto"/>
              </a:rPr>
              <a:t>DevOps</a:t>
            </a:r>
            <a:r>
              <a:rPr lang="ru-RU" sz="2800" dirty="0">
                <a:latin typeface="Roboto"/>
              </a:rPr>
              <a:t> и </a:t>
            </a:r>
            <a:r>
              <a:rPr lang="ru-RU" sz="2800" dirty="0" err="1">
                <a:latin typeface="Roboto"/>
              </a:rPr>
              <a:t>Agile</a:t>
            </a:r>
            <a:r>
              <a:rPr lang="ru-RU" sz="2800" dirty="0">
                <a:latin typeface="Roboto"/>
              </a:rPr>
              <a:t> могут дополнять друг друга и применяться в тандеме</a:t>
            </a:r>
            <a:r>
              <a:rPr lang="en-US" sz="2800" dirty="0">
                <a:latin typeface="Roboto"/>
              </a:rPr>
              <a:t> </a:t>
            </a:r>
          </a:p>
          <a:p>
            <a:endParaRPr lang="en-US" sz="2800" dirty="0">
              <a:latin typeface="Roboto"/>
            </a:endParaRPr>
          </a:p>
          <a:p>
            <a:endParaRPr lang="ru-RU" sz="28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0" y="5930384"/>
            <a:ext cx="6527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2010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7889064" y="3901559"/>
            <a:ext cx="4100546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ru-RU" dirty="0"/>
              <a:t>Регулярное сотрудничество и общение</a:t>
            </a:r>
            <a:endParaRPr lang="en-US" dirty="0"/>
          </a:p>
          <a:p>
            <a:pPr>
              <a:buFont typeface="Arial" pitchFamily="34" charset="0"/>
              <a:buChar char="•"/>
            </a:pPr>
            <a:r>
              <a:rPr lang="ru-RU" dirty="0"/>
              <a:t>Постепенное развертывание</a:t>
            </a:r>
            <a:endParaRPr lang="en-US" dirty="0"/>
          </a:p>
          <a:p>
            <a:pPr>
              <a:buFont typeface="Arial" pitchFamily="34" charset="0"/>
              <a:buChar char="•"/>
            </a:pPr>
            <a:r>
              <a:rPr lang="ru-RU" dirty="0"/>
              <a:t>Общая ответственность</a:t>
            </a:r>
            <a:endParaRPr lang="en-US" dirty="0"/>
          </a:p>
          <a:p>
            <a:pPr>
              <a:buFont typeface="Arial" pitchFamily="34" charset="0"/>
              <a:buChar char="•"/>
            </a:pPr>
            <a:r>
              <a:rPr lang="ru-RU" dirty="0"/>
              <a:t>Решение проблем на ранних этапах</a:t>
            </a:r>
          </a:p>
        </p:txBody>
      </p:sp>
    </p:spTree>
    <p:extLst>
      <p:ext uri="{BB962C8B-B14F-4D97-AF65-F5344CB8AC3E}">
        <p14:creationId xmlns:p14="http://schemas.microsoft.com/office/powerpoint/2010/main" val="346602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76288" y="542925"/>
            <a:ext cx="7153275" cy="765810"/>
          </a:xfrm>
        </p:spPr>
        <p:txBody>
          <a:bodyPr>
            <a:normAutofit/>
          </a:bodyPr>
          <a:lstStyle/>
          <a:p>
            <a:r>
              <a:rPr lang="ru-RU" dirty="0"/>
              <a:t>Жизненный цикл </a:t>
            </a:r>
            <a:r>
              <a:rPr lang="en-US" dirty="0"/>
              <a:t>DevOps</a:t>
            </a:r>
          </a:p>
        </p:txBody>
      </p:sp>
      <p:pic>
        <p:nvPicPr>
          <p:cNvPr id="5" name="Объект 4" descr="Вырезка экрана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51622"/>
            <a:ext cx="5337334" cy="4957690"/>
          </a:xfrm>
        </p:spPr>
      </p:pic>
      <p:sp>
        <p:nvSpPr>
          <p:cNvPr id="4" name="Прямоугольник 3"/>
          <p:cNvSpPr/>
          <p:nvPr/>
        </p:nvSpPr>
        <p:spPr>
          <a:xfrm>
            <a:off x="5572126" y="1246333"/>
            <a:ext cx="6472238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/>
              <a:t>Разработка</a:t>
            </a:r>
            <a:r>
              <a:rPr lang="ru-RU" sz="2400" dirty="0"/>
              <a:t>  (планирование и кодирование-</a:t>
            </a:r>
            <a:r>
              <a:rPr lang="en-US" dirty="0">
                <a:hlinkClick r:id="rId4"/>
              </a:rPr>
              <a:t>Git</a:t>
            </a:r>
            <a:r>
              <a:rPr lang="en-US" dirty="0"/>
              <a:t>, </a:t>
            </a:r>
            <a:r>
              <a:rPr lang="en-US" dirty="0">
                <a:hlinkClick r:id="rId5"/>
              </a:rPr>
              <a:t>SVN</a:t>
            </a:r>
            <a:r>
              <a:rPr lang="en-US" dirty="0"/>
              <a:t>, </a:t>
            </a:r>
            <a:r>
              <a:rPr lang="en-US" dirty="0">
                <a:hlinkClick r:id="rId6"/>
              </a:rPr>
              <a:t>Mercurial</a:t>
            </a:r>
            <a:r>
              <a:rPr lang="en-US" dirty="0"/>
              <a:t>, </a:t>
            </a:r>
            <a:r>
              <a:rPr lang="en-US" dirty="0">
                <a:hlinkClick r:id="rId7"/>
              </a:rPr>
              <a:t>CVS</a:t>
            </a:r>
            <a:r>
              <a:rPr lang="en-US" dirty="0"/>
              <a:t> </a:t>
            </a:r>
            <a:r>
              <a:rPr lang="ru-RU" dirty="0"/>
              <a:t>и </a:t>
            </a:r>
            <a:r>
              <a:rPr lang="en-US" dirty="0">
                <a:hlinkClick r:id="rId8"/>
              </a:rPr>
              <a:t>JIRA</a:t>
            </a:r>
            <a:r>
              <a:rPr lang="en-US" dirty="0"/>
              <a:t>.</a:t>
            </a:r>
            <a:r>
              <a:rPr lang="ru-RU" sz="2400" dirty="0"/>
              <a:t>)</a:t>
            </a:r>
          </a:p>
          <a:p>
            <a:r>
              <a:rPr lang="ru-RU" sz="2400" b="1" dirty="0"/>
              <a:t>Интеграция</a:t>
            </a:r>
            <a:r>
              <a:rPr lang="ru-RU" sz="2400" dirty="0"/>
              <a:t>(компиляция кода, проверка, модульное тестирование, интеграционное тестирование и упаковка - </a:t>
            </a:r>
            <a:r>
              <a:rPr lang="en-US" sz="2400" dirty="0"/>
              <a:t>Jenkins</a:t>
            </a:r>
            <a:r>
              <a:rPr lang="ru-RU" sz="2400" dirty="0"/>
              <a:t>)</a:t>
            </a:r>
          </a:p>
          <a:p>
            <a:r>
              <a:rPr lang="ru-RU" sz="2400" b="1" dirty="0"/>
              <a:t>Тестирование</a:t>
            </a:r>
            <a:r>
              <a:rPr lang="ru-RU" sz="2400" dirty="0"/>
              <a:t> (Автоматическое тестирование - </a:t>
            </a:r>
            <a:r>
              <a:rPr lang="ru-RU" sz="2400" dirty="0" err="1"/>
              <a:t>Selenium</a:t>
            </a:r>
            <a:r>
              <a:rPr lang="ru-RU" sz="2400" dirty="0"/>
              <a:t>, генерация отчетов – </a:t>
            </a:r>
            <a:r>
              <a:rPr lang="ru-RU" sz="2400" dirty="0" err="1"/>
              <a:t>TestNG</a:t>
            </a:r>
            <a:r>
              <a:rPr lang="ru-RU" sz="2400" dirty="0"/>
              <a:t>)</a:t>
            </a:r>
          </a:p>
          <a:p>
            <a:r>
              <a:rPr lang="ru-RU" sz="2400" b="1" dirty="0"/>
              <a:t>Развертывание</a:t>
            </a:r>
            <a:r>
              <a:rPr lang="ru-RU" sz="2400" dirty="0"/>
              <a:t> (</a:t>
            </a:r>
            <a:r>
              <a:rPr lang="en-US" sz="2400" dirty="0" err="1">
                <a:hlinkClick r:id="rId9"/>
              </a:rPr>
              <a:t>Ansible</a:t>
            </a:r>
            <a:r>
              <a:rPr lang="en-US" sz="2400" dirty="0"/>
              <a:t>, </a:t>
            </a:r>
            <a:r>
              <a:rPr lang="en-US" sz="2400" dirty="0">
                <a:hlinkClick r:id="rId10"/>
              </a:rPr>
              <a:t>Puppet</a:t>
            </a:r>
            <a:r>
              <a:rPr lang="en-US" sz="2400" dirty="0"/>
              <a:t> </a:t>
            </a:r>
            <a:r>
              <a:rPr lang="ru-RU" sz="2400" dirty="0"/>
              <a:t>и </a:t>
            </a:r>
            <a:r>
              <a:rPr lang="en-US" sz="2400" dirty="0">
                <a:hlinkClick r:id="rId11"/>
              </a:rPr>
              <a:t>Chef</a:t>
            </a:r>
            <a:r>
              <a:rPr lang="ru-RU" sz="2400" dirty="0"/>
              <a:t> – развертывание, </a:t>
            </a:r>
            <a:r>
              <a:rPr lang="en-US" sz="2400" dirty="0">
                <a:hlinkClick r:id="rId12"/>
              </a:rPr>
              <a:t>Vagrant </a:t>
            </a:r>
            <a:r>
              <a:rPr lang="ru-RU" sz="2400" dirty="0"/>
              <a:t>и </a:t>
            </a:r>
            <a:r>
              <a:rPr lang="en-US" sz="2400" dirty="0" err="1"/>
              <a:t>Docker</a:t>
            </a:r>
            <a:r>
              <a:rPr lang="ru-RU" sz="2400" dirty="0"/>
              <a:t> – контейнеризация)</a:t>
            </a:r>
          </a:p>
          <a:p>
            <a:r>
              <a:rPr lang="ru-RU" sz="2400" dirty="0"/>
              <a:t>Мониторинг (автоматический сбор телеметрии, метаданных, системные ошибки, безопасность - </a:t>
            </a:r>
            <a:r>
              <a:rPr lang="nl-NL" sz="2400" dirty="0"/>
              <a:t> </a:t>
            </a:r>
            <a:r>
              <a:rPr lang="nl-NL" sz="2400" dirty="0">
                <a:hlinkClick r:id="rId13"/>
              </a:rPr>
              <a:t>Prometheus</a:t>
            </a:r>
            <a:r>
              <a:rPr lang="nl-NL" sz="2400" dirty="0"/>
              <a:t>, </a:t>
            </a:r>
            <a:r>
              <a:rPr lang="nl-NL" sz="2400" dirty="0">
                <a:hlinkClick r:id="rId14"/>
              </a:rPr>
              <a:t>Splunk</a:t>
            </a:r>
            <a:r>
              <a:rPr lang="nl-NL" sz="2400" dirty="0"/>
              <a:t>, </a:t>
            </a:r>
            <a:r>
              <a:rPr lang="nl-NL" sz="2400" dirty="0">
                <a:hlinkClick r:id="rId15"/>
              </a:rPr>
              <a:t>ELK Stack</a:t>
            </a:r>
            <a:r>
              <a:rPr lang="nl-NL" sz="2400" dirty="0"/>
              <a:t>, </a:t>
            </a:r>
            <a:r>
              <a:rPr lang="nl-NL" sz="2400" dirty="0">
                <a:hlinkClick r:id="rId16"/>
              </a:rPr>
              <a:t>Nagios</a:t>
            </a:r>
            <a:r>
              <a:rPr lang="ru-RU" sz="2400" dirty="0"/>
              <a:t>)</a:t>
            </a:r>
          </a:p>
          <a:p>
            <a:r>
              <a:rPr lang="ru-RU" sz="2400" b="1" dirty="0"/>
              <a:t>Обратная связь</a:t>
            </a:r>
            <a:r>
              <a:rPr lang="ru-RU" sz="2400" dirty="0"/>
              <a:t> от клиентов</a:t>
            </a:r>
          </a:p>
        </p:txBody>
      </p:sp>
    </p:spTree>
    <p:extLst>
      <p:ext uri="{BB962C8B-B14F-4D97-AF65-F5344CB8AC3E}">
        <p14:creationId xmlns:p14="http://schemas.microsoft.com/office/powerpoint/2010/main" val="2926802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Основы </a:t>
            </a:r>
            <a:r>
              <a:rPr lang="en-US" dirty="0"/>
              <a:t>CI/CD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97280" y="1845734"/>
            <a:ext cx="10770870" cy="2154766"/>
          </a:xfrm>
        </p:spPr>
        <p:txBody>
          <a:bodyPr>
            <a:normAutofit/>
          </a:bodyPr>
          <a:lstStyle/>
          <a:p>
            <a:r>
              <a:rPr lang="ru-RU" sz="2800" dirty="0"/>
              <a:t>CI/CD (</a:t>
            </a:r>
            <a:r>
              <a:rPr lang="ru-RU" sz="2800" dirty="0" err="1"/>
              <a:t>Continuous</a:t>
            </a:r>
            <a:r>
              <a:rPr lang="ru-RU" sz="2800" dirty="0"/>
              <a:t> </a:t>
            </a:r>
            <a:r>
              <a:rPr lang="ru-RU" sz="2800" dirty="0" err="1"/>
              <a:t>Integration</a:t>
            </a:r>
            <a:r>
              <a:rPr lang="ru-RU" sz="2800" dirty="0"/>
              <a:t>, </a:t>
            </a:r>
            <a:r>
              <a:rPr lang="ru-RU" sz="2800" dirty="0" err="1"/>
              <a:t>Continuous</a:t>
            </a:r>
            <a:r>
              <a:rPr lang="ru-RU" sz="2800" dirty="0"/>
              <a:t> </a:t>
            </a:r>
            <a:r>
              <a:rPr lang="ru-RU" sz="2800" dirty="0" err="1"/>
              <a:t>Delivery</a:t>
            </a:r>
            <a:r>
              <a:rPr lang="ru-RU" sz="2800" dirty="0"/>
              <a:t> — непрерывная интеграция и доставка) — это технология автоматизации тестирования и доставки новых модулей разрабатываемого проекта заинтересованным сторонам (разработчикам, аналитикам, инженерам качества, конечным пользователям и др.).</a:t>
            </a:r>
          </a:p>
        </p:txBody>
      </p:sp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281" y="3867150"/>
            <a:ext cx="8522919" cy="2829136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 rot="10800000" flipV="1">
            <a:off x="9211825" y="4785692"/>
            <a:ext cx="298017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err="1"/>
              <a:t>DevOps</a:t>
            </a:r>
            <a:r>
              <a:rPr lang="ru-RU" sz="2000" dirty="0"/>
              <a:t> — более широкая концепция, а CI/CD — инструменты/</a:t>
            </a:r>
            <a:r>
              <a:rPr lang="en-US" sz="2000" dirty="0"/>
              <a:t> </a:t>
            </a:r>
            <a:r>
              <a:rPr lang="ru-RU" sz="2000" dirty="0"/>
              <a:t>практики внутри нее</a:t>
            </a:r>
          </a:p>
        </p:txBody>
      </p:sp>
    </p:spTree>
    <p:extLst>
      <p:ext uri="{BB962C8B-B14F-4D97-AF65-F5344CB8AC3E}">
        <p14:creationId xmlns:p14="http://schemas.microsoft.com/office/powerpoint/2010/main" val="2303251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Основы </a:t>
            </a:r>
            <a:r>
              <a:rPr lang="en-US" dirty="0"/>
              <a:t>CI/CD</a:t>
            </a:r>
            <a:r>
              <a:rPr lang="ru-RU" dirty="0"/>
              <a:t> - задачи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97280" y="1845734"/>
            <a:ext cx="10770870" cy="2154766"/>
          </a:xfrm>
        </p:spPr>
        <p:txBody>
          <a:bodyPr>
            <a:normAutofit/>
          </a:bodyPr>
          <a:lstStyle/>
          <a:p>
            <a:pPr fontAlgn="base">
              <a:buFont typeface="Arial" panose="020B0604020202020204" pitchFamily="34" charset="0"/>
              <a:buChar char="•"/>
            </a:pPr>
            <a:r>
              <a:rPr lang="ru-RU" sz="2800" dirty="0"/>
              <a:t>автоматизация последовательной сборки, упаковки и тестирования программных продуктов;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ru-RU" sz="2800" dirty="0"/>
              <a:t>автоматизация развертывания приложения в различных окружениях;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ru-RU" sz="2800" dirty="0"/>
              <a:t>минимизация ошибок и уязвимостей программного продукта</a:t>
            </a:r>
            <a:endParaRPr lang="en-US" sz="2800" dirty="0"/>
          </a:p>
          <a:p>
            <a:pPr fontAlgn="base">
              <a:buFont typeface="Arial" panose="020B0604020202020204" pitchFamily="34" charset="0"/>
              <a:buChar char="•"/>
            </a:pPr>
            <a:endParaRPr lang="en-US" sz="2800" dirty="0"/>
          </a:p>
          <a:p>
            <a:pPr fontAlgn="base">
              <a:buFont typeface="Arial" panose="020B0604020202020204" pitchFamily="34" charset="0"/>
              <a:buChar char="•"/>
            </a:pP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6264130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Основы </a:t>
            </a:r>
            <a:r>
              <a:rPr lang="en-US" dirty="0"/>
              <a:t>CI/CD</a:t>
            </a:r>
            <a:r>
              <a:rPr lang="ru-RU" dirty="0"/>
              <a:t> - принципы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64030" y="2264834"/>
            <a:ext cx="6313170" cy="2707216"/>
          </a:xfrm>
        </p:spPr>
        <p:txBody>
          <a:bodyPr>
            <a:normAutofit/>
          </a:bodyPr>
          <a:lstStyle/>
          <a:p>
            <a:pPr fontAlgn="base">
              <a:buFont typeface="Arial" panose="020B0604020202020204" pitchFamily="34" charset="0"/>
              <a:buChar char="•"/>
            </a:pPr>
            <a:r>
              <a:rPr lang="ru-RU" sz="2800" dirty="0"/>
              <a:t>Распределение ответственности;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ru-RU" sz="2800" dirty="0"/>
              <a:t>Сокращение рисков;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ru-RU" sz="2800" dirty="0"/>
              <a:t>Оптимизация обратной связи</a:t>
            </a:r>
            <a:r>
              <a:rPr lang="en-US" sz="2800" dirty="0"/>
              <a:t>;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ru-RU" sz="2800" dirty="0"/>
              <a:t>Создание рабочей среды</a:t>
            </a:r>
            <a:endParaRPr lang="en-US" sz="2800" dirty="0"/>
          </a:p>
          <a:p>
            <a:pPr fontAlgn="base">
              <a:buFont typeface="Arial" panose="020B0604020202020204" pitchFamily="34" charset="0"/>
              <a:buChar char="•"/>
            </a:pP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4232995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Основы </a:t>
            </a:r>
            <a:r>
              <a:rPr lang="en-US" dirty="0"/>
              <a:t>CI/CD</a:t>
            </a:r>
            <a:r>
              <a:rPr lang="ru-RU" dirty="0"/>
              <a:t> – этапы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97280" y="2214463"/>
            <a:ext cx="4770120" cy="4052987"/>
          </a:xfrm>
        </p:spPr>
        <p:txBody>
          <a:bodyPr>
            <a:normAutofit/>
          </a:bodyPr>
          <a:lstStyle/>
          <a:p>
            <a:pPr fontAlgn="base">
              <a:buFont typeface="Arial" panose="020B0604020202020204" pitchFamily="34" charset="0"/>
              <a:buChar char="•"/>
            </a:pPr>
            <a:r>
              <a:rPr lang="ru-RU" sz="2800" dirty="0"/>
              <a:t>Написание кода;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ru-RU" sz="2800" dirty="0"/>
              <a:t>Сборка;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ru-RU" sz="2800" dirty="0"/>
              <a:t>Тестирование</a:t>
            </a:r>
            <a:r>
              <a:rPr lang="en-US" sz="2800" dirty="0"/>
              <a:t>;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ru-RU" sz="2800" dirty="0"/>
              <a:t>Релиз;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ru-RU" sz="2800" dirty="0"/>
              <a:t>Развертывание;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ru-RU" sz="2800" dirty="0"/>
              <a:t>Поддержка и мониторинг;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ru-RU" sz="2800" dirty="0"/>
              <a:t>Планирование.</a:t>
            </a:r>
          </a:p>
        </p:txBody>
      </p:sp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7814" y="0"/>
            <a:ext cx="5264186" cy="260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6642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Основы </a:t>
            </a:r>
            <a:r>
              <a:rPr lang="en-US" dirty="0"/>
              <a:t>CI/CD</a:t>
            </a:r>
            <a:r>
              <a:rPr lang="ru-RU" dirty="0"/>
              <a:t> – этапы</a:t>
            </a:r>
          </a:p>
        </p:txBody>
      </p:sp>
      <p:pic>
        <p:nvPicPr>
          <p:cNvPr id="6" name="Рисунок 5" descr="Вырезка экрана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93" y="2357340"/>
            <a:ext cx="12093153" cy="2652810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2928399" y="4622525"/>
            <a:ext cx="858228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404040"/>
                </a:solidFill>
                <a:latin typeface="Inter"/>
              </a:rPr>
              <a:t>Пример CI/CD в </a:t>
            </a:r>
            <a:r>
              <a:rPr lang="ru-RU" b="1" dirty="0" err="1">
                <a:solidFill>
                  <a:srgbClr val="404040"/>
                </a:solidFill>
                <a:latin typeface="Inter"/>
              </a:rPr>
              <a:t>DevOps</a:t>
            </a:r>
            <a:r>
              <a:rPr lang="ru-RU" b="1" dirty="0">
                <a:solidFill>
                  <a:srgbClr val="404040"/>
                </a:solidFill>
                <a:latin typeface="Inter"/>
              </a:rPr>
              <a:t>-процессе</a:t>
            </a:r>
          </a:p>
          <a:p>
            <a:pPr>
              <a:buFont typeface="+mj-lt"/>
              <a:buAutoNum type="arabicPeriod"/>
            </a:pPr>
            <a:r>
              <a:rPr lang="ru-RU" dirty="0">
                <a:solidFill>
                  <a:srgbClr val="404040"/>
                </a:solidFill>
                <a:latin typeface="Inter"/>
              </a:rPr>
              <a:t>Разработчик пушит код в </a:t>
            </a:r>
            <a:r>
              <a:rPr lang="ru-RU" dirty="0" err="1">
                <a:solidFill>
                  <a:srgbClr val="404040"/>
                </a:solidFill>
                <a:latin typeface="Inter"/>
              </a:rPr>
              <a:t>Git</a:t>
            </a:r>
            <a:r>
              <a:rPr lang="ru-RU" dirty="0">
                <a:solidFill>
                  <a:srgbClr val="404040"/>
                </a:solidFill>
                <a:latin typeface="Inter"/>
              </a:rPr>
              <a:t> → </a:t>
            </a:r>
            <a:r>
              <a:rPr lang="ru-RU" b="1" dirty="0">
                <a:solidFill>
                  <a:srgbClr val="404040"/>
                </a:solidFill>
                <a:latin typeface="Inter"/>
              </a:rPr>
              <a:t>CI-</a:t>
            </a:r>
            <a:r>
              <a:rPr lang="ru-RU" b="1" dirty="0" err="1">
                <a:solidFill>
                  <a:srgbClr val="404040"/>
                </a:solidFill>
                <a:latin typeface="Inter"/>
              </a:rPr>
              <a:t>пайплайн</a:t>
            </a:r>
            <a:r>
              <a:rPr lang="ru-RU" dirty="0">
                <a:solidFill>
                  <a:srgbClr val="404040"/>
                </a:solidFill>
                <a:latin typeface="Inter"/>
              </a:rPr>
              <a:t> запускает тесты.</a:t>
            </a:r>
          </a:p>
          <a:p>
            <a:pPr>
              <a:buFont typeface="+mj-lt"/>
              <a:buAutoNum type="arabicPeriod"/>
            </a:pPr>
            <a:r>
              <a:rPr lang="ru-RU" dirty="0">
                <a:solidFill>
                  <a:srgbClr val="404040"/>
                </a:solidFill>
                <a:latin typeface="Inter"/>
              </a:rPr>
              <a:t>Если тесты пройдены → </a:t>
            </a:r>
            <a:r>
              <a:rPr lang="ru-RU" b="1" dirty="0">
                <a:solidFill>
                  <a:srgbClr val="404040"/>
                </a:solidFill>
                <a:latin typeface="Inter"/>
              </a:rPr>
              <a:t>CD-</a:t>
            </a:r>
            <a:r>
              <a:rPr lang="ru-RU" b="1" dirty="0" err="1">
                <a:solidFill>
                  <a:srgbClr val="404040"/>
                </a:solidFill>
                <a:latin typeface="Inter"/>
              </a:rPr>
              <a:t>пайплайн</a:t>
            </a:r>
            <a:r>
              <a:rPr lang="ru-RU" dirty="0">
                <a:solidFill>
                  <a:srgbClr val="404040"/>
                </a:solidFill>
                <a:latin typeface="Inter"/>
              </a:rPr>
              <a:t> разворачивает код на тестовом сервере.</a:t>
            </a:r>
          </a:p>
          <a:p>
            <a:pPr>
              <a:buFont typeface="+mj-lt"/>
              <a:buAutoNum type="arabicPeriod"/>
            </a:pPr>
            <a:r>
              <a:rPr lang="ru-RU" dirty="0">
                <a:solidFill>
                  <a:srgbClr val="404040"/>
                </a:solidFill>
                <a:latin typeface="Inter"/>
              </a:rPr>
              <a:t>После проверки → автоматический </a:t>
            </a:r>
            <a:r>
              <a:rPr lang="ru-RU" dirty="0" err="1">
                <a:solidFill>
                  <a:srgbClr val="404040"/>
                </a:solidFill>
                <a:latin typeface="Inter"/>
              </a:rPr>
              <a:t>деплой</a:t>
            </a:r>
            <a:r>
              <a:rPr lang="ru-RU" dirty="0">
                <a:solidFill>
                  <a:srgbClr val="404040"/>
                </a:solidFill>
                <a:latin typeface="Inter"/>
              </a:rPr>
              <a:t> в </a:t>
            </a:r>
            <a:r>
              <a:rPr lang="ru-RU" dirty="0" err="1">
                <a:solidFill>
                  <a:srgbClr val="404040"/>
                </a:solidFill>
                <a:latin typeface="Inter"/>
              </a:rPr>
              <a:t>продакшен</a:t>
            </a:r>
            <a:r>
              <a:rPr lang="ru-RU" dirty="0">
                <a:solidFill>
                  <a:srgbClr val="404040"/>
                </a:solidFill>
                <a:latin typeface="Inter"/>
              </a:rPr>
              <a:t>.</a:t>
            </a:r>
            <a:endParaRPr lang="ru-RU" b="0" i="0" dirty="0">
              <a:solidFill>
                <a:srgbClr val="404040"/>
              </a:solidFill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6904948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CI-</a:t>
            </a:r>
            <a:r>
              <a:rPr lang="ru-RU" b="1" dirty="0" err="1"/>
              <a:t>пайплайн</a:t>
            </a:r>
            <a:r>
              <a:rPr lang="ru-RU" b="1" dirty="0"/>
              <a:t> (</a:t>
            </a:r>
            <a:r>
              <a:rPr lang="ru-RU" b="1" dirty="0" err="1"/>
              <a:t>Continuous</a:t>
            </a:r>
            <a:r>
              <a:rPr lang="ru-RU" b="1" dirty="0"/>
              <a:t> </a:t>
            </a:r>
            <a:r>
              <a:rPr lang="ru-RU" b="1" dirty="0" err="1"/>
              <a:t>Integration</a:t>
            </a:r>
            <a:r>
              <a:rPr lang="ru-RU" b="1" dirty="0"/>
              <a:t> </a:t>
            </a:r>
            <a:r>
              <a:rPr lang="ru-RU" b="1" dirty="0" err="1"/>
              <a:t>Pipeline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b="1" dirty="0"/>
              <a:t>CI-</a:t>
            </a:r>
            <a:r>
              <a:rPr lang="ru-RU" sz="2800" b="1" dirty="0" err="1"/>
              <a:t>пайплайн</a:t>
            </a:r>
            <a:r>
              <a:rPr lang="ru-RU" sz="2800" b="1" dirty="0"/>
              <a:t> (</a:t>
            </a:r>
            <a:r>
              <a:rPr lang="ru-RU" sz="2800" b="1" dirty="0" err="1"/>
              <a:t>Continuous</a:t>
            </a:r>
            <a:r>
              <a:rPr lang="ru-RU" sz="2800" b="1" dirty="0"/>
              <a:t> </a:t>
            </a:r>
            <a:r>
              <a:rPr lang="ru-RU" sz="2800" b="1" dirty="0" err="1"/>
              <a:t>Integration</a:t>
            </a:r>
            <a:r>
              <a:rPr lang="ru-RU" sz="2800" b="1" dirty="0"/>
              <a:t> </a:t>
            </a:r>
            <a:r>
              <a:rPr lang="ru-RU" sz="2800" b="1" dirty="0" err="1"/>
              <a:t>Pipeline</a:t>
            </a:r>
            <a:r>
              <a:rPr lang="ru-RU" sz="2800" b="1" dirty="0"/>
              <a:t>)</a:t>
            </a:r>
            <a:r>
              <a:rPr lang="ru-RU" sz="2800" dirty="0"/>
              <a:t> — это автоматизированная последовательность шагов, которая проверяет и подготавливает ваш код при каждом изменении (например, при </a:t>
            </a:r>
            <a:r>
              <a:rPr lang="ru-RU" sz="2800" dirty="0" err="1"/>
              <a:t>коммите</a:t>
            </a:r>
            <a:r>
              <a:rPr lang="ru-RU" sz="2800" dirty="0"/>
              <a:t> в </a:t>
            </a:r>
            <a:r>
              <a:rPr lang="ru-RU" sz="2800" dirty="0" err="1"/>
              <a:t>Git</a:t>
            </a:r>
            <a:r>
              <a:rPr lang="ru-RU" sz="2800" dirty="0"/>
              <a:t>). </a:t>
            </a:r>
          </a:p>
          <a:p>
            <a:r>
              <a:rPr lang="ru-RU" sz="2800" dirty="0"/>
              <a:t>Цель — быстро находить ошибки и гарантировать, что новая версия кода работает корректно.</a:t>
            </a:r>
          </a:p>
        </p:txBody>
      </p:sp>
    </p:spTree>
    <p:extLst>
      <p:ext uri="{BB962C8B-B14F-4D97-AF65-F5344CB8AC3E}">
        <p14:creationId xmlns:p14="http://schemas.microsoft.com/office/powerpoint/2010/main" val="41739244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49624" y="286603"/>
            <a:ext cx="10806056" cy="1450757"/>
          </a:xfrm>
        </p:spPr>
        <p:txBody>
          <a:bodyPr/>
          <a:lstStyle/>
          <a:p>
            <a:r>
              <a:rPr lang="ru-RU" dirty="0"/>
              <a:t>Из чего состоит CI-</a:t>
            </a:r>
            <a:r>
              <a:rPr lang="ru-RU" dirty="0" err="1"/>
              <a:t>пайплайн</a:t>
            </a:r>
            <a:r>
              <a:rPr lang="ru-RU" dirty="0"/>
              <a:t>?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49624" y="1737360"/>
            <a:ext cx="11842376" cy="402336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800" b="1" dirty="0"/>
              <a:t>Сборка (</a:t>
            </a:r>
            <a:r>
              <a:rPr lang="ru-RU" sz="2800" b="1" dirty="0" err="1"/>
              <a:t>Build</a:t>
            </a:r>
            <a:r>
              <a:rPr lang="ru-RU" sz="2800" b="1" dirty="0"/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500" dirty="0"/>
              <a:t>— Компиляция кода (если нужно) и подготовка рабочей версии приложения.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500" dirty="0"/>
              <a:t>— Пример: сборка </a:t>
            </a:r>
            <a:r>
              <a:rPr lang="ru-RU" sz="2500" dirty="0" err="1"/>
              <a:t>Docker</a:t>
            </a:r>
            <a:r>
              <a:rPr lang="ru-RU" sz="2500" dirty="0"/>
              <a:t>-образа или компиляция </a:t>
            </a:r>
            <a:r>
              <a:rPr lang="ru-RU" sz="2500" dirty="0" err="1"/>
              <a:t>Java</a:t>
            </a:r>
            <a:r>
              <a:rPr lang="ru-RU" sz="2500" dirty="0"/>
              <a:t>-кода.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800" b="1" dirty="0"/>
              <a:t>Тестирование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500" dirty="0"/>
              <a:t>— Запуск автоматических тестов: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dirty="0"/>
              <a:t>Юнит-тесты — проверка отдельных функций.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dirty="0"/>
              <a:t>Интеграционные тесты — проверка взаимодействия компонентов.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dirty="0"/>
              <a:t>Статический анализ — поиск уязвимостей или ошибок стиля (например, через </a:t>
            </a:r>
            <a:r>
              <a:rPr lang="ru-RU" sz="1800" dirty="0" err="1"/>
              <a:t>SonarQube</a:t>
            </a:r>
            <a:r>
              <a:rPr lang="ru-RU" sz="1800" dirty="0"/>
              <a:t>, </a:t>
            </a:r>
            <a:r>
              <a:rPr lang="ru-RU" sz="1800" dirty="0" err="1"/>
              <a:t>Bandit</a:t>
            </a:r>
            <a:r>
              <a:rPr lang="ru-RU" sz="1800" dirty="0"/>
              <a:t>).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800" b="1" dirty="0"/>
              <a:t>Создание артефактов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500" dirty="0"/>
              <a:t>— Сохранение готовых </a:t>
            </a:r>
            <a:r>
              <a:rPr lang="ru-RU" sz="2500" dirty="0" err="1"/>
              <a:t>билдов</a:t>
            </a:r>
            <a:r>
              <a:rPr lang="ru-RU" sz="2500" dirty="0"/>
              <a:t> </a:t>
            </a:r>
            <a:r>
              <a:rPr lang="ru-RU" dirty="0"/>
              <a:t>(например, .</a:t>
            </a:r>
            <a:r>
              <a:rPr lang="ru-RU" dirty="0" err="1"/>
              <a:t>jar</a:t>
            </a:r>
            <a:r>
              <a:rPr lang="ru-RU" dirty="0"/>
              <a:t>, .</a:t>
            </a:r>
            <a:r>
              <a:rPr lang="ru-RU" dirty="0" err="1"/>
              <a:t>exe</a:t>
            </a:r>
            <a:r>
              <a:rPr lang="ru-RU" dirty="0"/>
              <a:t>, </a:t>
            </a:r>
            <a:r>
              <a:rPr lang="ru-RU" dirty="0" err="1"/>
              <a:t>Docker</a:t>
            </a:r>
            <a:r>
              <a:rPr lang="ru-RU" dirty="0"/>
              <a:t>-образов) для дальнейшего использования.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800" b="1" dirty="0"/>
              <a:t>Уведомления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500" dirty="0"/>
              <a:t>— Отправка результатов (успех/провал) в </a:t>
            </a:r>
            <a:r>
              <a:rPr lang="ru-RU" sz="2500" dirty="0" err="1"/>
              <a:t>Slack</a:t>
            </a:r>
            <a:r>
              <a:rPr lang="ru-RU" sz="2500" dirty="0"/>
              <a:t>, почту или чат.</a:t>
            </a:r>
          </a:p>
        </p:txBody>
      </p:sp>
    </p:spTree>
    <p:extLst>
      <p:ext uri="{BB962C8B-B14F-4D97-AF65-F5344CB8AC3E}">
        <p14:creationId xmlns:p14="http://schemas.microsoft.com/office/powerpoint/2010/main" val="26012726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97280" y="0"/>
            <a:ext cx="10058400" cy="1450757"/>
          </a:xfrm>
        </p:spPr>
        <p:txBody>
          <a:bodyPr/>
          <a:lstStyle/>
          <a:p>
            <a:r>
              <a:rPr lang="ru-RU" b="1" dirty="0"/>
              <a:t>Пример </a:t>
            </a:r>
            <a:r>
              <a:rPr lang="en-US" b="1" dirty="0"/>
              <a:t>CI-</a:t>
            </a:r>
            <a:r>
              <a:rPr lang="ru-RU" b="1" dirty="0" err="1"/>
              <a:t>пайплайна</a:t>
            </a:r>
            <a:r>
              <a:rPr lang="ru-RU" b="1" dirty="0"/>
              <a:t> на </a:t>
            </a:r>
            <a:r>
              <a:rPr lang="en-US" b="1" dirty="0"/>
              <a:t>GitHub Actions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732" y="884256"/>
            <a:ext cx="5366772" cy="5801549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643" y="4862838"/>
            <a:ext cx="5487166" cy="1267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0494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CD-</a:t>
            </a:r>
            <a:r>
              <a:rPr lang="ru-RU" dirty="0" err="1"/>
              <a:t>пайплайн</a:t>
            </a:r>
            <a:r>
              <a:rPr lang="ru-RU" dirty="0"/>
              <a:t> (</a:t>
            </a:r>
            <a:r>
              <a:rPr lang="ru-RU" dirty="0" err="1"/>
              <a:t>Continuous</a:t>
            </a:r>
            <a:r>
              <a:rPr lang="ru-RU" dirty="0"/>
              <a:t> </a:t>
            </a:r>
            <a:r>
              <a:rPr lang="ru-RU" dirty="0" err="1"/>
              <a:t>Delivery</a:t>
            </a:r>
            <a:r>
              <a:rPr lang="ru-RU" dirty="0"/>
              <a:t>/</a:t>
            </a:r>
            <a:r>
              <a:rPr lang="ru-RU" dirty="0" err="1"/>
              <a:t>Deployment</a:t>
            </a:r>
            <a:r>
              <a:rPr lang="ru-RU" dirty="0"/>
              <a:t> </a:t>
            </a:r>
            <a:r>
              <a:rPr lang="ru-RU" dirty="0" err="1"/>
              <a:t>Pipeline</a:t>
            </a:r>
            <a:r>
              <a:rPr lang="ru-RU" dirty="0"/>
              <a:t>)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b="1" dirty="0"/>
              <a:t>CD-</a:t>
            </a:r>
            <a:r>
              <a:rPr lang="ru-RU" sz="2800" b="1" dirty="0" err="1"/>
              <a:t>пайплайн</a:t>
            </a:r>
            <a:r>
              <a:rPr lang="ru-RU" sz="2800" b="1" dirty="0"/>
              <a:t> (</a:t>
            </a:r>
            <a:r>
              <a:rPr lang="ru-RU" sz="2800" b="1" dirty="0" err="1"/>
              <a:t>Continuous</a:t>
            </a:r>
            <a:r>
              <a:rPr lang="ru-RU" sz="2800" b="1" dirty="0"/>
              <a:t> </a:t>
            </a:r>
            <a:r>
              <a:rPr lang="ru-RU" sz="2800" b="1" dirty="0" err="1"/>
              <a:t>Delivery</a:t>
            </a:r>
            <a:r>
              <a:rPr lang="ru-RU" sz="2800" b="1" dirty="0"/>
              <a:t>/</a:t>
            </a:r>
            <a:r>
              <a:rPr lang="ru-RU" sz="2800" b="1" dirty="0" err="1"/>
              <a:t>Deployment</a:t>
            </a:r>
            <a:r>
              <a:rPr lang="ru-RU" sz="2800" b="1" dirty="0"/>
              <a:t> </a:t>
            </a:r>
            <a:r>
              <a:rPr lang="ru-RU" sz="2800" b="1" dirty="0" err="1"/>
              <a:t>Pipeline</a:t>
            </a:r>
            <a:r>
              <a:rPr lang="ru-RU" sz="2800" b="1" dirty="0"/>
              <a:t>) </a:t>
            </a:r>
            <a:r>
              <a:rPr lang="ru-RU" sz="2800" dirty="0"/>
              <a:t>— это автоматизированный процесс, который доставляет ваш код в нужные среды (тестовые, промежуточные, </a:t>
            </a:r>
            <a:r>
              <a:rPr lang="ru-RU" sz="2800" dirty="0" err="1"/>
              <a:t>прод</a:t>
            </a:r>
            <a:r>
              <a:rPr lang="ru-RU" sz="2800" dirty="0"/>
              <a:t>) и разворачивает его. </a:t>
            </a:r>
            <a:endParaRPr lang="en-US" sz="2800" dirty="0"/>
          </a:p>
          <a:p>
            <a:r>
              <a:rPr lang="ru-RU" sz="2800" dirty="0"/>
              <a:t>Если CI-</a:t>
            </a:r>
            <a:r>
              <a:rPr lang="ru-RU" sz="2800" dirty="0" err="1"/>
              <a:t>пайплайн</a:t>
            </a:r>
            <a:r>
              <a:rPr lang="ru-RU" sz="2800" dirty="0"/>
              <a:t> проверяет код, то CD-</a:t>
            </a:r>
            <a:r>
              <a:rPr lang="ru-RU" sz="2800" dirty="0" err="1"/>
              <a:t>пайплайн</a:t>
            </a:r>
            <a:r>
              <a:rPr lang="ru-RU" sz="2800" dirty="0"/>
              <a:t> готовит его к релизу и автоматически выпускает (если всё настроено).</a:t>
            </a:r>
          </a:p>
        </p:txBody>
      </p:sp>
    </p:spTree>
    <p:extLst>
      <p:ext uri="{BB962C8B-B14F-4D97-AF65-F5344CB8AC3E}">
        <p14:creationId xmlns:p14="http://schemas.microsoft.com/office/powerpoint/2010/main" val="11800558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Два варианта CD: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b="1" dirty="0" err="1"/>
              <a:t>Continuous</a:t>
            </a:r>
            <a:r>
              <a:rPr lang="ru-RU" sz="2800" b="1" dirty="0"/>
              <a:t> </a:t>
            </a:r>
            <a:r>
              <a:rPr lang="ru-RU" sz="2800" b="1" dirty="0" err="1"/>
              <a:t>Delivery</a:t>
            </a:r>
            <a:r>
              <a:rPr lang="ru-RU" sz="2800" b="1" dirty="0"/>
              <a:t> (Непрерывная доставка)</a:t>
            </a:r>
            <a:br>
              <a:rPr lang="ru-RU" sz="2800" dirty="0"/>
            </a:br>
            <a:r>
              <a:rPr lang="ru-RU" sz="2500" dirty="0"/>
              <a:t>— Код после проверок автоматически </a:t>
            </a:r>
            <a:r>
              <a:rPr lang="ru-RU" sz="2500" b="1" dirty="0"/>
              <a:t>подготавливается к релизу</a:t>
            </a:r>
            <a:r>
              <a:rPr lang="ru-RU" sz="2500" dirty="0"/>
              <a:t> (например, собирается в артефакт), но развертывание в </a:t>
            </a:r>
            <a:r>
              <a:rPr lang="ru-RU" sz="2500" dirty="0" err="1"/>
              <a:t>прод</a:t>
            </a:r>
            <a:r>
              <a:rPr lang="ru-RU" sz="2500" dirty="0"/>
              <a:t> </a:t>
            </a:r>
            <a:r>
              <a:rPr lang="ru-RU" sz="2500" b="1" dirty="0"/>
              <a:t>требует ручного подтверждения</a:t>
            </a:r>
            <a:r>
              <a:rPr lang="ru-RU" sz="2500" dirty="0"/>
              <a:t> (например, нажатие кнопки «Выпустить»).</a:t>
            </a:r>
            <a:endParaRPr lang="en-US" sz="2500" dirty="0"/>
          </a:p>
          <a:p>
            <a:endParaRPr lang="ru-RU" sz="2500" dirty="0"/>
          </a:p>
          <a:p>
            <a:r>
              <a:rPr lang="ru-RU" sz="2800" b="1" dirty="0" err="1"/>
              <a:t>Continuous</a:t>
            </a:r>
            <a:r>
              <a:rPr lang="ru-RU" sz="2800" b="1" dirty="0"/>
              <a:t> </a:t>
            </a:r>
            <a:r>
              <a:rPr lang="ru-RU" sz="2800" b="1" dirty="0" err="1"/>
              <a:t>Deployment</a:t>
            </a:r>
            <a:r>
              <a:rPr lang="ru-RU" sz="2800" b="1" dirty="0"/>
              <a:t> (Непрерывное развертывание)</a:t>
            </a:r>
            <a:br>
              <a:rPr lang="ru-RU" sz="2800" dirty="0"/>
            </a:br>
            <a:r>
              <a:rPr lang="ru-RU" sz="2500" dirty="0"/>
              <a:t>— Код </a:t>
            </a:r>
            <a:r>
              <a:rPr lang="ru-RU" sz="2500" b="1" dirty="0"/>
              <a:t>автоматически попадает в </a:t>
            </a:r>
            <a:r>
              <a:rPr lang="ru-RU" sz="2500" b="1" dirty="0" err="1"/>
              <a:t>прод</a:t>
            </a:r>
            <a:r>
              <a:rPr lang="ru-RU" sz="2500" dirty="0"/>
              <a:t> после успешных проверок (без ручного вмешательства).</a:t>
            </a:r>
          </a:p>
          <a:p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363224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Из чего состоит CD-</a:t>
            </a:r>
            <a:r>
              <a:rPr lang="ru-RU" dirty="0" err="1"/>
              <a:t>пайплайн</a:t>
            </a:r>
            <a:r>
              <a:rPr lang="ru-RU" dirty="0"/>
              <a:t>?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2522" y="1328899"/>
            <a:ext cx="11767930" cy="402336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ru-RU" sz="2800" b="1" dirty="0" err="1"/>
              <a:t>Деплой</a:t>
            </a:r>
            <a:r>
              <a:rPr lang="ru-RU" sz="2800" b="1" dirty="0"/>
              <a:t> в тестовую среду</a:t>
            </a:r>
          </a:p>
          <a:p>
            <a:pPr>
              <a:spcBef>
                <a:spcPts val="0"/>
              </a:spcBef>
            </a:pPr>
            <a:r>
              <a:rPr lang="ru-RU" dirty="0"/>
              <a:t>— Развертывание кода на сервер для тестирования (например, с помощью </a:t>
            </a:r>
            <a:r>
              <a:rPr lang="ru-RU" dirty="0" err="1"/>
              <a:t>Docker</a:t>
            </a:r>
            <a:r>
              <a:rPr lang="ru-RU" dirty="0"/>
              <a:t> или </a:t>
            </a:r>
            <a:r>
              <a:rPr lang="ru-RU" dirty="0" err="1"/>
              <a:t>Kubernetes</a:t>
            </a:r>
            <a:r>
              <a:rPr lang="ru-RU" dirty="0"/>
              <a:t>).</a:t>
            </a:r>
          </a:p>
          <a:p>
            <a:pPr>
              <a:spcBef>
                <a:spcPts val="0"/>
              </a:spcBef>
            </a:pPr>
            <a:r>
              <a:rPr lang="ru-RU" sz="2800" b="1" dirty="0"/>
              <a:t>Дополнительные проверки</a:t>
            </a:r>
          </a:p>
          <a:p>
            <a:pPr>
              <a:spcBef>
                <a:spcPts val="0"/>
              </a:spcBef>
            </a:pPr>
            <a:r>
              <a:rPr lang="ru-RU" dirty="0"/>
              <a:t>— Интеграционные тесты, нагрузочное тестирование, проверки безопасности.</a:t>
            </a:r>
          </a:p>
          <a:p>
            <a:pPr>
              <a:spcBef>
                <a:spcPts val="0"/>
              </a:spcBef>
            </a:pPr>
            <a:r>
              <a:rPr lang="ru-RU" sz="2800" b="1" dirty="0"/>
              <a:t>Ручное/автоматическое подтверждение</a:t>
            </a:r>
          </a:p>
          <a:p>
            <a:pPr>
              <a:spcBef>
                <a:spcPts val="0"/>
              </a:spcBef>
            </a:pPr>
            <a:r>
              <a:rPr lang="ru-RU" dirty="0"/>
              <a:t>— Для </a:t>
            </a:r>
            <a:r>
              <a:rPr lang="ru-RU" dirty="0" err="1"/>
              <a:t>Continuous</a:t>
            </a:r>
            <a:r>
              <a:rPr lang="ru-RU" dirty="0"/>
              <a:t> </a:t>
            </a:r>
            <a:r>
              <a:rPr lang="ru-RU" dirty="0" err="1"/>
              <a:t>Delivery</a:t>
            </a:r>
            <a:r>
              <a:rPr lang="ru-RU" dirty="0"/>
              <a:t>: ожидание подтверждения от команды.</a:t>
            </a:r>
          </a:p>
          <a:p>
            <a:pPr>
              <a:spcBef>
                <a:spcPts val="0"/>
              </a:spcBef>
            </a:pPr>
            <a:r>
              <a:rPr lang="ru-RU" dirty="0"/>
              <a:t>— Для </a:t>
            </a:r>
            <a:r>
              <a:rPr lang="ru-RU" dirty="0" err="1"/>
              <a:t>Continuous</a:t>
            </a:r>
            <a:r>
              <a:rPr lang="ru-RU" dirty="0"/>
              <a:t> </a:t>
            </a:r>
            <a:r>
              <a:rPr lang="ru-RU" dirty="0" err="1"/>
              <a:t>Deployment</a:t>
            </a:r>
            <a:r>
              <a:rPr lang="ru-RU" dirty="0"/>
              <a:t>: автоматический переход к следующему шагу</a:t>
            </a:r>
            <a:r>
              <a:rPr lang="ru-RU" sz="2800" dirty="0"/>
              <a:t>.</a:t>
            </a:r>
          </a:p>
          <a:p>
            <a:pPr>
              <a:spcBef>
                <a:spcPts val="0"/>
              </a:spcBef>
            </a:pPr>
            <a:r>
              <a:rPr lang="ru-RU" sz="2800" b="1" dirty="0" err="1"/>
              <a:t>Деплой</a:t>
            </a:r>
            <a:r>
              <a:rPr lang="ru-RU" sz="2800" b="1" dirty="0"/>
              <a:t> в </a:t>
            </a:r>
            <a:r>
              <a:rPr lang="ru-RU" sz="2800" b="1" dirty="0" err="1"/>
              <a:t>прод</a:t>
            </a:r>
            <a:endParaRPr lang="ru-RU" sz="2800" b="1" dirty="0"/>
          </a:p>
          <a:p>
            <a:pPr>
              <a:spcBef>
                <a:spcPts val="0"/>
              </a:spcBef>
            </a:pPr>
            <a:r>
              <a:rPr lang="ru-RU" dirty="0"/>
              <a:t>— Обновление </a:t>
            </a:r>
            <a:r>
              <a:rPr lang="ru-RU" dirty="0" err="1"/>
              <a:t>продакшен</a:t>
            </a:r>
            <a:r>
              <a:rPr lang="ru-RU" dirty="0"/>
              <a:t>-серверов новой версией кода.</a:t>
            </a:r>
          </a:p>
          <a:p>
            <a:pPr>
              <a:spcBef>
                <a:spcPts val="0"/>
              </a:spcBef>
            </a:pPr>
            <a:r>
              <a:rPr lang="ru-RU" sz="2800" b="1" dirty="0"/>
              <a:t>Откат (</a:t>
            </a:r>
            <a:r>
              <a:rPr lang="ru-RU" sz="2800" b="1" dirty="0" err="1"/>
              <a:t>Rollback</a:t>
            </a:r>
            <a:r>
              <a:rPr lang="ru-RU" sz="2800" b="1" dirty="0"/>
              <a:t>)</a:t>
            </a:r>
          </a:p>
          <a:p>
            <a:pPr>
              <a:spcBef>
                <a:spcPts val="0"/>
              </a:spcBef>
            </a:pPr>
            <a:r>
              <a:rPr lang="ru-RU" dirty="0"/>
              <a:t>— Если что-то пошло не так, автоматически возвращается предыдущая стабильная версия.</a:t>
            </a:r>
          </a:p>
        </p:txBody>
      </p:sp>
    </p:spTree>
    <p:extLst>
      <p:ext uri="{BB962C8B-B14F-4D97-AF65-F5344CB8AC3E}">
        <p14:creationId xmlns:p14="http://schemas.microsoft.com/office/powerpoint/2010/main" val="2124865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132522" y="258417"/>
            <a:ext cx="11288202" cy="933922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Пример </a:t>
            </a:r>
            <a:r>
              <a:rPr lang="en-US" b="1" dirty="0"/>
              <a:t>CD-</a:t>
            </a:r>
            <a:r>
              <a:rPr lang="ru-RU" b="1" dirty="0" err="1"/>
              <a:t>пайплайна</a:t>
            </a:r>
            <a:r>
              <a:rPr lang="ru-RU" b="1" dirty="0"/>
              <a:t> </a:t>
            </a:r>
            <a:r>
              <a:rPr lang="en-US" b="1" dirty="0"/>
              <a:t>(GitHub Actions + AWS):</a:t>
            </a:r>
            <a:br>
              <a:rPr lang="ru-RU" b="1" dirty="0"/>
            </a:br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06" y="675861"/>
            <a:ext cx="5290772" cy="6181621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1111" y="944581"/>
            <a:ext cx="8590889" cy="1573332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5410373" y="2613163"/>
            <a:ext cx="6680421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Важно:</a:t>
            </a:r>
          </a:p>
          <a:p>
            <a:r>
              <a:rPr lang="ru-RU" dirty="0"/>
              <a:t>Секреты (AWS_ACCESS_KEY и AWS_SECRET_KEY) нужно заранее добавить в настройках </a:t>
            </a:r>
            <a:r>
              <a:rPr lang="ru-RU" dirty="0" err="1"/>
              <a:t>репозитория</a:t>
            </a:r>
            <a:r>
              <a:rPr lang="ru-RU" dirty="0"/>
              <a:t> (</a:t>
            </a:r>
            <a:r>
              <a:rPr lang="ru-RU" dirty="0" err="1"/>
              <a:t>Settings</a:t>
            </a:r>
            <a:r>
              <a:rPr lang="ru-RU" dirty="0"/>
              <a:t> → </a:t>
            </a:r>
            <a:r>
              <a:rPr lang="ru-RU" dirty="0" err="1"/>
              <a:t>Secrets</a:t>
            </a:r>
            <a:r>
              <a:rPr lang="ru-RU" dirty="0"/>
              <a:t>).</a:t>
            </a:r>
          </a:p>
          <a:p>
            <a:endParaRPr lang="ru-RU" dirty="0"/>
          </a:p>
          <a:p>
            <a:r>
              <a:rPr lang="ru-RU" dirty="0" err="1"/>
              <a:t>Бакет</a:t>
            </a:r>
            <a:r>
              <a:rPr lang="ru-RU" dirty="0"/>
              <a:t> S3 (</a:t>
            </a:r>
            <a:r>
              <a:rPr lang="ru-RU" dirty="0" err="1"/>
              <a:t>my-bucket</a:t>
            </a:r>
            <a:r>
              <a:rPr lang="ru-RU" dirty="0"/>
              <a:t>) должен быть создан в AWS, а у ключей доступа — права на запись в него.</a:t>
            </a:r>
          </a:p>
          <a:p>
            <a:endParaRPr lang="ru-RU" dirty="0"/>
          </a:p>
          <a:p>
            <a:r>
              <a:rPr lang="ru-RU" dirty="0"/>
              <a:t>Папка </a:t>
            </a:r>
            <a:r>
              <a:rPr lang="ru-RU" dirty="0" err="1"/>
              <a:t>dist</a:t>
            </a:r>
            <a:r>
              <a:rPr lang="ru-RU" dirty="0"/>
              <a:t>/ должна существовать после сборки (если у вас другой путь, исправьте команду).</a:t>
            </a:r>
          </a:p>
          <a:p>
            <a:endParaRPr lang="ru-RU" dirty="0"/>
          </a:p>
          <a:p>
            <a:r>
              <a:rPr lang="ru-RU" dirty="0"/>
              <a:t>Если всё настроено правильно, ваш статический сайт (например, на </a:t>
            </a:r>
            <a:r>
              <a:rPr lang="ru-RU" dirty="0" err="1"/>
              <a:t>React</a:t>
            </a:r>
            <a:r>
              <a:rPr lang="ru-RU" dirty="0"/>
              <a:t> или </a:t>
            </a:r>
            <a:r>
              <a:rPr lang="ru-RU" dirty="0" err="1"/>
              <a:t>Vue</a:t>
            </a:r>
            <a:r>
              <a:rPr lang="ru-RU" dirty="0"/>
              <a:t>) будет автоматически обновляться при каждом </a:t>
            </a:r>
            <a:r>
              <a:rPr lang="ru-RU" dirty="0" err="1"/>
              <a:t>пуше</a:t>
            </a:r>
            <a:r>
              <a:rPr lang="ru-RU" dirty="0"/>
              <a:t> в </a:t>
            </a:r>
            <a:r>
              <a:rPr lang="ru-RU" dirty="0" err="1"/>
              <a:t>main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448841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174" y="1179443"/>
            <a:ext cx="11232591" cy="4558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8527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448" y="1603512"/>
            <a:ext cx="10524244" cy="3710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2411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86603"/>
            <a:ext cx="11753850" cy="780197"/>
          </a:xfrm>
        </p:spPr>
        <p:txBody>
          <a:bodyPr>
            <a:normAutofit/>
          </a:bodyPr>
          <a:lstStyle/>
          <a:p>
            <a:r>
              <a:rPr lang="ru-RU" dirty="0"/>
              <a:t>Основы </a:t>
            </a:r>
            <a:r>
              <a:rPr lang="en-US" dirty="0"/>
              <a:t>CI/CD</a:t>
            </a:r>
            <a:r>
              <a:rPr lang="ru-RU" dirty="0"/>
              <a:t> – преимущества и недостатки</a:t>
            </a:r>
          </a:p>
        </p:txBody>
      </p:sp>
      <p:graphicFrame>
        <p:nvGraphicFramePr>
          <p:cNvPr id="6" name="Объект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3613665"/>
              </p:ext>
            </p:extLst>
          </p:nvPr>
        </p:nvGraphicFramePr>
        <p:xfrm>
          <a:off x="1096963" y="1846262"/>
          <a:ext cx="10058400" cy="40592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6745">
                <a:tc>
                  <a:txBody>
                    <a:bodyPr/>
                    <a:lstStyle/>
                    <a:p>
                      <a:pPr algn="ctr"/>
                      <a:r>
                        <a:rPr lang="ru-RU" sz="2800" b="0" dirty="0"/>
                        <a:t>Преимущества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b="0" dirty="0"/>
                        <a:t>Недостатки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493">
                <a:tc>
                  <a:txBody>
                    <a:bodyPr/>
                    <a:lstStyle/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ru-RU" sz="2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Сокращение сроков разработки</a:t>
                      </a:r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ru-RU" sz="2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Отбор перспективных вариантов</a:t>
                      </a:r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ru-RU" sz="2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Качество тестирования</a:t>
                      </a:r>
                      <a:endParaRPr lang="ru-RU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2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Высокие требования к опыту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2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Сложность постоянного взаимодействия</a:t>
                      </a:r>
                      <a:endParaRPr lang="ru-RU" sz="28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58353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1753850" cy="780197"/>
          </a:xfrm>
        </p:spPr>
        <p:txBody>
          <a:bodyPr>
            <a:normAutofit/>
          </a:bodyPr>
          <a:lstStyle/>
          <a:p>
            <a:r>
              <a:rPr lang="ru-RU" dirty="0"/>
              <a:t>Основы </a:t>
            </a:r>
            <a:r>
              <a:rPr lang="en-US" dirty="0"/>
              <a:t>CI/CD</a:t>
            </a:r>
            <a:r>
              <a:rPr lang="ru-RU" dirty="0"/>
              <a:t> – инструменты</a:t>
            </a:r>
            <a:r>
              <a:rPr lang="ru-RU" b="1" dirty="0"/>
              <a:t> 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4780" y="1371600"/>
            <a:ext cx="3112770" cy="506730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dirty="0" err="1"/>
              <a:t>GitLab</a:t>
            </a:r>
            <a:endParaRPr lang="ru-RU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Docker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Travis-CI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Jenkins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PHP Censor</a:t>
            </a:r>
            <a:endParaRPr lang="ru-RU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Buddy</a:t>
            </a:r>
            <a:endParaRPr lang="ru-RU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Bamboo CI</a:t>
            </a:r>
            <a:endParaRPr lang="ru-RU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Circle CI</a:t>
            </a:r>
            <a:endParaRPr lang="ru-RU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 err="1"/>
              <a:t>CodeShip</a:t>
            </a:r>
            <a:endParaRPr lang="ru-RU" sz="2800" dirty="0"/>
          </a:p>
        </p:txBody>
      </p:sp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7421" y="3409947"/>
            <a:ext cx="57158" cy="38105"/>
          </a:xfrm>
          <a:prstGeom prst="rect">
            <a:avLst/>
          </a:prstGeom>
        </p:spPr>
      </p:pic>
      <p:pic>
        <p:nvPicPr>
          <p:cNvPr id="6" name="Рисунок 5" descr="Вырезка экрана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1" y="1049754"/>
            <a:ext cx="9829800" cy="5389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8860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4250" y="458053"/>
            <a:ext cx="4495800" cy="780197"/>
          </a:xfrm>
        </p:spPr>
        <p:txBody>
          <a:bodyPr>
            <a:normAutofit/>
          </a:bodyPr>
          <a:lstStyle/>
          <a:p>
            <a:r>
              <a:rPr lang="en-US" dirty="0"/>
              <a:t>CI/CD</a:t>
            </a:r>
            <a:r>
              <a:rPr lang="ru-RU" dirty="0"/>
              <a:t> </a:t>
            </a:r>
            <a:r>
              <a:rPr lang="en-US" dirty="0"/>
              <a:t> vs DevOps</a:t>
            </a:r>
            <a:r>
              <a:rPr lang="ru-RU" b="1" dirty="0"/>
              <a:t> 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76256" y="2262592"/>
            <a:ext cx="10709238" cy="32910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800" b="1" dirty="0" err="1"/>
              <a:t>DevOps</a:t>
            </a:r>
            <a:r>
              <a:rPr lang="ru-RU" sz="2800" dirty="0"/>
              <a:t> — это набор идей, методов, процессов и технологий, которые позволяют группам разработки и эксплуатации работать вместе для оптимизации разработки продукта.</a:t>
            </a:r>
            <a:endParaRPr lang="en-US" sz="2800" dirty="0"/>
          </a:p>
          <a:p>
            <a:pPr marL="0" indent="0">
              <a:buNone/>
            </a:pPr>
            <a:r>
              <a:rPr lang="ru-RU" sz="2800" b="1" dirty="0"/>
              <a:t>CI/CD</a:t>
            </a:r>
            <a:r>
              <a:rPr lang="ru-RU" sz="2800" dirty="0"/>
              <a:t> — это не просто инструмент, а практика, реализующая философию </a:t>
            </a:r>
            <a:r>
              <a:rPr lang="ru-RU" sz="2800" dirty="0" err="1"/>
              <a:t>DevOps</a:t>
            </a:r>
            <a:r>
              <a:rPr lang="ru-RU" sz="2800" dirty="0"/>
              <a:t> через автоматизацию и непрерывное улучшение процессов.</a:t>
            </a:r>
          </a:p>
        </p:txBody>
      </p:sp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7421" y="3409947"/>
            <a:ext cx="57158" cy="38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1794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0647" y="458053"/>
            <a:ext cx="11335871" cy="780197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Другие </a:t>
            </a:r>
            <a:r>
              <a:rPr lang="ru-RU" dirty="0" err="1"/>
              <a:t>DevOps</a:t>
            </a:r>
            <a:r>
              <a:rPr lang="ru-RU" dirty="0"/>
              <a:t>-практики, связанные с CI/CD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30174" y="2114675"/>
            <a:ext cx="10816815" cy="402336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3000" b="1" dirty="0"/>
              <a:t>Инфраструктура как код (</a:t>
            </a:r>
            <a:r>
              <a:rPr lang="ru-RU" sz="3000" b="1" dirty="0" err="1"/>
              <a:t>IaC</a:t>
            </a:r>
            <a:r>
              <a:rPr lang="ru-RU" sz="3000" b="1" dirty="0"/>
              <a:t>) </a:t>
            </a:r>
            <a:r>
              <a:rPr lang="ru-RU" sz="3000" dirty="0"/>
              <a:t>— автоматизация настройки серверов через код (например, с помощью </a:t>
            </a:r>
            <a:r>
              <a:rPr lang="ru-RU" sz="3000" dirty="0" err="1"/>
              <a:t>Terraform</a:t>
            </a:r>
            <a:r>
              <a:rPr lang="ru-RU" sz="3000" dirty="0"/>
              <a:t>).</a:t>
            </a:r>
          </a:p>
          <a:p>
            <a:pPr marL="0" indent="0">
              <a:buNone/>
            </a:pPr>
            <a:endParaRPr lang="ru-RU" sz="3000" dirty="0"/>
          </a:p>
          <a:p>
            <a:pPr marL="0" indent="0">
              <a:buNone/>
            </a:pPr>
            <a:r>
              <a:rPr lang="ru-RU" sz="3000" b="1" dirty="0"/>
              <a:t>Мониторинг и </a:t>
            </a:r>
            <a:r>
              <a:rPr lang="ru-RU" sz="3000" b="1" dirty="0" err="1"/>
              <a:t>логирование</a:t>
            </a:r>
            <a:r>
              <a:rPr lang="ru-RU" sz="3000" b="1" dirty="0"/>
              <a:t> </a:t>
            </a:r>
            <a:r>
              <a:rPr lang="ru-RU" sz="3000" dirty="0"/>
              <a:t>— сбор данных о работе приложения после </a:t>
            </a:r>
            <a:r>
              <a:rPr lang="ru-RU" sz="3000" dirty="0" err="1"/>
              <a:t>деплоя</a:t>
            </a:r>
            <a:r>
              <a:rPr lang="ru-RU" sz="3000" dirty="0"/>
              <a:t> (например, через </a:t>
            </a:r>
            <a:r>
              <a:rPr lang="ru-RU" sz="3000" dirty="0" err="1"/>
              <a:t>Prometheus</a:t>
            </a:r>
            <a:r>
              <a:rPr lang="ru-RU" sz="3000" dirty="0"/>
              <a:t> или ELK-стек).</a:t>
            </a:r>
          </a:p>
          <a:p>
            <a:pPr marL="0" indent="0">
              <a:buNone/>
            </a:pPr>
            <a:endParaRPr lang="ru-RU" sz="3000" dirty="0"/>
          </a:p>
          <a:p>
            <a:pPr marL="0" indent="0">
              <a:buNone/>
            </a:pPr>
            <a:r>
              <a:rPr lang="ru-RU" sz="3000" b="1" dirty="0"/>
              <a:t>Управление конфигурациями </a:t>
            </a:r>
            <a:r>
              <a:rPr lang="ru-RU" sz="3000" dirty="0"/>
              <a:t>— инструменты вроде </a:t>
            </a:r>
            <a:r>
              <a:rPr lang="ru-RU" sz="3000" dirty="0" err="1"/>
              <a:t>Ansible</a:t>
            </a:r>
            <a:r>
              <a:rPr lang="ru-RU" sz="3000" dirty="0"/>
              <a:t>, </a:t>
            </a:r>
            <a:r>
              <a:rPr lang="ru-RU" sz="3000" dirty="0" err="1"/>
              <a:t>Chef</a:t>
            </a:r>
            <a:r>
              <a:rPr lang="ru-RU" sz="3000" dirty="0"/>
              <a:t>, </a:t>
            </a:r>
            <a:r>
              <a:rPr lang="ru-RU" sz="3000" dirty="0" err="1"/>
              <a:t>Puppet</a:t>
            </a:r>
            <a:r>
              <a:rPr lang="ru-RU" sz="3000" dirty="0"/>
              <a:t>.</a:t>
            </a:r>
          </a:p>
        </p:txBody>
      </p:sp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7421" y="3409947"/>
            <a:ext cx="57158" cy="38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8206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Полезные ссылки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90500" y="1845734"/>
            <a:ext cx="11194676" cy="4326466"/>
          </a:xfrm>
        </p:spPr>
        <p:txBody>
          <a:bodyPr>
            <a:noAutofit/>
          </a:bodyPr>
          <a:lstStyle/>
          <a:p>
            <a:pPr marL="514350" indent="-514350">
              <a:buAutoNum type="arabicPeriod"/>
            </a:pPr>
            <a:r>
              <a:rPr lang="ru-RU" sz="2800" dirty="0"/>
              <a:t> </a:t>
            </a:r>
            <a:r>
              <a:rPr lang="en-US" sz="2800" dirty="0">
                <a:hlinkClick r:id="rId3"/>
              </a:rPr>
              <a:t>https://katalon.com/resources-center/blog/ci-cd-tools</a:t>
            </a:r>
            <a:endParaRPr lang="ru-RU" sz="2800" dirty="0"/>
          </a:p>
          <a:p>
            <a:pPr marL="514350" indent="-514350">
              <a:buFont typeface="Calibri" panose="020F0502020204030204" pitchFamily="34" charset="0"/>
              <a:buAutoNum type="arabicPeriod"/>
            </a:pPr>
            <a:r>
              <a:rPr lang="en-US" sz="2800" dirty="0">
                <a:hlinkClick r:id="rId4"/>
              </a:rPr>
              <a:t>https://katalon.com/resources-center/blog/ci-cd-introduction</a:t>
            </a:r>
            <a:r>
              <a:rPr lang="ru-RU" sz="2800" dirty="0"/>
              <a:t> </a:t>
            </a:r>
          </a:p>
          <a:p>
            <a:pPr marL="514350" indent="-514350">
              <a:buAutoNum type="arabicPeriod"/>
            </a:pPr>
            <a:r>
              <a:rPr lang="en-US" sz="2800" dirty="0">
                <a:hlinkClick r:id="rId5"/>
              </a:rPr>
              <a:t>https://www.spiceworks.com/tech/devops/articles/cicd-vs-devops/</a:t>
            </a:r>
            <a:r>
              <a:rPr lang="ru-RU" sz="2800" dirty="0"/>
              <a:t> </a:t>
            </a:r>
          </a:p>
          <a:p>
            <a:pPr marL="514350" indent="-514350">
              <a:buAutoNum type="arabicPeriod"/>
            </a:pPr>
            <a:r>
              <a:rPr lang="en-US" sz="2800" dirty="0">
                <a:hlinkClick r:id="rId6"/>
              </a:rPr>
              <a:t>https://cloud.yandex.ru/blog/posts/2022/10/ci-cd</a:t>
            </a:r>
            <a:endParaRPr lang="en-US" sz="2800" dirty="0"/>
          </a:p>
          <a:p>
            <a:pPr marL="514350" indent="-514350">
              <a:buAutoNum type="arabicPeriod"/>
            </a:pPr>
            <a:r>
              <a:rPr lang="ru-RU" sz="2800" dirty="0"/>
              <a:t> </a:t>
            </a:r>
            <a:r>
              <a:rPr lang="en-US" sz="2800" dirty="0">
                <a:hlinkClick r:id="rId7"/>
              </a:rPr>
              <a:t>https://habr.com/ru/company/otus/blog/515078/</a:t>
            </a:r>
            <a:r>
              <a:rPr lang="en-US" sz="2800" dirty="0"/>
              <a:t> </a:t>
            </a:r>
          </a:p>
          <a:p>
            <a:pPr marL="514350" indent="-514350">
              <a:buAutoNum type="arabicPeriod"/>
            </a:pPr>
            <a:r>
              <a:rPr lang="en-US" sz="2800" dirty="0">
                <a:hlinkClick r:id="rId8"/>
              </a:rPr>
              <a:t>https://mcs.mail.ru/blog/chto-takoe-metodologiya-devops</a:t>
            </a:r>
            <a:endParaRPr lang="en-US" sz="2800" dirty="0"/>
          </a:p>
          <a:p>
            <a:pPr marL="514350" indent="-514350">
              <a:buAutoNum type="arabicPeriod"/>
            </a:pPr>
            <a:r>
              <a:rPr lang="en-US" sz="2800" dirty="0">
                <a:hlinkClick r:id="rId9"/>
              </a:rPr>
              <a:t>https://proglib.io/p/osnovy-metodologii-devops-2021-02-20</a:t>
            </a:r>
            <a:r>
              <a:rPr lang="en-US" sz="2800" dirty="0"/>
              <a:t>   </a:t>
            </a:r>
          </a:p>
          <a:p>
            <a:pPr marL="514350" indent="-514350">
              <a:buFont typeface="Calibri" panose="020F0502020204030204" pitchFamily="34" charset="0"/>
              <a:buAutoNum type="arabicPeriod"/>
            </a:pPr>
            <a:r>
              <a:rPr lang="en-US" sz="2800" dirty="0">
                <a:hlinkClick r:id="rId10"/>
              </a:rPr>
              <a:t>https://intuit.ru/studies/courses/3680/922/lecture/32689?page=1</a:t>
            </a:r>
            <a:r>
              <a:rPr lang="en-US" sz="2800" dirty="0"/>
              <a:t> </a:t>
            </a:r>
            <a:endParaRPr lang="ru-RU" sz="2800" dirty="0"/>
          </a:p>
          <a:p>
            <a:pPr marL="514350" indent="-514350">
              <a:buAutoNum type="arabicPeriod"/>
            </a:pPr>
            <a:endParaRPr lang="ru-RU" sz="2800" dirty="0"/>
          </a:p>
          <a:p>
            <a:pPr marL="514350" indent="-514350">
              <a:buAutoNum type="arabicPeriod"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514350" indent="-514350">
              <a:buAutoNum type="arabicPeriod"/>
            </a:pP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5259440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и системы контроля версий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2226733"/>
            <a:ext cx="10058400" cy="2624667"/>
          </a:xfrm>
        </p:spPr>
        <p:txBody>
          <a:bodyPr>
            <a:normAutofit/>
          </a:bodyPr>
          <a:lstStyle/>
          <a:p>
            <a:r>
              <a:rPr lang="ru-RU" sz="3200" dirty="0"/>
              <a:t> Система контроля версий (СКВ, англ. </a:t>
            </a:r>
            <a:r>
              <a:rPr lang="ru-RU" sz="3200" dirty="0" err="1"/>
              <a:t>Version</a:t>
            </a:r>
            <a:r>
              <a:rPr lang="ru-RU" sz="3200" dirty="0"/>
              <a:t> </a:t>
            </a:r>
            <a:r>
              <a:rPr lang="ru-RU" sz="3200" dirty="0" err="1"/>
              <a:t>Control</a:t>
            </a:r>
            <a:r>
              <a:rPr lang="ru-RU" sz="3200" dirty="0"/>
              <a:t> </a:t>
            </a:r>
            <a:r>
              <a:rPr lang="ru-RU" sz="3200" dirty="0" err="1"/>
              <a:t>System</a:t>
            </a:r>
            <a:r>
              <a:rPr lang="ru-RU" sz="3200" dirty="0"/>
              <a:t>) - программное обеспечение хранящее</a:t>
            </a:r>
            <a:r>
              <a:rPr lang="en-US" sz="3200" dirty="0"/>
              <a:t> </a:t>
            </a:r>
            <a:r>
              <a:rPr lang="ru-RU" sz="3200" dirty="0"/>
              <a:t>все версии возможного файла, и дающее возможность получить к ним доступ.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3211803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Системы контроля версий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2531534"/>
            <a:ext cx="10058400" cy="2827866"/>
          </a:xfrm>
        </p:spPr>
        <p:txBody>
          <a:bodyPr>
            <a:normAutofit/>
          </a:bodyPr>
          <a:lstStyle/>
          <a:p>
            <a:r>
              <a:rPr lang="ru-RU" sz="3200" dirty="0"/>
              <a:t>Существуют системы контроля версий: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3200" dirty="0"/>
              <a:t>Локальные (</a:t>
            </a:r>
            <a:r>
              <a:rPr lang="ru-RU" sz="3200" dirty="0">
                <a:hlinkClick r:id="rId3"/>
              </a:rPr>
              <a:t>RCS</a:t>
            </a:r>
            <a:r>
              <a:rPr lang="ru-RU" sz="3200" dirty="0"/>
              <a:t>);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3200" dirty="0"/>
              <a:t>Централизованные (</a:t>
            </a:r>
            <a:r>
              <a:rPr lang="en-US" sz="3200" dirty="0"/>
              <a:t>CVS, Subversion</a:t>
            </a:r>
            <a:r>
              <a:rPr lang="ru-RU" sz="3200" dirty="0"/>
              <a:t>, </a:t>
            </a:r>
            <a:r>
              <a:rPr lang="en-US" sz="3200" dirty="0"/>
              <a:t>Perforce</a:t>
            </a:r>
            <a:r>
              <a:rPr lang="ru-RU" sz="3200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3200" dirty="0"/>
              <a:t>Распределенные (</a:t>
            </a:r>
            <a:r>
              <a:rPr lang="en-US" sz="3200" dirty="0" err="1"/>
              <a:t>Git</a:t>
            </a:r>
            <a:r>
              <a:rPr lang="en-US" sz="3200" dirty="0"/>
              <a:t>, Mercurial, Bazaar</a:t>
            </a:r>
            <a:r>
              <a:rPr lang="ru-RU" sz="3200" dirty="0"/>
              <a:t>, </a:t>
            </a:r>
            <a:r>
              <a:rPr lang="en-US" sz="3200" dirty="0" err="1"/>
              <a:t>Darcs</a:t>
            </a:r>
            <a:r>
              <a:rPr lang="en-US" sz="3200" dirty="0"/>
              <a:t>)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24480291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435343"/>
            <a:ext cx="10058400" cy="822960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Локальная система контроля версий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737360"/>
            <a:ext cx="10058400" cy="95811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3200" dirty="0">
                <a:hlinkClick r:id="rId3"/>
              </a:rPr>
              <a:t>RCS</a:t>
            </a:r>
            <a:r>
              <a:rPr lang="ru-RU" sz="3200" dirty="0"/>
              <a:t> - хранит не целую новую версию, а только указания к изменению первоначального файла</a:t>
            </a:r>
          </a:p>
        </p:txBody>
      </p:sp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" y="2695475"/>
            <a:ext cx="6217920" cy="4014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5341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Локальная система контроля версий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6" name="Объект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5653043"/>
              </p:ext>
            </p:extLst>
          </p:nvPr>
        </p:nvGraphicFramePr>
        <p:xfrm>
          <a:off x="1097280" y="2163503"/>
          <a:ext cx="10058400" cy="368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Преимущества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Недостатки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Позволяет хранить историю изменения файлов локально, без интернета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Вы можете потерять все файлы, если с вашем компьютером что-то случится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Вы независимы от сторонних серверов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Вы не можете работать в команде, поскольку </a:t>
                      </a:r>
                      <a:r>
                        <a:rPr lang="ru-RU" sz="2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репозиторий</a:t>
                      </a:r>
                      <a:r>
                        <a:rPr lang="ru-RU" sz="2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доступен только вам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43751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596" y="286603"/>
            <a:ext cx="11681926" cy="963699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Централизованная система контроля версий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Объект 3" descr="Вырезка экрана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192" y="1761757"/>
            <a:ext cx="7539134" cy="4618128"/>
          </a:xfrm>
        </p:spPr>
      </p:pic>
      <p:sp>
        <p:nvSpPr>
          <p:cNvPr id="5" name="Прямоугольник 4"/>
          <p:cNvSpPr/>
          <p:nvPr/>
        </p:nvSpPr>
        <p:spPr>
          <a:xfrm>
            <a:off x="8490856" y="2620643"/>
            <a:ext cx="3433665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хранит все данные на сервере, а сотрудники получают к ним доступ</a:t>
            </a:r>
          </a:p>
        </p:txBody>
      </p:sp>
    </p:spTree>
    <p:extLst>
      <p:ext uri="{BB962C8B-B14F-4D97-AF65-F5344CB8AC3E}">
        <p14:creationId xmlns:p14="http://schemas.microsoft.com/office/powerpoint/2010/main" val="25633534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596" y="286603"/>
            <a:ext cx="11681926" cy="963699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Централизованная система контроля версий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6" name="Объект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793186"/>
              </p:ext>
            </p:extLst>
          </p:nvPr>
        </p:nvGraphicFramePr>
        <p:xfrm>
          <a:off x="261258" y="1883585"/>
          <a:ext cx="11663264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596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03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Преимущества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Недостатки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Можно работать в команде с другими разработчиками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/>
                        <a:t>Если с сервером что-то случится, а копий данных нет, то весь проект может быть потерян.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Проще контроль над разработчиками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Все данные хранятся только на одном сервере. Если он выключится, то работу всей компании парализует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dirty="0"/>
                        <a:t>Проще администрирование и контроль доступа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/>
                        <a:t>Для работы необходим хороший интернет на протяжении целого дня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38471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596" y="286603"/>
            <a:ext cx="11681926" cy="963699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Распределенная система контроля версий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8490856" y="2620643"/>
            <a:ext cx="3433665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Клиенты хранят </a:t>
            </a:r>
            <a:r>
              <a:rPr lang="ru-RU" sz="2800" b="1" dirty="0"/>
              <a:t>полную копию</a:t>
            </a:r>
            <a:r>
              <a:rPr lang="ru-RU" sz="2800" dirty="0"/>
              <a:t> всех версий проекта,</a:t>
            </a:r>
          </a:p>
          <a:p>
            <a:endParaRPr lang="ru-RU" sz="2800" dirty="0"/>
          </a:p>
          <a:p>
            <a:r>
              <a:rPr lang="ru-RU" sz="2800" dirty="0"/>
              <a:t>серверов может быть сколько угодно</a:t>
            </a:r>
          </a:p>
        </p:txBody>
      </p:sp>
      <p:pic>
        <p:nvPicPr>
          <p:cNvPr id="6" name="Объект 5" descr="Вырезка экрана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35522"/>
            <a:ext cx="7570875" cy="4427955"/>
          </a:xfrm>
        </p:spPr>
      </p:pic>
    </p:spTree>
    <p:extLst>
      <p:ext uri="{BB962C8B-B14F-4D97-AF65-F5344CB8AC3E}">
        <p14:creationId xmlns:p14="http://schemas.microsoft.com/office/powerpoint/2010/main" val="33957198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596" y="286603"/>
            <a:ext cx="11681926" cy="963699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Распределенная система контроля версий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6" name="Объект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2672111"/>
              </p:ext>
            </p:extLst>
          </p:nvPr>
        </p:nvGraphicFramePr>
        <p:xfrm>
          <a:off x="261258" y="1250302"/>
          <a:ext cx="11663264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496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35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Преимущества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Недостатки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Работа компании теперь не зависит от работы сервера. Если сервер отключится, то каждый сотрудник продолжит работу с локальной копией </a:t>
                      </a:r>
                      <a:r>
                        <a:rPr lang="ru-RU" sz="2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репозитория</a:t>
                      </a:r>
                      <a:r>
                        <a:rPr lang="ru-RU" sz="2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а после загрузит ее на сервер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/>
                        <a:t>нет встроенного контроля доступа и поддержки двоичных файлов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dirty="0">
                          <a:solidFill>
                            <a:schemeClr val="dk1"/>
                          </a:solidFill>
                        </a:rPr>
                        <a:t>Работа компании теперь не зависит от работы сервера. Если сервер отключится, то каждый сотрудник продолжит работу с локальной копией </a:t>
                      </a:r>
                      <a:r>
                        <a:rPr lang="ru-RU" sz="2800" dirty="0" err="1">
                          <a:solidFill>
                            <a:schemeClr val="dk1"/>
                          </a:solidFill>
                        </a:rPr>
                        <a:t>репозитория</a:t>
                      </a:r>
                      <a:r>
                        <a:rPr lang="ru-RU" sz="2800" dirty="0">
                          <a:solidFill>
                            <a:schemeClr val="dk1"/>
                          </a:solidFill>
                        </a:rPr>
                        <a:t>, а после загрузит ее на сервер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/>
                        <a:t>не предлагает механизмы контроля доступа в случае проблем с безопасностью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/>
                        <a:t>не отслеживает пустые папки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4893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-1" y="201133"/>
            <a:ext cx="11327363" cy="782637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tx1"/>
                </a:solidFill>
              </a:rPr>
              <a:t>Системы контроля версий</a:t>
            </a:r>
            <a:r>
              <a:rPr lang="en-US" dirty="0">
                <a:solidFill>
                  <a:schemeClr val="tx1"/>
                </a:solidFill>
              </a:rPr>
              <a:t> - </a:t>
            </a:r>
            <a:r>
              <a:rPr lang="ru-RU" dirty="0">
                <a:solidFill>
                  <a:schemeClr val="tx1"/>
                </a:solidFill>
              </a:rPr>
              <a:t>возможности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03853" y="1268964"/>
            <a:ext cx="10398968" cy="47399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200" dirty="0"/>
              <a:t>1. Сохранять все изменения в файлах в хронологическом порядке, при этом не путаясь в именах копий.</a:t>
            </a:r>
          </a:p>
          <a:p>
            <a:pPr marL="0" indent="0">
              <a:buNone/>
            </a:pPr>
            <a:r>
              <a:rPr lang="ru-RU" sz="3200" dirty="0"/>
              <a:t>2. Избегать неприятных ошибок в коде, вызванных непредвиденным поведением новых функций.</a:t>
            </a:r>
          </a:p>
          <a:p>
            <a:pPr marL="0" indent="0">
              <a:buNone/>
            </a:pPr>
            <a:r>
              <a:rPr lang="ru-RU" sz="3200" dirty="0"/>
              <a:t>3. Отслеживать, над какими файлами вы работаете.</a:t>
            </a:r>
          </a:p>
          <a:p>
            <a:pPr marL="0" indent="0">
              <a:buNone/>
            </a:pPr>
            <a:r>
              <a:rPr lang="ru-RU" sz="3200" dirty="0"/>
              <a:t>4. Работать параллельно над одним и тем же проектом вместе с командой.</a:t>
            </a:r>
          </a:p>
          <a:p>
            <a:pPr marL="0" indent="0">
              <a:buNone/>
            </a:pPr>
            <a:r>
              <a:rPr lang="ru-RU" sz="3200" dirty="0"/>
              <a:t>5. Делиться своим кодом. </a:t>
            </a:r>
          </a:p>
        </p:txBody>
      </p:sp>
    </p:spTree>
    <p:extLst>
      <p:ext uri="{BB962C8B-B14F-4D97-AF65-F5344CB8AC3E}">
        <p14:creationId xmlns:p14="http://schemas.microsoft.com/office/powerpoint/2010/main" val="4469409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и системы контроля версий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39913"/>
          </a:xfrm>
        </p:spPr>
        <p:txBody>
          <a:bodyPr>
            <a:normAutofit/>
          </a:bodyPr>
          <a:lstStyle/>
          <a:p>
            <a:r>
              <a:rPr lang="ru-RU" sz="3200" i="1" dirty="0" err="1"/>
              <a:t>Git</a:t>
            </a:r>
            <a:r>
              <a:rPr lang="ru-RU" sz="3200" dirty="0"/>
              <a:t> – распределенная система контроля версий, разработанная </a:t>
            </a:r>
            <a:r>
              <a:rPr lang="ru-RU" sz="3200" dirty="0" err="1"/>
              <a:t>Линусом</a:t>
            </a:r>
            <a:r>
              <a:rPr lang="ru-RU" sz="3200" dirty="0"/>
              <a:t> </a:t>
            </a:r>
            <a:r>
              <a:rPr lang="ru-RU" sz="3200" dirty="0" err="1"/>
              <a:t>Торвальдсем</a:t>
            </a:r>
            <a:r>
              <a:rPr lang="ru-RU" sz="3200" dirty="0"/>
              <a:t> для работы над ядром операционной системы </a:t>
            </a:r>
            <a:r>
              <a:rPr lang="ru-RU" sz="3200" i="1" dirty="0" err="1"/>
              <a:t>Linux</a:t>
            </a:r>
            <a:r>
              <a:rPr lang="ru-RU" sz="3200" dirty="0"/>
              <a:t>.</a:t>
            </a:r>
          </a:p>
          <a:p>
            <a:endParaRPr lang="ru-RU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3200" i="1" dirty="0" err="1">
                <a:solidFill>
                  <a:schemeClr val="tx1"/>
                </a:solidFill>
              </a:rPr>
              <a:t>Linux</a:t>
            </a:r>
            <a:r>
              <a:rPr lang="ru-RU" sz="3200" dirty="0">
                <a:solidFill>
                  <a:schemeClr val="tx1"/>
                </a:solidFill>
              </a:rPr>
              <a:t>,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3200" i="1" dirty="0" err="1">
                <a:solidFill>
                  <a:schemeClr val="tx1"/>
                </a:solidFill>
              </a:rPr>
              <a:t>Qt</a:t>
            </a:r>
            <a:r>
              <a:rPr lang="ru-RU" sz="3200" dirty="0">
                <a:solidFill>
                  <a:schemeClr val="tx1"/>
                </a:solidFill>
              </a:rPr>
              <a:t>,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3200" i="1" dirty="0" err="1">
                <a:solidFill>
                  <a:schemeClr val="tx1"/>
                </a:solidFill>
              </a:rPr>
              <a:t>Android</a:t>
            </a:r>
            <a:endParaRPr lang="ru-RU" sz="3200" dirty="0"/>
          </a:p>
          <a:p>
            <a:endParaRPr lang="ru-RU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700B0D-AA12-CD13-E22D-D362539B67AA}"/>
              </a:ext>
            </a:extLst>
          </p:cNvPr>
          <p:cNvSpPr txBox="1"/>
          <p:nvPr/>
        </p:nvSpPr>
        <p:spPr>
          <a:xfrm>
            <a:off x="361950" y="643151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Mercurial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934476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Git</a:t>
            </a:r>
            <a:r>
              <a:rPr lang="en-US" dirty="0"/>
              <a:t> - </a:t>
            </a:r>
            <a:r>
              <a:rPr lang="ru-RU" dirty="0"/>
              <a:t>Полезные ссылки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90500" y="1845734"/>
            <a:ext cx="11194676" cy="4326466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dirty="0">
                <a:hlinkClick r:id="rId3"/>
              </a:rPr>
              <a:t>https://smartiqa.ru/courses/git</a:t>
            </a:r>
            <a:endParaRPr lang="ru-RU" sz="3200" dirty="0">
              <a:hlinkClick r:id="rId3"/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sz="3200" dirty="0">
                <a:hlinkClick r:id="rId3"/>
              </a:rPr>
              <a:t>https://learngitbranching.js.org/</a:t>
            </a:r>
            <a:r>
              <a:rPr lang="en-US" sz="3200" dirty="0"/>
              <a:t> </a:t>
            </a:r>
            <a:r>
              <a:rPr lang="ru-RU" sz="3200" dirty="0"/>
              <a:t> </a:t>
            </a:r>
            <a:r>
              <a:rPr lang="en-US" sz="3200" dirty="0"/>
              <a:t> </a:t>
            </a:r>
            <a:endParaRPr lang="ru-RU" sz="3200" dirty="0"/>
          </a:p>
          <a:p>
            <a:pPr marL="514350" indent="-514350">
              <a:buFont typeface="+mj-lt"/>
              <a:buAutoNum type="arabicPeriod"/>
            </a:pPr>
            <a:r>
              <a:rPr lang="ru-RU" sz="3200" dirty="0">
                <a:hlinkClick r:id="rId4"/>
              </a:rPr>
              <a:t>https://githowto.com/ru</a:t>
            </a:r>
            <a:r>
              <a:rPr lang="en-US" sz="3200" dirty="0"/>
              <a:t> </a:t>
            </a:r>
            <a:r>
              <a:rPr lang="ru-RU" sz="3200" dirty="0"/>
              <a:t> </a:t>
            </a:r>
            <a:endParaRPr lang="en-US" sz="3200" dirty="0"/>
          </a:p>
          <a:p>
            <a:pPr marL="514350" indent="-514350">
              <a:buFont typeface="+mj-lt"/>
              <a:buAutoNum type="arabicPeriod"/>
            </a:pPr>
            <a:r>
              <a:rPr lang="en-US" sz="3200" dirty="0">
                <a:hlinkClick r:id="rId5"/>
              </a:rPr>
              <a:t>https://git-scm.com/book/ru/v2/</a:t>
            </a:r>
            <a:r>
              <a:rPr lang="en-US" sz="3200" dirty="0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3200" dirty="0">
                <a:hlinkClick r:id="rId6"/>
              </a:rPr>
              <a:t>https://www.udemy.com/course/git-expert-4-hours/</a:t>
            </a:r>
            <a:r>
              <a:rPr lang="en-US" sz="3200" dirty="0"/>
              <a:t> </a:t>
            </a:r>
            <a:endParaRPr lang="ru-RU" sz="3200" dirty="0"/>
          </a:p>
          <a:p>
            <a:pPr marL="514350" indent="-514350">
              <a:buAutoNum type="arabicPeriod"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514350" indent="-514350">
              <a:buAutoNum type="arabicPeriod"/>
            </a:pP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9660444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– </a:t>
            </a:r>
            <a:r>
              <a:rPr lang="ru-RU" dirty="0">
                <a:solidFill>
                  <a:schemeClr val="tx1"/>
                </a:solidFill>
              </a:rPr>
              <a:t>установка 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97280" y="2209800"/>
            <a:ext cx="9404350" cy="3151294"/>
          </a:xfrm>
        </p:spPr>
        <p:txBody>
          <a:bodyPr>
            <a:noAutofit/>
          </a:bodyPr>
          <a:lstStyle/>
          <a:p>
            <a:r>
              <a:rPr lang="ru-RU" sz="3200" b="1" dirty="0"/>
              <a:t>Варианты установки</a:t>
            </a:r>
            <a:r>
              <a:rPr lang="ru-RU" sz="3200" dirty="0"/>
              <a:t>:</a:t>
            </a:r>
          </a:p>
          <a:p>
            <a:r>
              <a:rPr lang="ru-RU" sz="3200" dirty="0"/>
              <a:t>● через пакетный менеджер</a:t>
            </a:r>
          </a:p>
          <a:p>
            <a:r>
              <a:rPr lang="ru-RU" sz="3200" dirty="0"/>
              <a:t>● установщик, скачанный с официального сайта (</a:t>
            </a:r>
            <a:r>
              <a:rPr lang="ru-RU" sz="3200" dirty="0">
                <a:hlinkClick r:id="rId3"/>
              </a:rPr>
              <a:t>https://git-scm.com/downloads</a:t>
            </a:r>
            <a:r>
              <a:rPr lang="ru-RU" sz="3200" dirty="0"/>
              <a:t> )</a:t>
            </a:r>
          </a:p>
          <a:p>
            <a:r>
              <a:rPr lang="en-US" sz="3200" dirty="0">
                <a:hlinkClick r:id="rId4"/>
              </a:rPr>
              <a:t>https://smartiqa.ru/courses/git/lesson-1</a:t>
            </a:r>
            <a:r>
              <a:rPr lang="ru-RU" sz="3200" dirty="0"/>
              <a:t>  - об установке: выбор имени основной ветки и настройка запуска </a:t>
            </a:r>
            <a:r>
              <a:rPr lang="en-US" sz="3200" dirty="0" err="1"/>
              <a:t>git</a:t>
            </a:r>
            <a:r>
              <a:rPr lang="en-US" sz="3200" dirty="0"/>
              <a:t> </a:t>
            </a:r>
            <a:r>
              <a:rPr lang="ru-RU" sz="3200" dirty="0"/>
              <a:t>из консоли</a:t>
            </a:r>
          </a:p>
        </p:txBody>
      </p:sp>
    </p:spTree>
    <p:extLst>
      <p:ext uri="{BB962C8B-B14F-4D97-AF65-F5344CB8AC3E}">
        <p14:creationId xmlns:p14="http://schemas.microsoft.com/office/powerpoint/2010/main" val="40757015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– </a:t>
            </a:r>
            <a:r>
              <a:rPr lang="ru-RU" dirty="0">
                <a:solidFill>
                  <a:schemeClr val="tx1"/>
                </a:solidFill>
              </a:rPr>
              <a:t>основные понятия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20160" y="2110584"/>
            <a:ext cx="10612639" cy="4140926"/>
          </a:xfrm>
        </p:spPr>
        <p:txBody>
          <a:bodyPr>
            <a:noAutofit/>
          </a:bodyPr>
          <a:lstStyle/>
          <a:p>
            <a:r>
              <a:rPr lang="ru-RU" sz="3200" dirty="0"/>
              <a:t>Репозиторий </a:t>
            </a:r>
            <a:r>
              <a:rPr lang="ru-RU" sz="2400" dirty="0"/>
              <a:t>– папка проекта, отслеживаемого </a:t>
            </a:r>
            <a:r>
              <a:rPr lang="ru-RU" sz="2400" dirty="0" err="1"/>
              <a:t>Git</a:t>
            </a:r>
            <a:r>
              <a:rPr lang="ru-RU" sz="2400" dirty="0"/>
              <a:t>, содержащая дерево изменений проекта в хронологическом порядке. Все файлы истории хранятся в специальной папке .</a:t>
            </a:r>
            <a:r>
              <a:rPr lang="ru-RU" sz="2400" dirty="0" err="1"/>
              <a:t>git</a:t>
            </a:r>
            <a:r>
              <a:rPr lang="ru-RU" sz="2400" dirty="0"/>
              <a:t>/ внутри папки проекта.</a:t>
            </a:r>
          </a:p>
          <a:p>
            <a:r>
              <a:rPr lang="ru-RU" sz="3200" dirty="0"/>
              <a:t>Индекс – </a:t>
            </a:r>
            <a:r>
              <a:rPr lang="ru-RU" sz="2400" dirty="0"/>
              <a:t>файл, в котором содержатся изменения, подготовленные для добавления в </a:t>
            </a:r>
            <a:r>
              <a:rPr lang="ru-RU" sz="2400" dirty="0" err="1"/>
              <a:t>коммит</a:t>
            </a:r>
            <a:r>
              <a:rPr lang="ru-RU" sz="2400" dirty="0"/>
              <a:t>. Вы можете добавлять и убирать файлы из индекса.</a:t>
            </a:r>
          </a:p>
          <a:p>
            <a:r>
              <a:rPr lang="ru-RU" sz="3200" dirty="0"/>
              <a:t>Коммит – </a:t>
            </a:r>
            <a:r>
              <a:rPr lang="ru-RU" sz="2400" dirty="0"/>
              <a:t>фиксация изменений, внесенных в индекс. Другими словами, </a:t>
            </a:r>
            <a:r>
              <a:rPr lang="ru-RU" sz="2400" dirty="0" err="1"/>
              <a:t>коммит</a:t>
            </a:r>
            <a:r>
              <a:rPr lang="ru-RU" sz="2400" dirty="0"/>
              <a:t> – это единица изменений в вашем проекте. Коммит хранит измененные файлы, имя автора </a:t>
            </a:r>
            <a:r>
              <a:rPr lang="ru-RU" sz="2400" dirty="0" err="1"/>
              <a:t>коммита</a:t>
            </a:r>
            <a:r>
              <a:rPr lang="ru-RU" sz="2400" dirty="0"/>
              <a:t> и время, в которое был сделан </a:t>
            </a:r>
            <a:r>
              <a:rPr lang="ru-RU" sz="2400" dirty="0" err="1"/>
              <a:t>коммит</a:t>
            </a:r>
            <a:r>
              <a:rPr lang="ru-RU" sz="2400" dirty="0"/>
              <a:t>. Кроме того, каждый </a:t>
            </a:r>
            <a:r>
              <a:rPr lang="ru-RU" sz="2400" dirty="0" err="1"/>
              <a:t>коммит</a:t>
            </a:r>
            <a:r>
              <a:rPr lang="ru-RU" sz="2400" dirty="0"/>
              <a:t> имеет уникальный идентификатор, который позволяет в любое время к нему откатиться.</a:t>
            </a:r>
          </a:p>
        </p:txBody>
      </p:sp>
    </p:spTree>
    <p:extLst>
      <p:ext uri="{BB962C8B-B14F-4D97-AF65-F5344CB8AC3E}">
        <p14:creationId xmlns:p14="http://schemas.microsoft.com/office/powerpoint/2010/main" val="19661179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– </a:t>
            </a:r>
            <a:r>
              <a:rPr lang="ru-RU" dirty="0">
                <a:solidFill>
                  <a:schemeClr val="tx1"/>
                </a:solidFill>
              </a:rPr>
              <a:t>основные понятия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78943" y="2185229"/>
            <a:ext cx="10276737" cy="3623734"/>
          </a:xfrm>
        </p:spPr>
        <p:txBody>
          <a:bodyPr>
            <a:noAutofit/>
          </a:bodyPr>
          <a:lstStyle/>
          <a:p>
            <a:r>
              <a:rPr lang="ru-RU" sz="3200" dirty="0"/>
              <a:t>Указатели HEAD, ORIGHEAD</a:t>
            </a:r>
            <a:r>
              <a:rPr lang="ru-RU" sz="2400" dirty="0"/>
              <a:t>– это ссылка на определенный </a:t>
            </a:r>
            <a:r>
              <a:rPr lang="ru-RU" sz="2400" dirty="0" err="1"/>
              <a:t>коммит</a:t>
            </a:r>
            <a:r>
              <a:rPr lang="ru-RU" sz="2400" dirty="0"/>
              <a:t>. Ссылка – это некоторая метка, которую использует </a:t>
            </a:r>
            <a:r>
              <a:rPr lang="ru-RU" sz="2400" dirty="0" err="1"/>
              <a:t>Git</a:t>
            </a:r>
            <a:r>
              <a:rPr lang="ru-RU" sz="2400" dirty="0"/>
              <a:t> или сам пользователь, чтобы указать на </a:t>
            </a:r>
            <a:r>
              <a:rPr lang="ru-RU" sz="2400" dirty="0" err="1"/>
              <a:t>коммит</a:t>
            </a:r>
            <a:r>
              <a:rPr lang="ru-RU" sz="2400" dirty="0"/>
              <a:t>.</a:t>
            </a:r>
          </a:p>
          <a:p>
            <a:r>
              <a:rPr lang="ru-RU" sz="3200" dirty="0"/>
              <a:t>Ветка</a:t>
            </a:r>
            <a:r>
              <a:rPr lang="ru-RU" sz="2400" dirty="0"/>
              <a:t> – это последовательность </a:t>
            </a:r>
            <a:r>
              <a:rPr lang="ru-RU" sz="2400" dirty="0" err="1"/>
              <a:t>коммитов</a:t>
            </a:r>
            <a:r>
              <a:rPr lang="ru-RU" sz="2400" dirty="0"/>
              <a:t>. Технически же, ветка – это ссылка на последний </a:t>
            </a:r>
            <a:r>
              <a:rPr lang="ru-RU" sz="2400" dirty="0" err="1"/>
              <a:t>коммит</a:t>
            </a:r>
            <a:r>
              <a:rPr lang="ru-RU" sz="2400" dirty="0"/>
              <a:t> в этой ветке. Преимущество веток в их независимости. </a:t>
            </a:r>
          </a:p>
          <a:p>
            <a:r>
              <a:rPr lang="ru-RU" sz="3200" dirty="0"/>
              <a:t>Рабочая копия. </a:t>
            </a:r>
            <a:r>
              <a:rPr lang="ru-RU" sz="2400" dirty="0"/>
              <a:t>Директория .</a:t>
            </a:r>
            <a:r>
              <a:rPr lang="ru-RU" sz="2400" dirty="0" err="1"/>
              <a:t>git</a:t>
            </a:r>
            <a:r>
              <a:rPr lang="ru-RU" sz="2400" dirty="0"/>
              <a:t>/ с её содержимым относится к </a:t>
            </a:r>
            <a:r>
              <a:rPr lang="ru-RU" sz="2400" dirty="0" err="1"/>
              <a:t>Git</a:t>
            </a:r>
            <a:r>
              <a:rPr lang="ru-RU" sz="2400" dirty="0"/>
              <a:t>. Все остальные файлы называются рабочей копией и принадлежат пользователю</a:t>
            </a:r>
          </a:p>
        </p:txBody>
      </p:sp>
    </p:spTree>
    <p:extLst>
      <p:ext uri="{BB962C8B-B14F-4D97-AF65-F5344CB8AC3E}">
        <p14:creationId xmlns:p14="http://schemas.microsoft.com/office/powerpoint/2010/main" val="87829866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– </a:t>
            </a:r>
            <a:r>
              <a:rPr lang="ru-RU" dirty="0">
                <a:solidFill>
                  <a:schemeClr val="tx1"/>
                </a:solidFill>
              </a:rPr>
              <a:t>настройка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Объект 5" descr="Вырезка экрана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63" y="1964361"/>
            <a:ext cx="12126315" cy="3354087"/>
          </a:xfrm>
        </p:spPr>
      </p:pic>
      <p:sp>
        <p:nvSpPr>
          <p:cNvPr id="5" name="Прямоугольник 4"/>
          <p:cNvSpPr/>
          <p:nvPr/>
        </p:nvSpPr>
        <p:spPr>
          <a:xfrm>
            <a:off x="420467" y="5977468"/>
            <a:ext cx="49316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Расположение файлов настроек (зависит от OS)</a:t>
            </a:r>
          </a:p>
        </p:txBody>
      </p:sp>
    </p:spTree>
    <p:extLst>
      <p:ext uri="{BB962C8B-B14F-4D97-AF65-F5344CB8AC3E}">
        <p14:creationId xmlns:p14="http://schemas.microsoft.com/office/powerpoint/2010/main" val="11227148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–</a:t>
            </a:r>
            <a:r>
              <a:rPr lang="ru-RU" dirty="0">
                <a:solidFill>
                  <a:schemeClr val="tx1"/>
                </a:solidFill>
              </a:rPr>
              <a:t> настройка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97280" y="1841424"/>
            <a:ext cx="9886950" cy="1176866"/>
          </a:xfrm>
        </p:spPr>
        <p:txBody>
          <a:bodyPr>
            <a:noAutofit/>
          </a:bodyPr>
          <a:lstStyle/>
          <a:p>
            <a:r>
              <a:rPr lang="ru-RU" sz="2800" dirty="0"/>
              <a:t>Конфигурирование </a:t>
            </a:r>
            <a:r>
              <a:rPr lang="ru-RU" sz="2800" i="1" dirty="0" err="1"/>
              <a:t>Git</a:t>
            </a:r>
            <a:r>
              <a:rPr lang="ru-RU" sz="2800" dirty="0"/>
              <a:t> с помощью утилиты командной строки:</a:t>
            </a:r>
          </a:p>
          <a:p>
            <a:r>
              <a:rPr lang="ru-RU" sz="3200" b="1" i="1" dirty="0" err="1"/>
              <a:t>git</a:t>
            </a:r>
            <a:r>
              <a:rPr lang="ru-RU" sz="3200" b="1" i="1" dirty="0"/>
              <a:t> </a:t>
            </a:r>
            <a:r>
              <a:rPr lang="ru-RU" sz="3200" b="1" i="1" dirty="0" err="1"/>
              <a:t>config</a:t>
            </a:r>
            <a:endParaRPr lang="ru-RU" sz="3200" b="1" i="1" dirty="0"/>
          </a:p>
          <a:p>
            <a:endParaRPr lang="ru-RU" sz="2800" b="1" i="1" dirty="0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7582352"/>
              </p:ext>
            </p:extLst>
          </p:nvPr>
        </p:nvGraphicFramePr>
        <p:xfrm>
          <a:off x="1097280" y="3122354"/>
          <a:ext cx="9226550" cy="17373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9978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87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3200" dirty="0"/>
                        <a:t>На уровне </a:t>
                      </a:r>
                      <a:r>
                        <a:rPr lang="ru-RU" sz="3200" b="1" dirty="0"/>
                        <a:t>системы</a:t>
                      </a:r>
                      <a:endParaRPr lang="ru-RU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3200" dirty="0"/>
                        <a:t> </a:t>
                      </a:r>
                      <a:r>
                        <a:rPr lang="en-US" sz="3200" dirty="0"/>
                        <a:t> </a:t>
                      </a:r>
                      <a:r>
                        <a:rPr lang="en-US" sz="3200" dirty="0" err="1"/>
                        <a:t>git</a:t>
                      </a:r>
                      <a:r>
                        <a:rPr lang="en-US" sz="3200" dirty="0"/>
                        <a:t> </a:t>
                      </a:r>
                      <a:r>
                        <a:rPr lang="en-US" sz="3200" dirty="0" err="1"/>
                        <a:t>config</a:t>
                      </a:r>
                      <a:r>
                        <a:rPr lang="en-US" sz="3200" dirty="0"/>
                        <a:t> --system </a:t>
                      </a:r>
                      <a:endParaRPr lang="ru-RU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3200" dirty="0"/>
                        <a:t>На уровне </a:t>
                      </a:r>
                      <a:r>
                        <a:rPr lang="ru-RU" sz="3200" b="1" dirty="0"/>
                        <a:t>пользователя</a:t>
                      </a:r>
                      <a:endParaRPr lang="ru-RU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3200" dirty="0"/>
                        <a:t> </a:t>
                      </a:r>
                      <a:r>
                        <a:rPr lang="en-US" sz="3200" dirty="0"/>
                        <a:t> </a:t>
                      </a:r>
                      <a:r>
                        <a:rPr lang="en-US" sz="3200" dirty="0" err="1"/>
                        <a:t>git</a:t>
                      </a:r>
                      <a:r>
                        <a:rPr lang="en-US" sz="3200" dirty="0"/>
                        <a:t> </a:t>
                      </a:r>
                      <a:r>
                        <a:rPr lang="en-US" sz="3200" dirty="0" err="1"/>
                        <a:t>config</a:t>
                      </a:r>
                      <a:r>
                        <a:rPr lang="en-US" sz="3200" dirty="0"/>
                        <a:t> --global</a:t>
                      </a:r>
                      <a:endParaRPr lang="ru-RU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3200" dirty="0"/>
                        <a:t>На уровне </a:t>
                      </a:r>
                      <a:r>
                        <a:rPr lang="ru-RU" sz="3200" b="1" dirty="0"/>
                        <a:t>репозитория</a:t>
                      </a:r>
                      <a:endParaRPr lang="ru-RU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3200" dirty="0"/>
                        <a:t> </a:t>
                      </a:r>
                      <a:r>
                        <a:rPr lang="en-US" sz="3200" dirty="0"/>
                        <a:t> </a:t>
                      </a:r>
                      <a:r>
                        <a:rPr lang="en-US" sz="3200" dirty="0" err="1"/>
                        <a:t>git</a:t>
                      </a:r>
                      <a:r>
                        <a:rPr lang="en-US" sz="3200" dirty="0"/>
                        <a:t> </a:t>
                      </a:r>
                      <a:r>
                        <a:rPr lang="en-US" sz="3200" dirty="0" err="1"/>
                        <a:t>config</a:t>
                      </a:r>
                      <a:r>
                        <a:rPr lang="en-US" sz="3200" dirty="0"/>
                        <a:t> </a:t>
                      </a:r>
                      <a:endParaRPr lang="ru-RU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Прямоугольник 3"/>
          <p:cNvSpPr/>
          <p:nvPr/>
        </p:nvSpPr>
        <p:spPr>
          <a:xfrm>
            <a:off x="609600" y="4963778"/>
            <a:ext cx="110998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git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name value</a:t>
            </a:r>
          </a:p>
          <a:p>
            <a:r>
              <a:rPr lang="ru-RU" sz="2800" dirty="0"/>
              <a:t>где </a:t>
            </a:r>
            <a:r>
              <a:rPr lang="ru-RU" sz="2800" dirty="0" err="1"/>
              <a:t>name</a:t>
            </a:r>
            <a:r>
              <a:rPr lang="ru-RU" sz="2800" dirty="0"/>
              <a:t> это название параметра, а </a:t>
            </a:r>
            <a:r>
              <a:rPr lang="ru-RU" sz="2800" dirty="0" err="1"/>
              <a:t>value</a:t>
            </a:r>
            <a:r>
              <a:rPr lang="ru-RU" sz="2800" dirty="0"/>
              <a:t> его значение, для того чтобы задать настройки.</a:t>
            </a:r>
          </a:p>
        </p:txBody>
      </p:sp>
    </p:spTree>
    <p:extLst>
      <p:ext uri="{BB962C8B-B14F-4D97-AF65-F5344CB8AC3E}">
        <p14:creationId xmlns:p14="http://schemas.microsoft.com/office/powerpoint/2010/main" val="30393708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200" y="591403"/>
            <a:ext cx="11404600" cy="983397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– </a:t>
            </a:r>
            <a:r>
              <a:rPr lang="ru-RU" dirty="0">
                <a:solidFill>
                  <a:schemeClr val="tx1"/>
                </a:solidFill>
              </a:rPr>
              <a:t>настройка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7721471"/>
              </p:ext>
            </p:extLst>
          </p:nvPr>
        </p:nvGraphicFramePr>
        <p:xfrm>
          <a:off x="0" y="1574800"/>
          <a:ext cx="12192000" cy="47548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16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2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Задать имя и </a:t>
                      </a:r>
                      <a:r>
                        <a:rPr lang="ru-RU" sz="24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lang="en-US" sz="24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</a:t>
                      </a:r>
                      <a:r>
                        <a:rPr lang="ru-RU" sz="24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ail</a:t>
                      </a:r>
                      <a:r>
                        <a:rPr lang="ru-RU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разработчика для уровня пользователя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git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config</a:t>
                      </a:r>
                      <a:r>
                        <a:rPr lang="en-US" sz="2400" dirty="0"/>
                        <a:t> --global user.name "User"</a:t>
                      </a:r>
                    </a:p>
                    <a:p>
                      <a:r>
                        <a:rPr lang="en-US" sz="2400" dirty="0" err="1"/>
                        <a:t>git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config</a:t>
                      </a:r>
                      <a:r>
                        <a:rPr lang="en-US" sz="2400" dirty="0"/>
                        <a:t> --global </a:t>
                      </a:r>
                      <a:r>
                        <a:rPr lang="en-US" sz="2400" dirty="0" err="1"/>
                        <a:t>user.email</a:t>
                      </a:r>
                      <a:r>
                        <a:rPr lang="en-US" sz="2400" dirty="0"/>
                        <a:t> "user@company.com"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/>
                        <a:t>Просмотреть все установленные настройки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sz="2400" dirty="0" err="1"/>
                        <a:t>git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config</a:t>
                      </a:r>
                      <a:r>
                        <a:rPr lang="en-US" sz="2400" dirty="0"/>
                        <a:t> –list</a:t>
                      </a:r>
                      <a:endParaRPr lang="ru-RU" sz="2400" dirty="0"/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sz="2400" dirty="0"/>
                        <a:t>git config --list --show-origin</a:t>
                      </a:r>
                      <a:r>
                        <a:rPr lang="ru-RU" sz="2400" dirty="0"/>
                        <a:t> </a:t>
                      </a: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sz="2400" dirty="0"/>
                        <a:t>git config --local --list      # </a:t>
                      </a:r>
                      <a:r>
                        <a:rPr lang="ru-RU" sz="2400" dirty="0"/>
                        <a:t>только локальные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/>
                        <a:t>Указать текстовый редактор, который будет запускать </a:t>
                      </a:r>
                      <a:r>
                        <a:rPr lang="ru-RU" sz="2400" dirty="0" err="1"/>
                        <a:t>Git</a:t>
                      </a:r>
                      <a:r>
                        <a:rPr lang="ru-RU" sz="2400" dirty="0"/>
                        <a:t> (модифицировать параметр </a:t>
                      </a:r>
                      <a:r>
                        <a:rPr lang="en-US" sz="2400" dirty="0" err="1"/>
                        <a:t>core.editor</a:t>
                      </a:r>
                      <a:r>
                        <a:rPr lang="ru-RU" sz="24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для </a:t>
                      </a:r>
                      <a:r>
                        <a:rPr lang="en-US" sz="2400" b="1" dirty="0"/>
                        <a:t>Linux</a:t>
                      </a:r>
                      <a:r>
                        <a:rPr lang="en-US" sz="2400" dirty="0"/>
                        <a:t>:</a:t>
                      </a:r>
                    </a:p>
                    <a:p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git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config</a:t>
                      </a:r>
                      <a:r>
                        <a:rPr lang="en-US" sz="2400" dirty="0"/>
                        <a:t> --global </a:t>
                      </a:r>
                      <a:r>
                        <a:rPr lang="en-US" sz="2400" dirty="0" err="1"/>
                        <a:t>core.editor</a:t>
                      </a:r>
                      <a:r>
                        <a:rPr lang="en-US" sz="2400" dirty="0"/>
                        <a:t> "</a:t>
                      </a:r>
                      <a:r>
                        <a:rPr lang="en-US" sz="2400" dirty="0" err="1"/>
                        <a:t>nano</a:t>
                      </a:r>
                      <a:r>
                        <a:rPr lang="en-US" sz="2400" dirty="0"/>
                        <a:t>"</a:t>
                      </a:r>
                    </a:p>
                    <a:p>
                      <a:r>
                        <a:rPr lang="ru-RU" sz="2400" dirty="0"/>
                        <a:t>для </a:t>
                      </a:r>
                      <a:r>
                        <a:rPr lang="en-US" sz="2400" b="1" dirty="0"/>
                        <a:t>Windows</a:t>
                      </a:r>
                      <a:r>
                        <a:rPr lang="en-US" sz="2400" dirty="0"/>
                        <a:t>:</a:t>
                      </a:r>
                    </a:p>
                    <a:p>
                      <a:r>
                        <a:rPr lang="en-US" sz="2400" baseline="0" dirty="0"/>
                        <a:t> </a:t>
                      </a:r>
                      <a:r>
                        <a:rPr lang="en-US" sz="2400" dirty="0" err="1"/>
                        <a:t>git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config</a:t>
                      </a:r>
                      <a:r>
                        <a:rPr lang="en-US" sz="2400" dirty="0"/>
                        <a:t> --global </a:t>
                      </a:r>
                      <a:r>
                        <a:rPr lang="en-US" sz="2400" dirty="0" err="1"/>
                        <a:t>core.editor</a:t>
                      </a:r>
                      <a:r>
                        <a:rPr lang="en-US" sz="2400" dirty="0"/>
                        <a:t> "notepad.exe"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установить имя </a:t>
                      </a:r>
                      <a:r>
                        <a:rPr lang="ru-RU" sz="24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main</a:t>
                      </a:r>
                      <a:r>
                        <a:rPr lang="ru-RU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для вашей ветки по умолчанию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aseline="0" dirty="0"/>
                        <a:t> </a:t>
                      </a:r>
                      <a:r>
                        <a:rPr lang="en-US" sz="2400" dirty="0" err="1"/>
                        <a:t>git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config</a:t>
                      </a:r>
                      <a:r>
                        <a:rPr lang="en-US" sz="2400" dirty="0"/>
                        <a:t> --global </a:t>
                      </a:r>
                      <a:r>
                        <a:rPr lang="en-US" sz="2400" dirty="0" err="1"/>
                        <a:t>init.defaultBranch</a:t>
                      </a:r>
                      <a:r>
                        <a:rPr lang="en-US" sz="2400" dirty="0"/>
                        <a:t> main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503899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– help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4183181"/>
              </p:ext>
            </p:extLst>
          </p:nvPr>
        </p:nvGraphicFramePr>
        <p:xfrm>
          <a:off x="271780" y="1963072"/>
          <a:ext cx="11709400" cy="4175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6356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737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200" dirty="0"/>
                        <a:t>Открыть руководство по команде </a:t>
                      </a:r>
                      <a:r>
                        <a:rPr lang="ru-RU" sz="3200" baseline="0" dirty="0"/>
                        <a:t>(откроется </a:t>
                      </a:r>
                      <a:r>
                        <a:rPr lang="en-US" sz="3200" baseline="0" dirty="0"/>
                        <a:t>html c</a:t>
                      </a:r>
                      <a:r>
                        <a:rPr lang="ru-RU" sz="3200" baseline="0" dirty="0" err="1"/>
                        <a:t>траница</a:t>
                      </a:r>
                      <a:r>
                        <a:rPr lang="ru-RU" sz="3200" baseline="0" dirty="0"/>
                        <a:t>)</a:t>
                      </a:r>
                      <a:endParaRPr lang="ru-RU" sz="32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3200" dirty="0"/>
                        <a:t> </a:t>
                      </a:r>
                      <a:r>
                        <a:rPr lang="ru-RU" sz="3200" dirty="0" err="1"/>
                        <a:t>git</a:t>
                      </a:r>
                      <a:r>
                        <a:rPr lang="ru-RU" sz="3200" dirty="0"/>
                        <a:t> &lt;команда&gt; --</a:t>
                      </a:r>
                      <a:r>
                        <a:rPr lang="ru-RU" sz="3200" dirty="0" err="1"/>
                        <a:t>help</a:t>
                      </a:r>
                      <a:endParaRPr lang="ru-RU" sz="32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3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git</a:t>
                      </a:r>
                      <a:r>
                        <a:rPr lang="en-US" sz="3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add --help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200" dirty="0"/>
                        <a:t> </a:t>
                      </a:r>
                      <a:r>
                        <a:rPr lang="ru-RU" sz="3200" dirty="0" err="1"/>
                        <a:t>git</a:t>
                      </a:r>
                      <a:r>
                        <a:rPr lang="ru-RU" sz="3200" dirty="0"/>
                        <a:t> </a:t>
                      </a:r>
                      <a:r>
                        <a:rPr lang="ru-RU" sz="3200" dirty="0" err="1"/>
                        <a:t>help</a:t>
                      </a:r>
                      <a:r>
                        <a:rPr lang="ru-RU" sz="3200" dirty="0"/>
                        <a:t> &lt;команда&gt;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200" dirty="0"/>
                        <a:t> </a:t>
                      </a:r>
                      <a:r>
                        <a:rPr lang="ru-RU" sz="3200" dirty="0" err="1"/>
                        <a:t>git</a:t>
                      </a:r>
                      <a:r>
                        <a:rPr lang="ru-RU" sz="3200" dirty="0"/>
                        <a:t> </a:t>
                      </a:r>
                      <a:r>
                        <a:rPr lang="ru-RU" sz="3200" dirty="0" err="1"/>
                        <a:t>help</a:t>
                      </a:r>
                      <a:r>
                        <a:rPr lang="ru-RU" sz="3200" dirty="0"/>
                        <a:t> </a:t>
                      </a:r>
                      <a:r>
                        <a:rPr lang="ru-RU" sz="3200" dirty="0" err="1"/>
                        <a:t>config</a:t>
                      </a:r>
                      <a:endParaRPr lang="ru-RU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/>
                        <a:t>O</a:t>
                      </a:r>
                      <a:r>
                        <a:rPr lang="ru-RU" sz="3200" dirty="0" err="1"/>
                        <a:t>пция</a:t>
                      </a:r>
                      <a:r>
                        <a:rPr lang="ru-RU" sz="3200" dirty="0"/>
                        <a:t> -h для вывода краткой инструкции по использованию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200" dirty="0"/>
                        <a:t> </a:t>
                      </a:r>
                      <a:r>
                        <a:rPr lang="ru-RU" sz="3200" dirty="0" err="1"/>
                        <a:t>git</a:t>
                      </a:r>
                      <a:r>
                        <a:rPr lang="ru-RU" sz="3200" dirty="0"/>
                        <a:t> &lt;команда&gt; -h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200" dirty="0"/>
                        <a:t> </a:t>
                      </a:r>
                      <a:r>
                        <a:rPr lang="ru-RU" sz="3200" dirty="0" err="1"/>
                        <a:t>git</a:t>
                      </a:r>
                      <a:r>
                        <a:rPr lang="ru-RU" sz="3200" dirty="0"/>
                        <a:t> </a:t>
                      </a:r>
                      <a:r>
                        <a:rPr lang="ru-RU" sz="3200" dirty="0" err="1"/>
                        <a:t>add</a:t>
                      </a:r>
                      <a:r>
                        <a:rPr lang="ru-RU" sz="3200" dirty="0"/>
                        <a:t> </a:t>
                      </a:r>
                      <a:r>
                        <a:rPr lang="en-US" sz="3200" dirty="0"/>
                        <a:t>-</a:t>
                      </a:r>
                      <a:r>
                        <a:rPr lang="ru-RU" sz="3200" dirty="0"/>
                        <a:t>h</a:t>
                      </a:r>
                      <a:r>
                        <a:rPr lang="en-US" sz="3200" dirty="0"/>
                        <a:t> </a:t>
                      </a:r>
                      <a:endParaRPr lang="ru-RU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3200" dirty="0"/>
                        <a:t>Узнать</a:t>
                      </a:r>
                      <a:r>
                        <a:rPr lang="ru-RU" sz="3200" baseline="0" dirty="0"/>
                        <a:t> версию установленного </a:t>
                      </a:r>
                      <a:r>
                        <a:rPr lang="en-US" sz="3200" baseline="0" dirty="0" err="1"/>
                        <a:t>git</a:t>
                      </a:r>
                      <a:endParaRPr lang="ru-RU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3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git</a:t>
                      </a:r>
                      <a:r>
                        <a:rPr lang="en-US" sz="3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--version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616852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450" y="286603"/>
            <a:ext cx="11677650" cy="1216827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– </a:t>
            </a:r>
            <a:r>
              <a:rPr lang="ru-RU" dirty="0"/>
              <a:t>начало работы. </a:t>
            </a:r>
            <a:br>
              <a:rPr lang="ru-RU" dirty="0"/>
            </a:br>
            <a:r>
              <a:rPr lang="ru-RU" dirty="0"/>
              <a:t>Создание удаленного </a:t>
            </a:r>
            <a:r>
              <a:rPr lang="ru-RU" dirty="0" err="1"/>
              <a:t>репозитория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1450" y="1845734"/>
            <a:ext cx="11677650" cy="1087966"/>
          </a:xfrm>
        </p:spPr>
        <p:txBody>
          <a:bodyPr>
            <a:noAutofit/>
          </a:bodyPr>
          <a:lstStyle/>
          <a:p>
            <a:r>
              <a:rPr lang="ru-RU" sz="2800" dirty="0"/>
              <a:t>В самом начале заходим на </a:t>
            </a:r>
            <a:r>
              <a:rPr lang="ru-RU" sz="2800" b="1" dirty="0"/>
              <a:t>https://github.com </a:t>
            </a:r>
            <a:r>
              <a:rPr lang="ru-RU" sz="2800" dirty="0"/>
              <a:t>(https://bitbucket.org/ ,</a:t>
            </a:r>
          </a:p>
          <a:p>
            <a:r>
              <a:rPr lang="ru-RU" sz="2800" dirty="0"/>
              <a:t>https://gitlab.com/) и создаем пустой </a:t>
            </a:r>
            <a:r>
              <a:rPr lang="ru-RU" sz="2800" dirty="0" err="1"/>
              <a:t>репозиторий</a:t>
            </a:r>
            <a:r>
              <a:rPr lang="ru-RU" sz="2800" dirty="0"/>
              <a:t>.</a:t>
            </a:r>
            <a:endParaRPr lang="ru-RU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1820" y="3655484"/>
            <a:ext cx="8240667" cy="2446108"/>
          </a:xfrm>
          <a:prstGeom prst="rect">
            <a:avLst/>
          </a:prstGeom>
        </p:spPr>
      </p:pic>
      <p:pic>
        <p:nvPicPr>
          <p:cNvPr id="5" name="Рисунок 4" descr="Вырезка экрана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50" y="3276004"/>
            <a:ext cx="2997898" cy="2565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36082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80" y="1742945"/>
            <a:ext cx="10497820" cy="4525727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171450" y="286603"/>
            <a:ext cx="11677650" cy="121682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chemeClr val="tx1"/>
                </a:solidFill>
              </a:rPr>
              <a:t>G</a:t>
            </a:r>
            <a:r>
              <a:rPr lang="ru-RU">
                <a:solidFill>
                  <a:schemeClr val="tx1"/>
                </a:solidFill>
              </a:rPr>
              <a:t>it </a:t>
            </a:r>
            <a:r>
              <a:rPr lang="en-US">
                <a:solidFill>
                  <a:schemeClr val="tx1"/>
                </a:solidFill>
              </a:rPr>
              <a:t>– </a:t>
            </a:r>
            <a:r>
              <a:rPr lang="ru-RU"/>
              <a:t>начало работы. </a:t>
            </a:r>
            <a:br>
              <a:rPr lang="ru-RU"/>
            </a:br>
            <a:r>
              <a:rPr lang="ru-RU"/>
              <a:t>Создание удаленного репозитория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548549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752598" cy="1112989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–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ru-RU" dirty="0"/>
              <a:t>Создание локального </a:t>
            </a:r>
            <a:r>
              <a:rPr lang="ru-RU" dirty="0" err="1"/>
              <a:t>репозитория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7075871"/>
              </p:ext>
            </p:extLst>
          </p:nvPr>
        </p:nvGraphicFramePr>
        <p:xfrm>
          <a:off x="1097280" y="2245360"/>
          <a:ext cx="10053320" cy="29870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8866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666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200" dirty="0" err="1"/>
                        <a:t>mkdir</a:t>
                      </a:r>
                      <a:r>
                        <a:rPr lang="en-US" sz="3200" dirty="0"/>
                        <a:t> repo</a:t>
                      </a:r>
                      <a:endParaRPr lang="ru-RU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r>
                        <a:rPr lang="ru-RU" sz="3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оздать</a:t>
                      </a:r>
                      <a:r>
                        <a:rPr lang="ru-RU" sz="3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папку, в которой будет располагаться </a:t>
                      </a:r>
                      <a:r>
                        <a:rPr lang="ru-RU" sz="3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репозиторий</a:t>
                      </a:r>
                      <a:r>
                        <a:rPr lang="ru-RU" sz="3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ru-RU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/>
                        <a:t>cd repo</a:t>
                      </a:r>
                      <a:endParaRPr lang="ru-RU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3200" dirty="0"/>
                        <a:t>Перейти</a:t>
                      </a:r>
                      <a:r>
                        <a:rPr lang="ru-RU" sz="3200" baseline="0" dirty="0"/>
                        <a:t> в каталог </a:t>
                      </a:r>
                      <a:r>
                        <a:rPr lang="en-US" sz="3200" baseline="0" dirty="0"/>
                        <a:t>repo</a:t>
                      </a:r>
                      <a:endParaRPr lang="ru-RU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41120">
                <a:tc>
                  <a:txBody>
                    <a:bodyPr/>
                    <a:lstStyle/>
                    <a:p>
                      <a:r>
                        <a:rPr lang="en-US" sz="3200" dirty="0" err="1"/>
                        <a:t>git</a:t>
                      </a:r>
                      <a:r>
                        <a:rPr lang="en-US" sz="3200" dirty="0"/>
                        <a:t> </a:t>
                      </a:r>
                      <a:r>
                        <a:rPr lang="en-US" sz="3200" dirty="0" err="1"/>
                        <a:t>init</a:t>
                      </a:r>
                      <a:endParaRPr lang="ru-RU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3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Создать в текущем каталоге пустой </a:t>
                      </a:r>
                      <a:r>
                        <a:rPr lang="ru-RU" sz="32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git</a:t>
                      </a:r>
                      <a:r>
                        <a:rPr lang="ru-RU" sz="32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ru-RU" sz="3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репозиторий</a:t>
                      </a:r>
                      <a:endParaRPr lang="ru-RU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722728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286604"/>
            <a:ext cx="10808581" cy="945038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–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ru-RU" dirty="0"/>
              <a:t>Создание локального </a:t>
            </a:r>
            <a:r>
              <a:rPr lang="ru-RU" dirty="0" err="1"/>
              <a:t>репозитория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86" y="2209358"/>
            <a:ext cx="12017588" cy="3745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39343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286604"/>
            <a:ext cx="10808581" cy="945038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–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ru-RU" dirty="0"/>
              <a:t>Создание локального </a:t>
            </a:r>
            <a:r>
              <a:rPr lang="ru-RU" dirty="0" err="1"/>
              <a:t>репозитория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4881" y="1426315"/>
            <a:ext cx="2793266" cy="515547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097279" y="1426315"/>
            <a:ext cx="2155001" cy="309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33183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320800" y="44250"/>
            <a:ext cx="10058400" cy="722312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– </a:t>
            </a:r>
            <a:r>
              <a:rPr lang="ru-RU" dirty="0">
                <a:solidFill>
                  <a:schemeClr val="tx1"/>
                </a:solidFill>
              </a:rPr>
              <a:t>архитектура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Рисунок 4" descr="Вырезка экрана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6562"/>
            <a:ext cx="7241112" cy="4257138"/>
          </a:xfrm>
          <a:prstGeom prst="rect">
            <a:avLst/>
          </a:prstGeom>
        </p:spPr>
      </p:pic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1380" y="1746276"/>
            <a:ext cx="4980620" cy="5111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71743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80" y="312003"/>
            <a:ext cx="11353800" cy="881797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– </a:t>
            </a:r>
            <a:r>
              <a:rPr lang="ru-RU" dirty="0"/>
              <a:t>состояния файлов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7333582"/>
              </p:ext>
            </p:extLst>
          </p:nvPr>
        </p:nvGraphicFramePr>
        <p:xfrm>
          <a:off x="449579" y="1193800"/>
          <a:ext cx="11353801" cy="5181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8131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406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800" dirty="0" err="1"/>
                        <a:t>git</a:t>
                      </a:r>
                      <a:r>
                        <a:rPr lang="ru-RU" sz="2800" dirty="0"/>
                        <a:t> </a:t>
                      </a:r>
                      <a:r>
                        <a:rPr lang="ru-RU" sz="2800" dirty="0" err="1"/>
                        <a:t>status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/>
                        <a:t>Просмотр состояния файлов</a:t>
                      </a:r>
                      <a:r>
                        <a:rPr lang="ru-RU" sz="2800" baseline="0" dirty="0"/>
                        <a:t> </a:t>
                      </a:r>
                      <a:r>
                        <a:rPr lang="ru-RU" sz="2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рабочего каталога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661" y="1888985"/>
            <a:ext cx="7444118" cy="4702295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8276408" y="2273951"/>
            <a:ext cx="3526972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1.Неотслеживаемый.</a:t>
            </a:r>
          </a:p>
          <a:p>
            <a:endParaRPr lang="ru-RU" sz="2800" dirty="0"/>
          </a:p>
          <a:p>
            <a:r>
              <a:rPr lang="ru-RU" sz="2800" dirty="0"/>
              <a:t>2.Отслеживаемый: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Неизмененный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Измененный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Подготовленный к </a:t>
            </a:r>
            <a:r>
              <a:rPr lang="ru-RU" sz="2800" dirty="0" err="1"/>
              <a:t>коммиту</a:t>
            </a:r>
            <a:endParaRPr lang="ru-RU" sz="2800" dirty="0"/>
          </a:p>
          <a:p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90267244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80" y="312003"/>
            <a:ext cx="11353800" cy="881797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– </a:t>
            </a:r>
            <a:r>
              <a:rPr lang="ru-RU" dirty="0"/>
              <a:t>состояния файлов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Рисунок 5" descr="Вырезка экрана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323" y="2062948"/>
            <a:ext cx="2778812" cy="2270493"/>
          </a:xfrm>
          <a:prstGeom prst="rect">
            <a:avLst/>
          </a:prstGeom>
        </p:spPr>
      </p:pic>
      <p:pic>
        <p:nvPicPr>
          <p:cNvPr id="7" name="Рисунок 6" descr="Вырезка экрана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3037" y="2062948"/>
            <a:ext cx="8826809" cy="4181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96116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80" y="312003"/>
            <a:ext cx="11353800" cy="881797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– </a:t>
            </a:r>
            <a:r>
              <a:rPr lang="ru-RU" dirty="0"/>
              <a:t>объекты (</a:t>
            </a:r>
            <a:r>
              <a:rPr lang="en-US" dirty="0"/>
              <a:t>.</a:t>
            </a:r>
            <a:r>
              <a:rPr lang="en-US" dirty="0" err="1"/>
              <a:t>git</a:t>
            </a:r>
            <a:r>
              <a:rPr lang="en-US" dirty="0"/>
              <a:t>/objects/</a:t>
            </a:r>
            <a:r>
              <a:rPr lang="ru-RU" dirty="0"/>
              <a:t>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86612" y="1625502"/>
            <a:ext cx="12005388" cy="43858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 err="1"/>
              <a:t>Blob</a:t>
            </a:r>
            <a:r>
              <a:rPr lang="ru-RU" sz="2800" dirty="0"/>
              <a:t> (англ. </a:t>
            </a:r>
            <a:r>
              <a:rPr lang="ru-RU" sz="2800" dirty="0" err="1"/>
              <a:t>binary</a:t>
            </a:r>
            <a:r>
              <a:rPr lang="ru-RU" sz="2800" dirty="0"/>
              <a:t> </a:t>
            </a:r>
            <a:r>
              <a:rPr lang="ru-RU" sz="2800" dirty="0" err="1"/>
              <a:t>large</a:t>
            </a:r>
            <a:r>
              <a:rPr lang="ru-RU" sz="2800" dirty="0"/>
              <a:t> </a:t>
            </a:r>
            <a:r>
              <a:rPr lang="ru-RU" sz="2800" dirty="0" err="1"/>
              <a:t>object</a:t>
            </a:r>
            <a:r>
              <a:rPr lang="ru-RU" sz="2800" dirty="0"/>
              <a:t>) – бинарный файл, формируемый для каждого файла в </a:t>
            </a:r>
            <a:r>
              <a:rPr lang="ru-RU" sz="2800" dirty="0" err="1"/>
              <a:t>репозитории</a:t>
            </a:r>
            <a:r>
              <a:rPr lang="ru-RU" sz="2800" dirty="0"/>
              <a:t> при добавлении файла в индекс (</a:t>
            </a:r>
            <a:r>
              <a:rPr lang="en-US" sz="2800" dirty="0" err="1"/>
              <a:t>git</a:t>
            </a:r>
            <a:r>
              <a:rPr lang="en-US" sz="2800" dirty="0"/>
              <a:t> add</a:t>
            </a:r>
            <a:r>
              <a:rPr lang="ru-RU" sz="2800" dirty="0"/>
              <a:t>), содержит его имя и сжатое содержимое. </a:t>
            </a:r>
            <a:endParaRPr lang="en-US" sz="2800" dirty="0"/>
          </a:p>
          <a:p>
            <a:endParaRPr lang="en-US" sz="1100" dirty="0"/>
          </a:p>
          <a:p>
            <a:r>
              <a:rPr lang="ru-RU" sz="2800" b="1" dirty="0" err="1"/>
              <a:t>Tree</a:t>
            </a:r>
            <a:r>
              <a:rPr lang="en-US" sz="2800" dirty="0"/>
              <a:t>  - </a:t>
            </a:r>
            <a:r>
              <a:rPr lang="ru-RU" sz="2800" dirty="0"/>
              <a:t>формируются для каждой директории </a:t>
            </a:r>
            <a:r>
              <a:rPr lang="ru-RU" sz="2800" dirty="0" err="1"/>
              <a:t>репозитория</a:t>
            </a:r>
            <a:r>
              <a:rPr lang="ru-RU" sz="2800" dirty="0"/>
              <a:t> </a:t>
            </a:r>
            <a:r>
              <a:rPr lang="en-US" sz="2800" dirty="0"/>
              <a:t> </a:t>
            </a:r>
            <a:r>
              <a:rPr lang="ru-RU" sz="2800" dirty="0"/>
              <a:t> во время </a:t>
            </a:r>
            <a:r>
              <a:rPr lang="ru-RU" sz="2800" dirty="0" err="1"/>
              <a:t>коммита</a:t>
            </a:r>
            <a:r>
              <a:rPr lang="ru-RU" sz="2800" dirty="0"/>
              <a:t> и показывают</a:t>
            </a:r>
            <a:r>
              <a:rPr lang="en-US" sz="2800" dirty="0"/>
              <a:t> </a:t>
            </a:r>
            <a:r>
              <a:rPr lang="ru-RU" sz="2800" dirty="0"/>
              <a:t>связи между файлами в </a:t>
            </a:r>
            <a:r>
              <a:rPr lang="ru-RU" sz="2800" dirty="0" err="1"/>
              <a:t>репозитории</a:t>
            </a:r>
            <a:r>
              <a:rPr lang="ru-RU" sz="2800" dirty="0"/>
              <a:t>. </a:t>
            </a:r>
            <a:r>
              <a:rPr lang="en-US" sz="2800" dirty="0"/>
              <a:t> Tree </a:t>
            </a:r>
            <a:r>
              <a:rPr lang="ru-RU" sz="2800" dirty="0"/>
              <a:t>состоит из имен 1) </a:t>
            </a:r>
            <a:r>
              <a:rPr lang="ru-RU" sz="2800" dirty="0" err="1"/>
              <a:t>blob</a:t>
            </a:r>
            <a:r>
              <a:rPr lang="ru-RU" sz="2800" dirty="0"/>
              <a:t>-объектов для файлов, которые лежат в данной директории, и 2) других деревьев для всех поддиректорий.</a:t>
            </a:r>
            <a:endParaRPr lang="en-US" sz="2800" dirty="0"/>
          </a:p>
          <a:p>
            <a:endParaRPr lang="ru-RU" sz="1600" dirty="0"/>
          </a:p>
          <a:p>
            <a:r>
              <a:rPr lang="en-US" sz="2800" b="1" dirty="0"/>
              <a:t>Commit </a:t>
            </a:r>
            <a:r>
              <a:rPr lang="ru-RU" sz="2800" dirty="0"/>
              <a:t>- содержит в себе имя автора </a:t>
            </a:r>
            <a:r>
              <a:rPr lang="ru-RU" sz="2800" dirty="0" err="1"/>
              <a:t>коммита</a:t>
            </a:r>
            <a:r>
              <a:rPr lang="ru-RU" sz="2800" dirty="0"/>
              <a:t>, время </a:t>
            </a:r>
            <a:r>
              <a:rPr lang="ru-RU" sz="2800" dirty="0" err="1"/>
              <a:t>коммита</a:t>
            </a:r>
            <a:r>
              <a:rPr lang="ru-RU" sz="2800" dirty="0"/>
              <a:t> и объект дерева корневой директории проекта.</a:t>
            </a:r>
          </a:p>
        </p:txBody>
      </p:sp>
    </p:spTree>
    <p:extLst>
      <p:ext uri="{BB962C8B-B14F-4D97-AF65-F5344CB8AC3E}">
        <p14:creationId xmlns:p14="http://schemas.microsoft.com/office/powerpoint/2010/main" val="73559026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80" y="0"/>
            <a:ext cx="11353800" cy="881797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– </a:t>
            </a:r>
            <a:r>
              <a:rPr lang="ru-RU" dirty="0"/>
              <a:t>индексирование файлов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2258010"/>
              </p:ext>
            </p:extLst>
          </p:nvPr>
        </p:nvGraphicFramePr>
        <p:xfrm>
          <a:off x="449580" y="1037798"/>
          <a:ext cx="7148806" cy="5181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060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83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800" dirty="0" err="1"/>
                        <a:t>git</a:t>
                      </a:r>
                      <a:r>
                        <a:rPr lang="ru-RU" sz="2800" dirty="0"/>
                        <a:t> </a:t>
                      </a:r>
                      <a:r>
                        <a:rPr lang="en-US" sz="2800" dirty="0"/>
                        <a:t>add .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Добавление</a:t>
                      </a:r>
                      <a:r>
                        <a:rPr lang="en-US" sz="2800" b="0" i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файлов</a:t>
                      </a:r>
                      <a:r>
                        <a:rPr lang="en-US" sz="2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 </a:t>
                      </a:r>
                      <a:r>
                        <a:rPr lang="ru-RU" sz="2800" b="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stage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Рисунок 2" descr="Вырезка экрана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00" t="3598" r="1829"/>
          <a:stretch/>
        </p:blipFill>
        <p:spPr>
          <a:xfrm>
            <a:off x="132340" y="1711960"/>
            <a:ext cx="7348761" cy="4642444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7987005" y="898004"/>
            <a:ext cx="4204995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ru-RU" sz="2800" dirty="0">
                <a:solidFill>
                  <a:srgbClr val="252525"/>
                </a:solidFill>
              </a:rPr>
              <a:t>Сжимает содержимое этого файла и создает </a:t>
            </a:r>
            <a:r>
              <a:rPr lang="ru-RU" sz="2800" b="1" dirty="0" err="1">
                <a:solidFill>
                  <a:srgbClr val="007C77"/>
                </a:solidFill>
              </a:rPr>
              <a:t>blob</a:t>
            </a:r>
            <a:r>
              <a:rPr lang="ru-RU" sz="2800" b="1" dirty="0">
                <a:solidFill>
                  <a:srgbClr val="007C77"/>
                </a:solidFill>
              </a:rPr>
              <a:t>-объект</a:t>
            </a:r>
            <a:r>
              <a:rPr lang="ru-RU" sz="2800" dirty="0">
                <a:solidFill>
                  <a:srgbClr val="252525"/>
                </a:solidFill>
              </a:rPr>
              <a:t>. Имя </a:t>
            </a:r>
            <a:r>
              <a:rPr lang="ru-RU" sz="2800" dirty="0" err="1">
                <a:solidFill>
                  <a:srgbClr val="252525"/>
                </a:solidFill>
              </a:rPr>
              <a:t>blob</a:t>
            </a:r>
            <a:r>
              <a:rPr lang="ru-RU" sz="2800" dirty="0">
                <a:solidFill>
                  <a:srgbClr val="252525"/>
                </a:solidFill>
              </a:rPr>
              <a:t>-объекта(40-символьный </a:t>
            </a:r>
            <a:r>
              <a:rPr lang="ru-RU" sz="2800" dirty="0" err="1">
                <a:solidFill>
                  <a:srgbClr val="252525"/>
                </a:solidFill>
              </a:rPr>
              <a:t>хэш</a:t>
            </a:r>
            <a:r>
              <a:rPr lang="ru-RU" sz="2800" dirty="0">
                <a:solidFill>
                  <a:srgbClr val="252525"/>
                </a:solidFill>
              </a:rPr>
              <a:t> содержимого файла, причем первые две буквы </a:t>
            </a:r>
            <a:r>
              <a:rPr lang="ru-RU" sz="2800" dirty="0" err="1">
                <a:solidFill>
                  <a:srgbClr val="252525"/>
                </a:solidFill>
              </a:rPr>
              <a:t>хэша</a:t>
            </a:r>
            <a:r>
              <a:rPr lang="ru-RU" sz="2800" dirty="0">
                <a:solidFill>
                  <a:srgbClr val="252525"/>
                </a:solidFill>
              </a:rPr>
              <a:t> отводятся под имя поддиректории в папке .</a:t>
            </a:r>
            <a:r>
              <a:rPr lang="ru-RU" sz="2800" dirty="0" err="1">
                <a:solidFill>
                  <a:srgbClr val="252525"/>
                </a:solidFill>
              </a:rPr>
              <a:t>git</a:t>
            </a:r>
            <a:r>
              <a:rPr lang="ru-RU" sz="2800" dirty="0">
                <a:solidFill>
                  <a:srgbClr val="252525"/>
                </a:solidFill>
              </a:rPr>
              <a:t>/</a:t>
            </a:r>
            <a:r>
              <a:rPr lang="ru-RU" sz="2800" dirty="0" err="1">
                <a:solidFill>
                  <a:srgbClr val="252525"/>
                </a:solidFill>
              </a:rPr>
              <a:t>objects</a:t>
            </a:r>
            <a:r>
              <a:rPr lang="ru-RU" sz="2800" dirty="0">
                <a:solidFill>
                  <a:srgbClr val="252525"/>
                </a:solidFill>
              </a:rPr>
              <a:t>, а остальные 38 – под имя самого файла) </a:t>
            </a:r>
            <a:r>
              <a:rPr lang="ru-RU" sz="2800" dirty="0"/>
              <a:t>записывается в индекс (</a:t>
            </a:r>
            <a:r>
              <a:rPr lang="ru-RU" sz="2800" b="1" dirty="0"/>
              <a:t>.</a:t>
            </a:r>
            <a:r>
              <a:rPr lang="en-US" sz="2800" b="1" dirty="0" err="1"/>
              <a:t>git</a:t>
            </a:r>
            <a:r>
              <a:rPr lang="en-US" sz="2800" b="1" dirty="0"/>
              <a:t>/index</a:t>
            </a:r>
            <a:r>
              <a:rPr lang="en-US" sz="2800" dirty="0"/>
              <a:t>)</a:t>
            </a:r>
            <a:r>
              <a:rPr lang="ru-RU" sz="2800" dirty="0">
                <a:solidFill>
                  <a:srgbClr val="252525"/>
                </a:solidFill>
              </a:rPr>
              <a:t> </a:t>
            </a:r>
            <a:endParaRPr lang="en-US" sz="2800" dirty="0">
              <a:solidFill>
                <a:srgbClr val="25252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261125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80" y="312003"/>
            <a:ext cx="11353800" cy="881797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– </a:t>
            </a:r>
            <a:r>
              <a:rPr lang="ru-RU" dirty="0"/>
              <a:t>индексирование файлов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Рисунок 5" descr="Вырезка экрана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879" y="1193800"/>
            <a:ext cx="3544081" cy="543427"/>
          </a:xfrm>
          <a:prstGeom prst="rect">
            <a:avLst/>
          </a:prstGeom>
        </p:spPr>
      </p:pic>
      <p:pic>
        <p:nvPicPr>
          <p:cNvPr id="7" name="Рисунок 6" descr="Вырезка экрана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77" y="1882530"/>
            <a:ext cx="7648952" cy="4643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23118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609600" y="26386"/>
            <a:ext cx="10058400" cy="62706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–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ru-RU" dirty="0"/>
              <a:t>индексирование файлов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2550874"/>
              </p:ext>
            </p:extLst>
          </p:nvPr>
        </p:nvGraphicFramePr>
        <p:xfrm>
          <a:off x="56147" y="653448"/>
          <a:ext cx="12079705" cy="6096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6147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649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71240">
                <a:tc>
                  <a:txBody>
                    <a:bodyPr/>
                    <a:lstStyle/>
                    <a:p>
                      <a:r>
                        <a:rPr lang="en-US" sz="2800" dirty="0" err="1"/>
                        <a:t>git</a:t>
                      </a:r>
                      <a:r>
                        <a:rPr lang="en-US" sz="2800" dirty="0"/>
                        <a:t> add filename</a:t>
                      </a:r>
                      <a:endParaRPr lang="ru-RU" sz="2800" dirty="0"/>
                    </a:p>
                    <a:p>
                      <a:r>
                        <a:rPr lang="en-US" sz="2800" dirty="0"/>
                        <a:t>git add README.md</a:t>
                      </a:r>
                      <a:endParaRPr lang="ru-RU" sz="2800" dirty="0"/>
                    </a:p>
                    <a:p>
                      <a:r>
                        <a:rPr lang="en-US" sz="2800" dirty="0"/>
                        <a:t>git add </a:t>
                      </a:r>
                      <a:r>
                        <a:rPr lang="ru-RU" sz="2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Добавление</a:t>
                      </a:r>
                      <a:r>
                        <a:rPr lang="en-US" sz="2800" b="0" i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файла</a:t>
                      </a:r>
                      <a:r>
                        <a:rPr lang="en-US" sz="2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README.md</a:t>
                      </a:r>
                      <a:r>
                        <a:rPr lang="en-US" sz="2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 </a:t>
                      </a:r>
                      <a:r>
                        <a:rPr lang="ru-RU" sz="2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stage</a:t>
                      </a:r>
                      <a:r>
                        <a:rPr lang="ru-RU" sz="2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(индекс)</a:t>
                      </a:r>
                      <a:r>
                        <a:rPr lang="en-US" sz="2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ru-RU" sz="28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Только </a:t>
                      </a:r>
                      <a:r>
                        <a:rPr lang="ru-RU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новые, измененные и удаленные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файлы в текущей рабочей директории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8955">
                <a:tc>
                  <a:txBody>
                    <a:bodyPr/>
                    <a:lstStyle/>
                    <a:p>
                      <a:r>
                        <a:rPr lang="en-US" sz="2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git</a:t>
                      </a:r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add -A</a:t>
                      </a:r>
                    </a:p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git add --all</a:t>
                      </a:r>
                      <a:endParaRPr lang="ru-RU" sz="2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Добавляем все измененные файлы 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во всем репозитории,  даже файлы, расположенные выше по дереву</a:t>
                      </a:r>
                      <a:endParaRPr lang="ru-RU" sz="24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583">
                <a:tc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git rm --cached &lt;file-path&gt;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/>
                        <a:t>Удалить файл из области индексации </a:t>
                      </a:r>
                      <a:r>
                        <a:rPr lang="ru-RU" sz="2400" dirty="0" err="1"/>
                        <a:t>Git</a:t>
                      </a:r>
                      <a:r>
                        <a:rPr lang="ru-RU" sz="2400" dirty="0"/>
                        <a:t>, </a:t>
                      </a:r>
                      <a:r>
                        <a:rPr lang="ru-RU" sz="1800" dirty="0"/>
                        <a:t>но сохранить локальную копию в рабочей директории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262840"/>
                  </a:ext>
                </a:extLst>
              </a:tr>
              <a:tr h="502583">
                <a:tc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cat fff.txt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/>
                        <a:t>Просмотреть содержимое файла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3667569"/>
                  </a:ext>
                </a:extLst>
              </a:tr>
              <a:tr h="9189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echo</a:t>
                      </a:r>
                      <a:r>
                        <a:rPr lang="ru-RU" sz="2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"</a:t>
                      </a:r>
                      <a:r>
                        <a:rPr lang="ru-RU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Полностью новое содержимое файла</a:t>
                      </a:r>
                      <a:r>
                        <a:rPr lang="ru-RU" sz="2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" &gt; имя_файла.txt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/>
                        <a:t>Перезаписать содержимое файла или создать новый файл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1274930"/>
                  </a:ext>
                </a:extLst>
              </a:tr>
              <a:tr h="10347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echo</a:t>
                      </a:r>
                      <a:r>
                        <a:rPr lang="ru-RU" sz="3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“</a:t>
                      </a:r>
                      <a:r>
                        <a:rPr lang="ru-RU" sz="2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Дописать в конец файла</a:t>
                      </a:r>
                      <a:r>
                        <a:rPr lang="ru-RU" sz="3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" &gt;</a:t>
                      </a:r>
                      <a:r>
                        <a:rPr lang="en-US" sz="3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  <a:r>
                        <a:rPr lang="ru-RU" sz="3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имя_файла.txt</a:t>
                      </a:r>
                      <a:endParaRPr lang="ru-RU" sz="2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/>
                        <a:t>Дописать текст в конец файла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8631085"/>
                  </a:ext>
                </a:extLst>
              </a:tr>
              <a:tr h="4287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touch file.txt</a:t>
                      </a:r>
                      <a:endParaRPr lang="ru-RU" sz="2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/>
                        <a:t>Создать файл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781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422716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609600" y="236538"/>
            <a:ext cx="10058400" cy="62706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–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ru-RU" dirty="0"/>
              <a:t>Создание </a:t>
            </a:r>
            <a:r>
              <a:rPr lang="ru-RU" dirty="0" err="1"/>
              <a:t>коммита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5238241"/>
              </p:ext>
            </p:extLst>
          </p:nvPr>
        </p:nvGraphicFramePr>
        <p:xfrm>
          <a:off x="203200" y="863601"/>
          <a:ext cx="11709400" cy="57912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0779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14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10793">
                <a:tc>
                  <a:txBody>
                    <a:bodyPr/>
                    <a:lstStyle/>
                    <a:p>
                      <a:r>
                        <a:rPr lang="en-US" sz="2800" dirty="0" err="1"/>
                        <a:t>git</a:t>
                      </a:r>
                      <a:r>
                        <a:rPr lang="en-US" sz="2800" dirty="0"/>
                        <a:t> commit -m “message”</a:t>
                      </a:r>
                      <a:endParaRPr lang="ru-RU" sz="2800" dirty="0"/>
                    </a:p>
                    <a:p>
                      <a:r>
                        <a:rPr lang="en-US" sz="2800" dirty="0" err="1"/>
                        <a:t>git</a:t>
                      </a:r>
                      <a:r>
                        <a:rPr lang="en-US" sz="2800" dirty="0"/>
                        <a:t> commit -m "[create repository]"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commit </a:t>
                      </a:r>
                      <a:r>
                        <a:rPr lang="ru-RU" sz="2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отправка в локальный</a:t>
                      </a:r>
                      <a:r>
                        <a:rPr lang="ru-RU" sz="2800" b="0" i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репозиторий</a:t>
                      </a:r>
                      <a:r>
                        <a:rPr lang="ru-RU" sz="2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с описанием в комментарии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678">
                <a:tc>
                  <a:txBody>
                    <a:bodyPr/>
                    <a:lstStyle/>
                    <a:p>
                      <a:r>
                        <a:rPr lang="en-US" sz="2800" b="0" dirty="0" err="1"/>
                        <a:t>git</a:t>
                      </a:r>
                      <a:r>
                        <a:rPr lang="en-US" sz="2800" b="0" dirty="0"/>
                        <a:t> commit </a:t>
                      </a:r>
                      <a:r>
                        <a:rPr lang="ru-RU" sz="2800" b="0" dirty="0"/>
                        <a:t> </a:t>
                      </a:r>
                      <a:r>
                        <a:rPr lang="en-US" sz="2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-c &lt;commit&gt;</a:t>
                      </a:r>
                      <a:endParaRPr lang="ru-RU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Берет описание, и информацию об авторе из переданного </a:t>
                      </a:r>
                      <a:r>
                        <a:rPr lang="ru-RU" sz="2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коммита</a:t>
                      </a:r>
                      <a:r>
                        <a:rPr lang="ru-RU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когда создает новый. Открывает редактор, давая возможность отредактировать описание </a:t>
                      </a:r>
                      <a:r>
                        <a:rPr lang="ru-RU" sz="2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коммита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0793">
                <a:tc>
                  <a:txBody>
                    <a:bodyPr/>
                    <a:lstStyle/>
                    <a:p>
                      <a:r>
                        <a:rPr lang="en-US" sz="2800" dirty="0" err="1"/>
                        <a:t>git</a:t>
                      </a:r>
                      <a:r>
                        <a:rPr lang="en-US" sz="2800" dirty="0"/>
                        <a:t> log</a:t>
                      </a:r>
                      <a:endParaRPr lang="ru-RU" sz="2800" dirty="0"/>
                    </a:p>
                    <a:p>
                      <a:r>
                        <a:rPr lang="en-US" sz="2800" dirty="0" err="1"/>
                        <a:t>git</a:t>
                      </a:r>
                      <a:r>
                        <a:rPr lang="en-US" sz="2800" dirty="0"/>
                        <a:t> log –</a:t>
                      </a:r>
                      <a:r>
                        <a:rPr lang="en-US" sz="2800" dirty="0" err="1"/>
                        <a:t>oneline</a:t>
                      </a:r>
                      <a:endParaRPr lang="ru-RU" sz="2800" dirty="0"/>
                    </a:p>
                    <a:p>
                      <a:r>
                        <a:rPr lang="en-US" sz="2800" dirty="0" err="1"/>
                        <a:t>git</a:t>
                      </a:r>
                      <a:r>
                        <a:rPr lang="en-US" sz="2800" baseline="0" dirty="0"/>
                        <a:t> log -p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Просмотреть</a:t>
                      </a:r>
                      <a:r>
                        <a:rPr lang="ru-RU" sz="2800" b="0" i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список </a:t>
                      </a:r>
                      <a:r>
                        <a:rPr lang="ru-RU" sz="2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коммитов</a:t>
                      </a:r>
                      <a:endParaRPr lang="ru-RU" sz="2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ru-RU" sz="2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Сокращенный</a:t>
                      </a:r>
                      <a:r>
                        <a:rPr lang="ru-RU" sz="2800" b="0" i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вариант</a:t>
                      </a:r>
                      <a:endParaRPr lang="en-US" sz="2800" b="0" i="0" kern="1200" baseline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2800" b="0" i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r>
                        <a:rPr lang="ru-RU" sz="2800" b="0" i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отображением изменений 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079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git commit -a -m "Fix bug in existing code"</a:t>
                      </a:r>
                    </a:p>
                    <a:p>
                      <a:endParaRPr lang="ru-RU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>
                          <a:solidFill>
                            <a:schemeClr val="tx1"/>
                          </a:solidFill>
                        </a:rPr>
                        <a:t>Индексируем все изменения и одновременно создаем из них </a:t>
                      </a:r>
                      <a:r>
                        <a:rPr lang="ru-RU" sz="2800" dirty="0" err="1">
                          <a:solidFill>
                            <a:schemeClr val="tx1"/>
                          </a:solidFill>
                        </a:rPr>
                        <a:t>коммит</a:t>
                      </a:r>
                      <a:endParaRPr lang="ru-RU" sz="2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91373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996802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609600" y="236538"/>
            <a:ext cx="10058400" cy="62706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–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ru-RU" dirty="0"/>
              <a:t>Создание </a:t>
            </a:r>
            <a:r>
              <a:rPr lang="ru-RU" dirty="0" err="1"/>
              <a:t>коммита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3" cstate="print"/>
          <a:srcRect r="53987"/>
          <a:stretch/>
        </p:blipFill>
        <p:spPr>
          <a:xfrm>
            <a:off x="609600" y="863599"/>
            <a:ext cx="9257775" cy="5804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03046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609600" y="236538"/>
            <a:ext cx="10058400" cy="62706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–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ru-RU" dirty="0"/>
              <a:t>Создание </a:t>
            </a:r>
            <a:r>
              <a:rPr lang="ru-RU" dirty="0" err="1"/>
              <a:t>коммита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78" y="881337"/>
            <a:ext cx="10975843" cy="1501413"/>
          </a:xfrm>
          <a:prstGeom prst="rect">
            <a:avLst/>
          </a:prstGeom>
        </p:spPr>
      </p:pic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955" y="2495356"/>
            <a:ext cx="9727992" cy="2145051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609599" y="4753013"/>
            <a:ext cx="980336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252525"/>
                </a:solidFill>
                <a:latin typeface="Roboto"/>
              </a:rPr>
              <a:t>Режим доступа</a:t>
            </a:r>
            <a:r>
              <a:rPr lang="ru-RU" sz="2400" dirty="0">
                <a:solidFill>
                  <a:srgbClr val="252525"/>
                </a:solidFill>
                <a:latin typeface="Roboto"/>
              </a:rPr>
              <a:t> это одно из следующих чисел:</a:t>
            </a:r>
            <a:br>
              <a:rPr lang="ru-RU" sz="2400" dirty="0"/>
            </a:br>
            <a:r>
              <a:rPr lang="ru-RU" sz="2400" dirty="0">
                <a:solidFill>
                  <a:srgbClr val="252525"/>
                </a:solidFill>
                <a:latin typeface="Roboto"/>
              </a:rPr>
              <a:t>1. </a:t>
            </a:r>
            <a:r>
              <a:rPr lang="ru-RU" sz="2400" b="1" dirty="0">
                <a:solidFill>
                  <a:srgbClr val="007C77"/>
                </a:solidFill>
                <a:latin typeface="Roboto"/>
              </a:rPr>
              <a:t>100644 </a:t>
            </a:r>
            <a:r>
              <a:rPr lang="ru-RU" sz="2400" dirty="0">
                <a:solidFill>
                  <a:srgbClr val="252525"/>
                </a:solidFill>
                <a:latin typeface="Roboto"/>
              </a:rPr>
              <a:t>– обычный файл.</a:t>
            </a:r>
            <a:br>
              <a:rPr lang="ru-RU" sz="2400" dirty="0"/>
            </a:br>
            <a:r>
              <a:rPr lang="ru-RU" sz="2400" dirty="0">
                <a:solidFill>
                  <a:srgbClr val="252525"/>
                </a:solidFill>
                <a:latin typeface="Roboto"/>
              </a:rPr>
              <a:t>2. </a:t>
            </a:r>
            <a:r>
              <a:rPr lang="ru-RU" sz="2400" b="1" dirty="0">
                <a:solidFill>
                  <a:srgbClr val="007C77"/>
                </a:solidFill>
                <a:latin typeface="Roboto"/>
              </a:rPr>
              <a:t>100755 </a:t>
            </a:r>
            <a:r>
              <a:rPr lang="ru-RU" sz="2400" dirty="0">
                <a:solidFill>
                  <a:srgbClr val="252525"/>
                </a:solidFill>
                <a:latin typeface="Roboto"/>
              </a:rPr>
              <a:t>– исполняемый файл.</a:t>
            </a:r>
            <a:br>
              <a:rPr lang="ru-RU" sz="2400" dirty="0"/>
            </a:br>
            <a:r>
              <a:rPr lang="ru-RU" sz="2400" dirty="0">
                <a:solidFill>
                  <a:srgbClr val="252525"/>
                </a:solidFill>
                <a:latin typeface="Roboto"/>
              </a:rPr>
              <a:t>3. </a:t>
            </a:r>
            <a:r>
              <a:rPr lang="ru-RU" sz="2400" b="1" dirty="0">
                <a:solidFill>
                  <a:srgbClr val="007C77"/>
                </a:solidFill>
                <a:latin typeface="Roboto"/>
              </a:rPr>
              <a:t>120000 </a:t>
            </a:r>
            <a:r>
              <a:rPr lang="ru-RU" sz="2400" dirty="0">
                <a:solidFill>
                  <a:srgbClr val="252525"/>
                </a:solidFill>
                <a:latin typeface="Roboto"/>
              </a:rPr>
              <a:t>– символическая ссылка (напр. </a:t>
            </a:r>
            <a:r>
              <a:rPr lang="ru-RU" sz="2400" b="1" dirty="0">
                <a:solidFill>
                  <a:srgbClr val="007C77"/>
                </a:solidFill>
                <a:latin typeface="Roboto"/>
              </a:rPr>
              <a:t>HEAD</a:t>
            </a:r>
            <a:r>
              <a:rPr lang="ru-RU" sz="2400" dirty="0">
                <a:solidFill>
                  <a:srgbClr val="252525"/>
                </a:solidFill>
                <a:latin typeface="Roboto"/>
              </a:rPr>
              <a:t>).</a:t>
            </a:r>
            <a:endParaRPr lang="ru-RU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EF8683-0E6D-C16B-1190-3AF7E7EB7DD2}"/>
              </a:ext>
            </a:extLst>
          </p:cNvPr>
          <p:cNvSpPr txBox="1"/>
          <p:nvPr/>
        </p:nvSpPr>
        <p:spPr>
          <a:xfrm>
            <a:off x="2916195" y="1347734"/>
            <a:ext cx="8971005" cy="568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lnSpc>
                <a:spcPts val="1650"/>
              </a:lnSpc>
            </a:pPr>
            <a:r>
              <a:rPr lang="en-US" sz="2800" b="0" dirty="0">
                <a:solidFill>
                  <a:srgbClr val="4078F2"/>
                </a:solidFill>
                <a:effectLst/>
                <a:latin typeface="Menlo"/>
              </a:rPr>
              <a:t>git</a:t>
            </a:r>
            <a:r>
              <a:rPr lang="en-US" sz="2800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2800" dirty="0">
                <a:solidFill>
                  <a:srgbClr val="4078F2"/>
                </a:solidFill>
                <a:latin typeface="Menlo"/>
              </a:rPr>
              <a:t>ls-files - -</a:t>
            </a:r>
            <a:r>
              <a:rPr lang="en-US" sz="2800" b="0" dirty="0">
                <a:solidFill>
                  <a:srgbClr val="4078F2"/>
                </a:solidFill>
                <a:effectLst/>
                <a:latin typeface="Menlo"/>
              </a:rPr>
              <a:t>stage - </a:t>
            </a:r>
            <a:r>
              <a:rPr lang="ru-RU" sz="2800" dirty="0"/>
              <a:t>увидеть содержимое файла </a:t>
            </a:r>
            <a:r>
              <a:rPr lang="en-US" sz="2800" b="1" dirty="0"/>
              <a:t>.git/index</a:t>
            </a:r>
          </a:p>
          <a:p>
            <a:pPr latinLnBrk="1">
              <a:lnSpc>
                <a:spcPts val="1650"/>
              </a:lnSpc>
            </a:pPr>
            <a:endParaRPr lang="en-US" sz="2800" b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327937218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80" y="312003"/>
            <a:ext cx="11353800" cy="881797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5084688"/>
              </p:ext>
            </p:extLst>
          </p:nvPr>
        </p:nvGraphicFramePr>
        <p:xfrm>
          <a:off x="449578" y="1990906"/>
          <a:ext cx="11080782" cy="31699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7265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5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800" dirty="0" err="1"/>
                        <a:t>git</a:t>
                      </a:r>
                      <a:r>
                        <a:rPr lang="ru-RU" sz="2800" dirty="0"/>
                        <a:t> </a:t>
                      </a:r>
                      <a:r>
                        <a:rPr lang="ru-RU" sz="2800" dirty="0" err="1"/>
                        <a:t>remote</a:t>
                      </a:r>
                      <a:r>
                        <a:rPr lang="ru-RU" sz="2800" dirty="0"/>
                        <a:t> </a:t>
                      </a:r>
                      <a:r>
                        <a:rPr lang="ru-RU" sz="2800" dirty="0" err="1"/>
                        <a:t>add</a:t>
                      </a:r>
                      <a:r>
                        <a:rPr lang="ru-RU" sz="2800" dirty="0"/>
                        <a:t> </a:t>
                      </a:r>
                      <a:r>
                        <a:rPr lang="ru-RU" sz="2800" dirty="0" err="1"/>
                        <a:t>origin</a:t>
                      </a:r>
                      <a:r>
                        <a:rPr lang="en-US" sz="2800" dirty="0"/>
                        <a:t> </a:t>
                      </a:r>
                      <a:r>
                        <a:rPr lang="ru-RU" sz="2400" dirty="0"/>
                        <a:t>&lt;адрес.</a:t>
                      </a:r>
                      <a:r>
                        <a:rPr lang="en-US" sz="2400" dirty="0"/>
                        <a:t> </a:t>
                      </a:r>
                      <a:r>
                        <a:rPr lang="ru-RU" sz="2400" dirty="0"/>
                        <a:t>удаленного.</a:t>
                      </a:r>
                      <a:r>
                        <a:rPr lang="en-US" sz="2400" dirty="0"/>
                        <a:t> </a:t>
                      </a:r>
                      <a:r>
                        <a:rPr lang="ru-RU" sz="2400" dirty="0"/>
                        <a:t>сервера&gt;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/>
                        <a:t>подключить локальный </a:t>
                      </a:r>
                      <a:r>
                        <a:rPr lang="ru-RU" sz="2800" dirty="0" err="1"/>
                        <a:t>репозиторий</a:t>
                      </a:r>
                      <a:r>
                        <a:rPr lang="ru-RU" sz="2800" dirty="0"/>
                        <a:t> к удаленному серверу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800" dirty="0" err="1"/>
                        <a:t>git</a:t>
                      </a:r>
                      <a:r>
                        <a:rPr lang="ru-RU" sz="2800" dirty="0"/>
                        <a:t> </a:t>
                      </a:r>
                      <a:r>
                        <a:rPr lang="ru-RU" sz="2800" dirty="0" err="1"/>
                        <a:t>remote</a:t>
                      </a:r>
                      <a:r>
                        <a:rPr lang="ru-RU" sz="2800" dirty="0"/>
                        <a:t> -v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/>
                        <a:t>список удаленных </a:t>
                      </a:r>
                      <a:r>
                        <a:rPr lang="ru-RU" sz="2800" dirty="0" err="1"/>
                        <a:t>репозиториев</a:t>
                      </a:r>
                      <a:r>
                        <a:rPr lang="ru-RU" sz="2800" dirty="0"/>
                        <a:t>, настроенных в данный момент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403797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609600" y="236538"/>
            <a:ext cx="10058400" cy="62706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09600" y="863601"/>
            <a:ext cx="10191386" cy="605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81180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609600" y="236538"/>
            <a:ext cx="10058400" cy="62706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–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ru-RU" dirty="0"/>
              <a:t>Создание </a:t>
            </a:r>
            <a:r>
              <a:rPr lang="ru-RU" dirty="0" err="1"/>
              <a:t>коммита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2633806"/>
              </p:ext>
            </p:extLst>
          </p:nvPr>
        </p:nvGraphicFramePr>
        <p:xfrm>
          <a:off x="180897" y="863600"/>
          <a:ext cx="11709400" cy="526995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4309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84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47010">
                <a:tc>
                  <a:txBody>
                    <a:bodyPr/>
                    <a:lstStyle/>
                    <a:p>
                      <a:r>
                        <a:rPr lang="en-US" sz="32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git</a:t>
                      </a:r>
                      <a:r>
                        <a:rPr lang="en-US" sz="3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push</a:t>
                      </a:r>
                      <a:endParaRPr lang="ru-RU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попытка запушить изменения. Не сработало, так как у</a:t>
                      </a:r>
                    </a:p>
                    <a:p>
                      <a:r>
                        <a:rPr lang="ru-RU" sz="2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текущей локальной ветки не настроена удаленная ветка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0412">
                <a:tc>
                  <a:txBody>
                    <a:bodyPr/>
                    <a:lstStyle/>
                    <a:p>
                      <a:r>
                        <a:rPr lang="en-US" sz="32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git</a:t>
                      </a:r>
                      <a:r>
                        <a:rPr lang="en-US" sz="3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push --set-upstream origin master</a:t>
                      </a:r>
                      <a:endParaRPr lang="ru-RU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установка удаленной ветки для</a:t>
                      </a:r>
                    </a:p>
                    <a:p>
                      <a:r>
                        <a:rPr lang="ru-RU" sz="2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текущей локальной</a:t>
                      </a:r>
                      <a:r>
                        <a:rPr lang="en-US" sz="2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(master –</a:t>
                      </a:r>
                      <a:r>
                        <a:rPr lang="ru-RU" sz="2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имя ветки</a:t>
                      </a:r>
                      <a:r>
                        <a:rPr lang="en-US" sz="2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3237">
                <a:tc>
                  <a:txBody>
                    <a:bodyPr/>
                    <a:lstStyle/>
                    <a:p>
                      <a:r>
                        <a:rPr lang="en-US" sz="3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git</a:t>
                      </a:r>
                      <a:r>
                        <a:rPr lang="en-US" sz="3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3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rm</a:t>
                      </a:r>
                      <a:r>
                        <a:rPr lang="en-US" sz="3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3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dirname</a:t>
                      </a:r>
                      <a:r>
                        <a:rPr lang="en-US" sz="3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/somefile.js</a:t>
                      </a:r>
                      <a:endParaRPr lang="ru-RU" sz="3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3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git</a:t>
                      </a:r>
                      <a:r>
                        <a:rPr lang="en-US" sz="3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3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rm</a:t>
                      </a:r>
                      <a:r>
                        <a:rPr lang="en-US" sz="3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3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dirname</a:t>
                      </a:r>
                      <a:r>
                        <a:rPr lang="en-US" sz="3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/*.html</a:t>
                      </a:r>
                      <a:endParaRPr lang="ru-RU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/>
                        <a:t>Удалит</a:t>
                      </a:r>
                      <a:r>
                        <a:rPr lang="ru-RU" sz="2800" baseline="0" dirty="0"/>
                        <a:t>ь файлы из текущего рабочего дерева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33237">
                <a:tc>
                  <a:txBody>
                    <a:bodyPr/>
                    <a:lstStyle/>
                    <a:p>
                      <a:r>
                        <a:rPr lang="en-US" sz="3200" dirty="0">
                          <a:effectLst/>
                        </a:rPr>
                        <a:t>ls -la</a:t>
                      </a:r>
                      <a:endParaRPr lang="ru-RU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/>
                        <a:t>Просмотреть</a:t>
                      </a:r>
                      <a:r>
                        <a:rPr lang="ru-RU" sz="2800" baseline="0" dirty="0"/>
                        <a:t> содержимое каталога с </a:t>
                      </a:r>
                      <a:r>
                        <a:rPr lang="ru-RU" sz="2800" baseline="0" dirty="0" err="1"/>
                        <a:t>репозиторием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57219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609600" y="236538"/>
            <a:ext cx="10058400" cy="62706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–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ru-RU" dirty="0"/>
              <a:t>Создание </a:t>
            </a:r>
            <a:r>
              <a:rPr lang="ru-RU" dirty="0" err="1"/>
              <a:t>коммита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500" y="863600"/>
            <a:ext cx="8794594" cy="2556346"/>
          </a:xfrm>
          <a:prstGeom prst="rect">
            <a:avLst/>
          </a:prstGeom>
        </p:spPr>
      </p:pic>
      <p:pic>
        <p:nvPicPr>
          <p:cNvPr id="6" name="Рисунок 5" descr="Вырезка экрана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500" y="3943169"/>
            <a:ext cx="8794594" cy="2391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42881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73417" y="480122"/>
            <a:ext cx="11552265" cy="553997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</a:pP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+mn-lt"/>
              </a:rPr>
              <a:t>Устранить</a:t>
            </a:r>
            <a:r>
              <a:rPr kumimoji="0" lang="ru-RU" altLang="ru-RU" sz="3200" b="0" i="0" u="none" strike="noStrike" cap="none" normalizeH="0" dirty="0">
                <a:ln>
                  <a:noFill/>
                </a:ln>
                <a:solidFill>
                  <a:srgbClr val="232629"/>
                </a:solidFill>
                <a:effectLst/>
                <a:latin typeface="+mn-lt"/>
              </a:rPr>
              <a:t> ошибку:</a:t>
            </a:r>
            <a:endParaRPr kumimoji="0" lang="ru-RU" altLang="ru-RU" sz="3200" b="0" i="0" u="none" strike="noStrike" cap="none" normalizeH="0" baseline="0" dirty="0">
              <a:ln>
                <a:noFill/>
              </a:ln>
              <a:solidFill>
                <a:srgbClr val="232629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</a:pP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+mn-lt"/>
              </a:rPr>
              <a:t> </a:t>
            </a:r>
            <a:r>
              <a:rPr kumimoji="0" lang="ru-RU" altLang="ru-RU" sz="3200" b="0" i="1" u="none" strike="noStrike" cap="none" normalizeH="0" baseline="0" dirty="0" err="1">
                <a:ln>
                  <a:noFill/>
                </a:ln>
                <a:solidFill>
                  <a:srgbClr val="232629"/>
                </a:solidFill>
                <a:effectLst/>
                <a:latin typeface="+mn-lt"/>
              </a:rPr>
              <a:t>git</a:t>
            </a:r>
            <a:r>
              <a:rPr kumimoji="0" lang="ru-RU" altLang="ru-RU" sz="3200" b="0" i="1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+mn-lt"/>
              </a:rPr>
              <a:t> </a:t>
            </a:r>
            <a:r>
              <a:rPr kumimoji="0" lang="ru-RU" altLang="ru-RU" sz="3200" b="0" i="1" u="none" strike="noStrike" cap="none" normalizeH="0" baseline="0" dirty="0" err="1">
                <a:ln>
                  <a:noFill/>
                </a:ln>
                <a:solidFill>
                  <a:srgbClr val="232629"/>
                </a:solidFill>
                <a:effectLst/>
                <a:latin typeface="+mn-lt"/>
              </a:rPr>
              <a:t>config</a:t>
            </a:r>
            <a:r>
              <a:rPr kumimoji="0" lang="ru-RU" altLang="ru-RU" sz="3200" b="0" i="1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+mn-lt"/>
              </a:rPr>
              <a:t> -l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+mn-lt"/>
              </a:rPr>
              <a:t> </a:t>
            </a:r>
          </a:p>
          <a:p>
            <a:pPr lvl="0">
              <a:spcAft>
                <a:spcPts val="1200"/>
              </a:spcAft>
            </a:pPr>
            <a:r>
              <a:rPr lang="ru-RU" altLang="ru-RU" sz="3200" dirty="0">
                <a:solidFill>
                  <a:srgbClr val="232629"/>
                </a:solidFill>
              </a:rPr>
              <a:t>если 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+mn-lt"/>
              </a:rPr>
              <a:t>результат выполнения команды:</a:t>
            </a:r>
            <a:b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+mn-lt"/>
                <a:hlinkClick r:id="rId3"/>
              </a:rPr>
              <a:t>remote.origin.url=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rgbClr val="232629"/>
                </a:solidFill>
                <a:effectLst/>
                <a:latin typeface="+mn-lt"/>
                <a:hlinkClick r:id="rId3"/>
              </a:rPr>
              <a:t>git@github.com:</a:t>
            </a:r>
            <a:r>
              <a:rPr kumimoji="0" lang="ru-RU" altLang="ru-RU" sz="3200" b="0" i="1" u="none" strike="noStrike" cap="none" normalizeH="0" baseline="0" dirty="0" err="1">
                <a:ln>
                  <a:noFill/>
                </a:ln>
                <a:solidFill>
                  <a:srgbClr val="232629"/>
                </a:solidFill>
                <a:effectLst/>
                <a:latin typeface="+mn-lt"/>
                <a:hlinkClick r:id="rId3"/>
              </a:rPr>
              <a:t>login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+mn-lt"/>
                <a:hlinkClick r:id="rId3"/>
              </a:rPr>
              <a:t>/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rgbClr val="232629"/>
                </a:solidFill>
                <a:effectLst/>
                <a:latin typeface="+mn-lt"/>
                <a:hlinkClick r:id="rId3"/>
              </a:rPr>
              <a:t>репозиторий</a:t>
            </a:r>
            <a:endParaRPr kumimoji="0" lang="ru-RU" altLang="ru-RU" sz="3200" b="0" i="0" u="none" strike="noStrike" cap="none" normalizeH="0" baseline="0" dirty="0">
              <a:ln>
                <a:noFill/>
              </a:ln>
              <a:solidFill>
                <a:srgbClr val="232629"/>
              </a:solidFill>
              <a:effectLst/>
              <a:latin typeface="+mn-lt"/>
            </a:endParaRPr>
          </a:p>
          <a:p>
            <a:pPr lvl="0">
              <a:spcAft>
                <a:spcPts val="1200"/>
              </a:spcAft>
            </a:pPr>
            <a:b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то 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+mn-lt"/>
              </a:rPr>
              <a:t>нужно изменить адрес таким способом:</a:t>
            </a:r>
            <a:b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rgbClr val="232629"/>
                </a:solidFill>
                <a:effectLst/>
                <a:latin typeface="+mn-lt"/>
              </a:rPr>
              <a:t>git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+mn-lt"/>
              </a:rPr>
              <a:t> </a:t>
            </a:r>
            <a:r>
              <a:rPr kumimoji="0" lang="ru-RU" altLang="ru-RU" sz="3200" b="0" i="0" u="none" strike="noStrike" cap="none" normalizeH="0" baseline="0" dirty="0" err="1">
                <a:ln>
                  <a:noFill/>
                </a:ln>
                <a:solidFill>
                  <a:srgbClr val="232629"/>
                </a:solidFill>
                <a:effectLst/>
                <a:latin typeface="+mn-lt"/>
              </a:rPr>
              <a:t>config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+mn-lt"/>
              </a:rPr>
              <a:t> remote.origin.url https://github.com/_login_/репозиторий</a:t>
            </a:r>
            <a:b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+mn-lt"/>
              </a:rPr>
              <a:t>после этого выполнить команду </a:t>
            </a:r>
            <a:r>
              <a:rPr kumimoji="0" lang="ru-RU" altLang="ru-RU" sz="3200" b="1" i="0" u="none" strike="noStrike" cap="none" normalizeH="0" baseline="0" dirty="0" err="1">
                <a:ln>
                  <a:noFill/>
                </a:ln>
                <a:solidFill>
                  <a:srgbClr val="232629"/>
                </a:solidFill>
                <a:effectLst/>
                <a:latin typeface="+mn-lt"/>
              </a:rPr>
              <a:t>git</a:t>
            </a:r>
            <a:r>
              <a:rPr kumimoji="0" lang="ru-RU" altLang="ru-RU" sz="3200" b="1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+mn-lt"/>
              </a:rPr>
              <a:t> </a:t>
            </a:r>
            <a:r>
              <a:rPr kumimoji="0" lang="ru-RU" altLang="ru-RU" sz="3200" b="1" i="0" u="none" strike="noStrike" cap="none" normalizeH="0" baseline="0" dirty="0" err="1">
                <a:ln>
                  <a:noFill/>
                </a:ln>
                <a:solidFill>
                  <a:srgbClr val="232629"/>
                </a:solidFill>
                <a:effectLst/>
                <a:latin typeface="+mn-lt"/>
              </a:rPr>
              <a:t>push</a:t>
            </a:r>
            <a:r>
              <a:rPr kumimoji="0" lang="ru-RU" altLang="ru-RU" sz="3200" b="1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+mn-lt"/>
              </a:rPr>
              <a:t> -u -f </a:t>
            </a:r>
            <a:r>
              <a:rPr kumimoji="0" lang="ru-RU" altLang="ru-RU" sz="3200" b="1" i="0" u="none" strike="noStrike" cap="none" normalizeH="0" baseline="0" dirty="0" err="1">
                <a:ln>
                  <a:noFill/>
                </a:ln>
                <a:solidFill>
                  <a:srgbClr val="232629"/>
                </a:solidFill>
                <a:effectLst/>
                <a:latin typeface="+mn-lt"/>
              </a:rPr>
              <a:t>origin</a:t>
            </a:r>
            <a:r>
              <a:rPr kumimoji="0" lang="ru-RU" altLang="ru-RU" sz="3200" b="1" i="0" u="none" strike="noStrike" cap="none" normalizeH="0" baseline="0" dirty="0">
                <a:ln>
                  <a:noFill/>
                </a:ln>
                <a:solidFill>
                  <a:srgbClr val="232629"/>
                </a:solidFill>
                <a:effectLst/>
                <a:latin typeface="+mn-lt"/>
              </a:rPr>
              <a:t> </a:t>
            </a:r>
            <a:r>
              <a:rPr kumimoji="0" lang="ru-RU" altLang="ru-RU" sz="3200" b="1" i="0" u="none" strike="noStrike" cap="none" normalizeH="0" baseline="0" dirty="0" err="1">
                <a:ln>
                  <a:noFill/>
                </a:ln>
                <a:solidFill>
                  <a:srgbClr val="232629"/>
                </a:solidFill>
                <a:effectLst/>
                <a:latin typeface="+mn-lt"/>
              </a:rPr>
              <a:t>master</a:t>
            </a:r>
            <a:r>
              <a:rPr kumimoji="0" lang="ru-RU" altLang="ru-RU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  <a:endParaRPr kumimoji="0" lang="en-US" altLang="ru-RU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r>
              <a:rPr lang="ru-RU" sz="3200" dirty="0">
                <a:latin typeface="+mn-lt"/>
              </a:rPr>
              <a:t>изменить </a:t>
            </a:r>
            <a:r>
              <a:rPr lang="en-US" sz="3200" i="1" dirty="0" err="1">
                <a:latin typeface="+mn-lt"/>
              </a:rPr>
              <a:t>url</a:t>
            </a:r>
            <a:r>
              <a:rPr lang="en-US" sz="3200" dirty="0">
                <a:latin typeface="+mn-lt"/>
              </a:rPr>
              <a:t> </a:t>
            </a:r>
            <a:r>
              <a:rPr lang="ru-RU" sz="3200" dirty="0">
                <a:latin typeface="+mn-lt"/>
              </a:rPr>
              <a:t>удалённого </a:t>
            </a:r>
            <a:r>
              <a:rPr lang="ru-RU" sz="3200" dirty="0" err="1">
                <a:latin typeface="+mn-lt"/>
              </a:rPr>
              <a:t>репозитория</a:t>
            </a:r>
            <a:r>
              <a:rPr lang="ru-RU" sz="3200" dirty="0">
                <a:latin typeface="+mn-lt"/>
              </a:rPr>
              <a:t> </a:t>
            </a:r>
            <a:r>
              <a:rPr lang="en-US" sz="3200" dirty="0">
                <a:latin typeface="+mn-lt"/>
              </a:rPr>
              <a:t>:</a:t>
            </a:r>
          </a:p>
          <a:p>
            <a:r>
              <a:rPr lang="en-US" sz="3200" dirty="0">
                <a:latin typeface="+mn-lt"/>
              </a:rPr>
              <a:t>$ </a:t>
            </a:r>
            <a:r>
              <a:rPr lang="en-US" sz="3200" dirty="0" err="1">
                <a:latin typeface="+mn-lt"/>
              </a:rPr>
              <a:t>git</a:t>
            </a:r>
            <a:r>
              <a:rPr lang="en-US" sz="3200" dirty="0">
                <a:latin typeface="+mn-lt"/>
              </a:rPr>
              <a:t> remote set-</a:t>
            </a:r>
            <a:r>
              <a:rPr lang="en-US" sz="3200" dirty="0" err="1">
                <a:latin typeface="+mn-lt"/>
              </a:rPr>
              <a:t>url</a:t>
            </a:r>
            <a:r>
              <a:rPr lang="en-US" sz="3200" dirty="0">
                <a:latin typeface="+mn-lt"/>
              </a:rPr>
              <a:t> origin </a:t>
            </a:r>
            <a:r>
              <a:rPr lang="en-US" sz="3200" dirty="0" err="1">
                <a:latin typeface="+mn-lt"/>
              </a:rPr>
              <a:t>url</a:t>
            </a:r>
            <a:r>
              <a:rPr lang="en-US" sz="3200" dirty="0">
                <a:latin typeface="+mn-lt"/>
              </a:rPr>
              <a:t>-</a:t>
            </a:r>
            <a:r>
              <a:rPr lang="ru-RU" sz="3200" dirty="0">
                <a:latin typeface="+mn-lt"/>
              </a:rPr>
              <a:t>нового-</a:t>
            </a:r>
            <a:r>
              <a:rPr lang="ru-RU" sz="3200" dirty="0" err="1">
                <a:latin typeface="+mn-lt"/>
              </a:rPr>
              <a:t>репозитория</a:t>
            </a:r>
            <a:endParaRPr kumimoji="0" lang="ru-RU" altLang="ru-RU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5016703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609600" y="236538"/>
            <a:ext cx="10058400" cy="62706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–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ru-RU" dirty="0"/>
              <a:t>Создание </a:t>
            </a:r>
            <a:r>
              <a:rPr lang="ru-RU" dirty="0" err="1"/>
              <a:t>коммита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06252"/>
            <a:ext cx="11968970" cy="4672968"/>
          </a:xfrm>
          <a:prstGeom prst="rect">
            <a:avLst/>
          </a:prstGeom>
        </p:spPr>
      </p:pic>
      <p:pic>
        <p:nvPicPr>
          <p:cNvPr id="5" name="Рисунок 4" descr="Вырезка экрана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81229"/>
            <a:ext cx="8408020" cy="807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46501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609600" y="236538"/>
            <a:ext cx="10058400" cy="62706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–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ru-RU" dirty="0"/>
              <a:t>Создание </a:t>
            </a:r>
            <a:r>
              <a:rPr lang="ru-RU" dirty="0" err="1"/>
              <a:t>коммита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210" y="1596647"/>
            <a:ext cx="5292566" cy="3655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64387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80" y="312003"/>
            <a:ext cx="11353800" cy="881797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– </a:t>
            </a:r>
            <a:r>
              <a:rPr lang="ru-RU" dirty="0"/>
              <a:t> Ветвление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449580" y="1764102"/>
            <a:ext cx="113538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/>
              <a:t>Ветка в </a:t>
            </a:r>
            <a:r>
              <a:rPr lang="ru-RU" sz="3200" dirty="0" err="1"/>
              <a:t>Git</a:t>
            </a:r>
            <a:r>
              <a:rPr lang="ru-RU" sz="3200" dirty="0"/>
              <a:t>:</a:t>
            </a:r>
          </a:p>
          <a:p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/>
              <a:t>последовательность </a:t>
            </a:r>
            <a:r>
              <a:rPr lang="ru-RU" sz="3200" dirty="0" err="1"/>
              <a:t>коммитов</a:t>
            </a:r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/>
              <a:t>ссылка на последний </a:t>
            </a:r>
            <a:r>
              <a:rPr lang="ru-RU" sz="3200" dirty="0" err="1"/>
              <a:t>коммит</a:t>
            </a:r>
            <a:r>
              <a:rPr lang="ru-RU" sz="3200" dirty="0"/>
              <a:t> в этой ветке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/>
              <a:t>перемещаемый указатель(ссылка) на один из </a:t>
            </a:r>
            <a:r>
              <a:rPr lang="ru-RU" sz="3200" dirty="0" err="1"/>
              <a:t>коммитов</a:t>
            </a:r>
            <a:r>
              <a:rPr lang="ru-RU" sz="3200" dirty="0"/>
              <a:t>. </a:t>
            </a:r>
          </a:p>
          <a:p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30275763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80" y="312003"/>
            <a:ext cx="11353800" cy="881797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– </a:t>
            </a:r>
            <a:r>
              <a:rPr lang="ru-RU" dirty="0"/>
              <a:t> Ветвление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52915"/>
            <a:ext cx="5902638" cy="3913403"/>
          </a:xfrm>
          <a:prstGeom prst="rect">
            <a:avLst/>
          </a:prstGeom>
        </p:spPr>
      </p:pic>
      <p:pic>
        <p:nvPicPr>
          <p:cNvPr id="5" name="Рисунок 4" descr="Вырезка экрана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2638" y="1852914"/>
            <a:ext cx="6252183" cy="3913403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0" y="5912408"/>
            <a:ext cx="1196184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252525"/>
                </a:solidFill>
                <a:latin typeface="Roboto"/>
              </a:rPr>
              <a:t>ветка-ссылка указывает на </a:t>
            </a:r>
            <a:r>
              <a:rPr lang="ru-RU" dirty="0" err="1">
                <a:solidFill>
                  <a:srgbClr val="252525"/>
                </a:solidFill>
                <a:latin typeface="Roboto"/>
              </a:rPr>
              <a:t>коммит</a:t>
            </a:r>
            <a:r>
              <a:rPr lang="ru-RU" dirty="0">
                <a:solidFill>
                  <a:srgbClr val="252525"/>
                </a:solidFill>
                <a:latin typeface="Roboto"/>
              </a:rPr>
              <a:t>, который является последним в "потоке" </a:t>
            </a:r>
            <a:r>
              <a:rPr lang="ru-RU" dirty="0" err="1">
                <a:solidFill>
                  <a:srgbClr val="252525"/>
                </a:solidFill>
                <a:latin typeface="Roboto"/>
              </a:rPr>
              <a:t>коммитов</a:t>
            </a:r>
            <a:r>
              <a:rPr lang="ru-RU" dirty="0">
                <a:solidFill>
                  <a:srgbClr val="252525"/>
                </a:solidFill>
                <a:latin typeface="Roboto"/>
              </a:rPr>
              <a:t> в данной ветке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2993897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80" y="312003"/>
            <a:ext cx="11353800" cy="881797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– </a:t>
            </a:r>
            <a:r>
              <a:rPr lang="ru-RU" dirty="0"/>
              <a:t> Ветвление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449580" y="1764102"/>
            <a:ext cx="113538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 err="1"/>
              <a:t>Git</a:t>
            </a:r>
            <a:r>
              <a:rPr lang="ru-RU" sz="3200" dirty="0"/>
              <a:t> хранит специальный указатель </a:t>
            </a:r>
            <a:r>
              <a:rPr lang="ru-RU" sz="3200" b="1" dirty="0"/>
              <a:t>HEAD</a:t>
            </a:r>
            <a:r>
              <a:rPr lang="ru-RU" sz="3200" dirty="0"/>
              <a:t> (указатель на текущую локальную ветку, на </a:t>
            </a:r>
            <a:r>
              <a:rPr lang="ru-RU" sz="3200" dirty="0" err="1"/>
              <a:t>коммит</a:t>
            </a:r>
            <a:r>
              <a:rPr lang="ru-RU" sz="3200" dirty="0"/>
              <a:t> из которого загружаются файлы).</a:t>
            </a:r>
          </a:p>
          <a:p>
            <a:endParaRPr lang="ru-RU" sz="3200" dirty="0"/>
          </a:p>
          <a:p>
            <a:r>
              <a:rPr lang="ru-RU" sz="3200" b="1" dirty="0"/>
              <a:t>ORIG_HEAD</a:t>
            </a:r>
            <a:r>
              <a:rPr lang="ru-RU" sz="3200" dirty="0"/>
              <a:t> – указатель, который появляется при передвижении </a:t>
            </a:r>
            <a:r>
              <a:rPr lang="ru-RU" sz="3200" b="1" dirty="0"/>
              <a:t>HEAD </a:t>
            </a:r>
            <a:r>
              <a:rPr lang="ru-RU" sz="3200" dirty="0"/>
              <a:t>вручную на НЕ последний </a:t>
            </a:r>
            <a:r>
              <a:rPr lang="ru-RU" sz="3200" dirty="0" err="1"/>
              <a:t>коммит</a:t>
            </a:r>
            <a:r>
              <a:rPr lang="ru-RU" sz="3200" dirty="0"/>
              <a:t>. </a:t>
            </a:r>
            <a:r>
              <a:rPr lang="ru-RU" sz="3200" b="1" dirty="0"/>
              <a:t>ORIG_HEAD</a:t>
            </a:r>
            <a:r>
              <a:rPr lang="ru-RU" sz="3200" dirty="0"/>
              <a:t> указывает на тот же </a:t>
            </a:r>
            <a:r>
              <a:rPr lang="ru-RU" sz="3200" dirty="0" err="1"/>
              <a:t>коммит</a:t>
            </a:r>
            <a:r>
              <a:rPr lang="ru-RU" sz="3200" dirty="0"/>
              <a:t>, на который указывал </a:t>
            </a:r>
            <a:r>
              <a:rPr lang="ru-RU" sz="3200" b="1" dirty="0"/>
              <a:t>HEAD </a:t>
            </a:r>
            <a:r>
              <a:rPr lang="ru-RU" sz="3200" dirty="0"/>
              <a:t>до передвижения назад. Нужен он, чтобы мы имели возможность вернуться на хронологически последний </a:t>
            </a:r>
            <a:r>
              <a:rPr lang="ru-RU" sz="3200" dirty="0" err="1"/>
              <a:t>коммит</a:t>
            </a:r>
            <a:r>
              <a:rPr lang="ru-RU" sz="3200" dirty="0"/>
              <a:t> без существенных затрат</a:t>
            </a:r>
          </a:p>
        </p:txBody>
      </p:sp>
    </p:spTree>
    <p:extLst>
      <p:ext uri="{BB962C8B-B14F-4D97-AF65-F5344CB8AC3E}">
        <p14:creationId xmlns:p14="http://schemas.microsoft.com/office/powerpoint/2010/main" val="33441985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80" y="312003"/>
            <a:ext cx="11353800" cy="881797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– </a:t>
            </a:r>
            <a:r>
              <a:rPr lang="ru-RU" dirty="0"/>
              <a:t> Ветвление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765" y="1326083"/>
            <a:ext cx="11272036" cy="4122994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232765" y="5749311"/>
            <a:ext cx="11353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err="1">
                <a:solidFill>
                  <a:srgbClr val="007C77"/>
                </a:solidFill>
                <a:latin typeface="Roboto"/>
              </a:rPr>
              <a:t>main</a:t>
            </a:r>
            <a:r>
              <a:rPr lang="ru-RU" b="1" dirty="0">
                <a:solidFill>
                  <a:srgbClr val="007C77"/>
                </a:solidFill>
                <a:latin typeface="Roboto"/>
              </a:rPr>
              <a:t> </a:t>
            </a:r>
            <a:r>
              <a:rPr lang="ru-RU" dirty="0">
                <a:solidFill>
                  <a:srgbClr val="252525"/>
                </a:solidFill>
                <a:latin typeface="Roboto"/>
              </a:rPr>
              <a:t>– ветка по умолчанию и в то же время указатель на </a:t>
            </a:r>
            <a:r>
              <a:rPr lang="ru-RU" dirty="0" err="1">
                <a:solidFill>
                  <a:srgbClr val="252525"/>
                </a:solidFill>
                <a:latin typeface="Roboto"/>
              </a:rPr>
              <a:t>коммит</a:t>
            </a:r>
            <a:r>
              <a:rPr lang="ru-RU" dirty="0">
                <a:solidFill>
                  <a:srgbClr val="252525"/>
                </a:solidFill>
                <a:latin typeface="Roboto"/>
              </a:rPr>
              <a:t> </a:t>
            </a:r>
            <a:r>
              <a:rPr lang="ru-RU" b="1" dirty="0">
                <a:solidFill>
                  <a:srgbClr val="007C77"/>
                </a:solidFill>
                <a:latin typeface="Roboto"/>
              </a:rPr>
              <a:t>62aa</a:t>
            </a:r>
            <a:r>
              <a:rPr lang="ru-RU" dirty="0">
                <a:solidFill>
                  <a:srgbClr val="252525"/>
                </a:solidFill>
                <a:latin typeface="Roboto"/>
              </a:rPr>
              <a:t>, а </a:t>
            </a:r>
            <a:r>
              <a:rPr lang="ru-RU" b="1" dirty="0">
                <a:solidFill>
                  <a:srgbClr val="007C77"/>
                </a:solidFill>
                <a:latin typeface="Roboto"/>
              </a:rPr>
              <a:t>HEAD </a:t>
            </a:r>
            <a:r>
              <a:rPr lang="ru-RU" dirty="0">
                <a:solidFill>
                  <a:srgbClr val="252525"/>
                </a:solidFill>
                <a:latin typeface="Roboto"/>
              </a:rPr>
              <a:t>– указатель на ветку, с которой мы сейчас работаем, то есть на ветку </a:t>
            </a:r>
            <a:r>
              <a:rPr lang="ru-RU" b="1" dirty="0" err="1">
                <a:solidFill>
                  <a:srgbClr val="007C77"/>
                </a:solidFill>
                <a:latin typeface="Roboto"/>
              </a:rPr>
              <a:t>main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8791114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80" y="312003"/>
            <a:ext cx="11353800" cy="881797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– </a:t>
            </a:r>
            <a:r>
              <a:rPr lang="ru-RU" dirty="0"/>
              <a:t> Ветвление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7171308"/>
              </p:ext>
            </p:extLst>
          </p:nvPr>
        </p:nvGraphicFramePr>
        <p:xfrm>
          <a:off x="363065" y="1193800"/>
          <a:ext cx="11526830" cy="5425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4113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155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2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git</a:t>
                      </a:r>
                      <a:r>
                        <a:rPr lang="en-US" sz="3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branch </a:t>
                      </a:r>
                      <a:r>
                        <a:rPr lang="en-US" sz="32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new_branch</a:t>
                      </a:r>
                      <a:endParaRPr lang="ru-RU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3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создание новой ветки (но не переключение на нее)</a:t>
                      </a:r>
                      <a:endParaRPr lang="ru-RU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git</a:t>
                      </a:r>
                      <a:r>
                        <a:rPr lang="en-US" sz="3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checkout </a:t>
                      </a:r>
                      <a:r>
                        <a:rPr lang="en-US" sz="32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new_branch</a:t>
                      </a:r>
                      <a:endParaRPr lang="ru-RU" sz="32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32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git</a:t>
                      </a:r>
                      <a:r>
                        <a:rPr lang="en-US" sz="3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checkout </a:t>
                      </a:r>
                      <a:r>
                        <a:rPr lang="ru-RU" sz="3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ru-RU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3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переключение на ветку </a:t>
                      </a:r>
                      <a:r>
                        <a:rPr lang="en-US" sz="32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new_branch</a:t>
                      </a:r>
                      <a:endParaRPr lang="ru-RU" sz="32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ru-RU" sz="3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переключение на предыдущую ветку </a:t>
                      </a:r>
                      <a:endParaRPr lang="ru-RU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git</a:t>
                      </a:r>
                      <a:r>
                        <a:rPr lang="en-US" sz="2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checkout -b </a:t>
                      </a:r>
                      <a:r>
                        <a:rPr lang="en-US" sz="2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new_branch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3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создание новой ветки и переключение на нее</a:t>
                      </a:r>
                      <a:endParaRPr lang="ru-RU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 err="1"/>
                        <a:t>git</a:t>
                      </a:r>
                      <a:r>
                        <a:rPr lang="en-US" sz="3200" dirty="0"/>
                        <a:t> branch</a:t>
                      </a:r>
                      <a:endParaRPr lang="ru-RU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3200" dirty="0"/>
                        <a:t>просмотр локальных веток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 err="1"/>
                        <a:t>git</a:t>
                      </a:r>
                      <a:r>
                        <a:rPr lang="en-US" sz="3200" dirty="0"/>
                        <a:t> branch</a:t>
                      </a:r>
                      <a:r>
                        <a:rPr lang="ru-RU" sz="3200" dirty="0"/>
                        <a:t> -</a:t>
                      </a:r>
                      <a:r>
                        <a:rPr lang="en-US" sz="3200" dirty="0"/>
                        <a:t>a</a:t>
                      </a:r>
                      <a:endParaRPr lang="ru-RU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3200" dirty="0"/>
                        <a:t>просмотр локальных</a:t>
                      </a:r>
                      <a:r>
                        <a:rPr lang="en-US" sz="3200" dirty="0"/>
                        <a:t> </a:t>
                      </a:r>
                      <a:r>
                        <a:rPr lang="ru-RU" sz="3200" dirty="0"/>
                        <a:t>и</a:t>
                      </a:r>
                      <a:r>
                        <a:rPr lang="ru-RU" sz="3200" baseline="0" dirty="0"/>
                        <a:t> удаленных</a:t>
                      </a:r>
                      <a:r>
                        <a:rPr lang="ru-RU" sz="3200" dirty="0"/>
                        <a:t> веток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 err="1"/>
                        <a:t>git</a:t>
                      </a:r>
                      <a:r>
                        <a:rPr lang="en-US" sz="3200" dirty="0"/>
                        <a:t> branch</a:t>
                      </a:r>
                      <a:r>
                        <a:rPr lang="ru-RU" sz="3200" dirty="0"/>
                        <a:t> -</a:t>
                      </a:r>
                      <a:r>
                        <a:rPr lang="en-US" sz="3200" dirty="0"/>
                        <a:t>r</a:t>
                      </a:r>
                      <a:endParaRPr lang="ru-RU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200" dirty="0"/>
                        <a:t>просмотр </a:t>
                      </a:r>
                      <a:r>
                        <a:rPr lang="ru-RU" sz="3200" baseline="0" dirty="0"/>
                        <a:t>удаленных</a:t>
                      </a:r>
                      <a:r>
                        <a:rPr lang="ru-RU" sz="3200" dirty="0"/>
                        <a:t> веток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002745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80" y="0"/>
            <a:ext cx="11353800" cy="88983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– </a:t>
            </a:r>
            <a:r>
              <a:rPr lang="ru-RU" dirty="0"/>
              <a:t> Ветвление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80" y="889831"/>
            <a:ext cx="6441874" cy="5960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68143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609600" y="191933"/>
            <a:ext cx="10058400" cy="62706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–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ru-RU" dirty="0"/>
              <a:t>Ветвление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Рисунок 5" descr="Вырезка экрана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71" y="1742744"/>
            <a:ext cx="12019728" cy="287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08319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609600" y="191933"/>
            <a:ext cx="10058400" cy="62706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–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ru-RU" dirty="0"/>
              <a:t>Ветвление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9673" y="279838"/>
            <a:ext cx="7076436" cy="1078314"/>
          </a:xfrm>
          <a:prstGeom prst="rect">
            <a:avLst/>
          </a:prstGeom>
        </p:spPr>
      </p:pic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46057"/>
            <a:ext cx="6654155" cy="3499167"/>
          </a:xfrm>
          <a:prstGeom prst="rect">
            <a:avLst/>
          </a:prstGeom>
        </p:spPr>
      </p:pic>
      <p:pic>
        <p:nvPicPr>
          <p:cNvPr id="5" name="Рисунок 4" descr="Вырезка экрана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9150" y="3504732"/>
            <a:ext cx="5372850" cy="335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39519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106363"/>
            <a:ext cx="10058400" cy="788987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– </a:t>
            </a:r>
            <a:r>
              <a:rPr lang="ru-RU" dirty="0">
                <a:solidFill>
                  <a:schemeClr val="tx1"/>
                </a:solidFill>
              </a:rPr>
              <a:t>Работа с удаленными ветками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00022501"/>
              </p:ext>
            </p:extLst>
          </p:nvPr>
        </p:nvGraphicFramePr>
        <p:xfrm>
          <a:off x="51881" y="1360818"/>
          <a:ext cx="11895280" cy="51206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4630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322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git</a:t>
                      </a:r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push --set-upstream origin iss53</a:t>
                      </a:r>
                    </a:p>
                    <a:p>
                      <a:r>
                        <a:rPr lang="en-US" sz="2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git</a:t>
                      </a:r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push -u origin br1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/>
                        <a:t>Отправить</a:t>
                      </a:r>
                      <a:r>
                        <a:rPr lang="ru-RU" sz="2800" baseline="0" dirty="0"/>
                        <a:t> ветку </a:t>
                      </a:r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iss53 (br1)</a:t>
                      </a:r>
                      <a:r>
                        <a:rPr lang="ru-RU" sz="2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800" baseline="0" dirty="0"/>
                        <a:t>на удаленный сервер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git</a:t>
                      </a:r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push --all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/>
                        <a:t>Отправить</a:t>
                      </a:r>
                      <a:r>
                        <a:rPr lang="ru-RU" sz="2800" baseline="0" dirty="0"/>
                        <a:t> все локальные ветки 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git</a:t>
                      </a:r>
                      <a:r>
                        <a:rPr lang="en-US" sz="2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fetch origin </a:t>
                      </a:r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br1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28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git</a:t>
                      </a:r>
                      <a:r>
                        <a:rPr lang="en-US" sz="2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pull origin </a:t>
                      </a:r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br1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получение всех последних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изменений с удаленной ветки </a:t>
                      </a:r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br1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связывается с удалённым </a:t>
                      </a:r>
                      <a:r>
                        <a:rPr lang="ru-RU" sz="2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репозиторием</a:t>
                      </a:r>
                      <a:r>
                        <a:rPr lang="ru-RU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и забирает из него все изменения, которых у вас пока нет и сохраняет их локально</a:t>
                      </a:r>
                      <a:endParaRPr lang="en-US" sz="2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ru-RU" sz="2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автоматически сливает </a:t>
                      </a:r>
                      <a:r>
                        <a:rPr lang="ru-RU" sz="2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коммиты</a:t>
                      </a:r>
                      <a:r>
                        <a:rPr lang="ru-RU" sz="2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не давая вам сначала просмотреть их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git</a:t>
                      </a:r>
                      <a:r>
                        <a:rPr lang="en-US" sz="2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push origin </a:t>
                      </a:r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iss53</a:t>
                      </a:r>
                      <a:r>
                        <a:rPr lang="ru-RU" sz="2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en-US" sz="2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br</a:t>
                      </a:r>
                      <a:r>
                        <a:rPr lang="ru-RU" sz="2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отправка изменений из локальной ветки </a:t>
                      </a:r>
                      <a:r>
                        <a:rPr lang="en-US" sz="2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iss53 </a:t>
                      </a:r>
                      <a:r>
                        <a:rPr lang="ru-RU" sz="2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в удаленную ветку</a:t>
                      </a:r>
                      <a:r>
                        <a:rPr lang="en-US" sz="2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br1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Прямоугольник 4"/>
          <p:cNvSpPr/>
          <p:nvPr/>
        </p:nvSpPr>
        <p:spPr>
          <a:xfrm>
            <a:off x="0" y="895350"/>
            <a:ext cx="1194716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Удалённые ссылки — это ссылки (указатели) в ваших удалённых </a:t>
            </a:r>
            <a:r>
              <a:rPr lang="ru-RU" sz="2000" dirty="0" err="1"/>
              <a:t>репозиториях</a:t>
            </a:r>
            <a:r>
              <a:rPr lang="ru-RU" sz="2000" dirty="0"/>
              <a:t>, включая ветки, теги и т.д.</a:t>
            </a:r>
          </a:p>
        </p:txBody>
      </p:sp>
    </p:spTree>
    <p:extLst>
      <p:ext uri="{BB962C8B-B14F-4D97-AF65-F5344CB8AC3E}">
        <p14:creationId xmlns:p14="http://schemas.microsoft.com/office/powerpoint/2010/main" val="251796851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106363"/>
            <a:ext cx="10058400" cy="788987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– </a:t>
            </a:r>
            <a:r>
              <a:rPr lang="ru-RU" dirty="0">
                <a:solidFill>
                  <a:schemeClr val="tx1"/>
                </a:solidFill>
              </a:rPr>
              <a:t>Работа с удаленными ветками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317743066"/>
              </p:ext>
            </p:extLst>
          </p:nvPr>
        </p:nvGraphicFramePr>
        <p:xfrm>
          <a:off x="124924" y="1818018"/>
          <a:ext cx="11895280" cy="15544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7381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570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200" dirty="0" err="1"/>
                        <a:t>git</a:t>
                      </a:r>
                      <a:r>
                        <a:rPr lang="en-US" sz="3200" dirty="0"/>
                        <a:t> stash</a:t>
                      </a:r>
                      <a:endParaRPr lang="ru-RU" sz="32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 err="1"/>
                        <a:t>git</a:t>
                      </a:r>
                      <a:r>
                        <a:rPr lang="en-US" sz="3200" dirty="0"/>
                        <a:t> stash</a:t>
                      </a:r>
                      <a:r>
                        <a:rPr lang="ru-RU" sz="3200" baseline="0" dirty="0"/>
                        <a:t> </a:t>
                      </a:r>
                      <a:r>
                        <a:rPr lang="en-US" sz="3200" baseline="0" dirty="0"/>
                        <a:t>list</a:t>
                      </a:r>
                      <a:endParaRPr lang="ru-RU" sz="3200" baseline="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 err="1"/>
                        <a:t>git</a:t>
                      </a:r>
                      <a:r>
                        <a:rPr lang="en-US" sz="3200" dirty="0"/>
                        <a:t> stash pop</a:t>
                      </a:r>
                      <a:endParaRPr lang="ru-RU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3200" dirty="0"/>
                        <a:t>Отложить</a:t>
                      </a:r>
                      <a:r>
                        <a:rPr lang="ru-RU" sz="3200" baseline="0" dirty="0"/>
                        <a:t> изменения, не добавляя их в </a:t>
                      </a:r>
                      <a:r>
                        <a:rPr lang="ru-RU" sz="3200" baseline="0" dirty="0" err="1"/>
                        <a:t>коммит</a:t>
                      </a:r>
                      <a:endParaRPr lang="en-US" sz="3200" baseline="0" dirty="0"/>
                    </a:p>
                    <a:p>
                      <a:r>
                        <a:rPr lang="en-US" sz="3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r>
                        <a:rPr lang="ru-RU" sz="3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писок всех отложенных изменений</a:t>
                      </a:r>
                      <a:endParaRPr lang="en-US" sz="3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ru-RU" sz="3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Возврат отложенных изменений в рабочую копию</a:t>
                      </a:r>
                      <a:endParaRPr lang="ru-RU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4470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870879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7477" y="216132"/>
            <a:ext cx="10058400" cy="1022465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– </a:t>
            </a:r>
            <a:r>
              <a:rPr lang="ru-RU" dirty="0">
                <a:solidFill>
                  <a:schemeClr val="tx1"/>
                </a:solidFill>
              </a:rPr>
              <a:t>Просмотр состояния ветки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4977404"/>
              </p:ext>
            </p:extLst>
          </p:nvPr>
        </p:nvGraphicFramePr>
        <p:xfrm>
          <a:off x="0" y="1772050"/>
          <a:ext cx="12192000" cy="44196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0180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739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git</a:t>
                      </a:r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status</a:t>
                      </a:r>
                      <a:endParaRPr lang="ru-RU" sz="2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/>
                        <a:t>Просмотр состояния файлов ветки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git</a:t>
                      </a:r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log</a:t>
                      </a:r>
                      <a:r>
                        <a:rPr lang="ru-RU" sz="2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&lt;ключи&gt;  </a:t>
                      </a:r>
                    </a:p>
                    <a:p>
                      <a:r>
                        <a:rPr lang="ru-RU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Ключи: -&lt;число&gt;, </a:t>
                      </a:r>
                    </a:p>
                    <a:p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--pretty=&lt;</a:t>
                      </a:r>
                      <a:r>
                        <a:rPr lang="ru-RU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значение&gt; , 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-p</a:t>
                      </a:r>
                      <a:r>
                        <a:rPr lang="ru-RU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--graph</a:t>
                      </a:r>
                      <a:r>
                        <a:rPr lang="ru-RU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--all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Просмотр истории </a:t>
                      </a:r>
                      <a:r>
                        <a:rPr lang="ru-RU" sz="2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коммитов</a:t>
                      </a:r>
                      <a:r>
                        <a:rPr lang="ru-RU" sz="2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ветки в различных форматах</a:t>
                      </a:r>
                      <a:endParaRPr lang="en-US" sz="2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8055">
                <a:tc>
                  <a:txBody>
                    <a:bodyPr/>
                    <a:lstStyle/>
                    <a:p>
                      <a:r>
                        <a:rPr lang="en-US" sz="2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git</a:t>
                      </a:r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diff</a:t>
                      </a:r>
                      <a:r>
                        <a:rPr lang="ru-RU" sz="2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&lt;ключи&gt; &lt;путь до файла&gt; &lt;путь до файла&gt;</a:t>
                      </a:r>
                    </a:p>
                    <a:p>
                      <a:r>
                        <a:rPr lang="ru-RU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Ключи: 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--diff-filter=&lt;</a:t>
                      </a:r>
                      <a:r>
                        <a:rPr lang="ru-RU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метка&gt;, 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--word-diff=color</a:t>
                      </a:r>
                    </a:p>
                    <a:p>
                      <a:endParaRPr lang="en-US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2400" dirty="0" err="1"/>
                        <a:t>git</a:t>
                      </a:r>
                      <a:r>
                        <a:rPr lang="en-US" sz="2400" dirty="0"/>
                        <a:t> diff HEAD^</a:t>
                      </a:r>
                      <a:endParaRPr lang="ru-RU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/>
                        <a:t>Просмотр различий между двумя </a:t>
                      </a:r>
                      <a:r>
                        <a:rPr lang="ru-RU" sz="2800" dirty="0" err="1"/>
                        <a:t>коммитами</a:t>
                      </a:r>
                      <a:endParaRPr lang="en-US" sz="2800" dirty="0"/>
                    </a:p>
                    <a:p>
                      <a:endParaRPr lang="en-US" sz="2800" dirty="0"/>
                    </a:p>
                    <a:p>
                      <a:endParaRPr lang="en-US" sz="2800" dirty="0"/>
                    </a:p>
                    <a:p>
                      <a:endParaRPr lang="en-US" sz="2800" dirty="0"/>
                    </a:p>
                    <a:p>
                      <a:r>
                        <a:rPr lang="ru-RU" sz="2800" dirty="0"/>
                        <a:t>Просмотр</a:t>
                      </a:r>
                      <a:r>
                        <a:rPr lang="ru-RU" sz="2800" baseline="0" dirty="0"/>
                        <a:t> изменений после</a:t>
                      </a:r>
                      <a:r>
                        <a:rPr lang="en-US" sz="2800" baseline="0" dirty="0"/>
                        <a:t> </a:t>
                      </a:r>
                      <a:r>
                        <a:rPr lang="ru-RU" sz="2800" baseline="0" dirty="0"/>
                        <a:t>команды </a:t>
                      </a:r>
                      <a:r>
                        <a:rPr lang="en-US" sz="2800" baseline="0" dirty="0"/>
                        <a:t>commit</a:t>
                      </a:r>
                      <a:r>
                        <a:rPr lang="ru-RU" sz="2800" baseline="0" dirty="0"/>
                        <a:t> или</a:t>
                      </a:r>
                      <a:r>
                        <a:rPr lang="en-US" sz="2800" baseline="0" dirty="0"/>
                        <a:t>  pull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021284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7477" y="216132"/>
            <a:ext cx="10058400" cy="1022465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– </a:t>
            </a:r>
            <a:r>
              <a:rPr lang="ru-RU" dirty="0">
                <a:solidFill>
                  <a:schemeClr val="tx1"/>
                </a:solidFill>
              </a:rPr>
              <a:t>Работа с удаленными ветками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3165497"/>
              </p:ext>
            </p:extLst>
          </p:nvPr>
        </p:nvGraphicFramePr>
        <p:xfrm>
          <a:off x="0" y="1451620"/>
          <a:ext cx="12192000" cy="50596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0180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739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sz="2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2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git</a:t>
                      </a:r>
                      <a:r>
                        <a:rPr lang="en-US" sz="2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branch -m </a:t>
                      </a:r>
                      <a:r>
                        <a:rPr lang="en-US" sz="2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oldname</a:t>
                      </a:r>
                      <a:r>
                        <a:rPr lang="en-US" sz="2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newname</a:t>
                      </a:r>
                      <a:endParaRPr lang="en-US" sz="2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git</a:t>
                      </a:r>
                      <a:r>
                        <a:rPr lang="en-US" sz="2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push origin :</a:t>
                      </a:r>
                      <a:r>
                        <a:rPr lang="en-US" sz="2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oldname</a:t>
                      </a:r>
                      <a:endParaRPr lang="ru-RU" sz="2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git</a:t>
                      </a:r>
                      <a:r>
                        <a:rPr lang="en-US" sz="2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push origin -u </a:t>
                      </a:r>
                      <a:r>
                        <a:rPr lang="en-US" sz="2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newname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/>
                        <a:t>Переименовать</a:t>
                      </a:r>
                      <a:r>
                        <a:rPr lang="ru-RU" sz="2800" baseline="0" dirty="0"/>
                        <a:t> удаленную ветку</a:t>
                      </a:r>
                      <a:r>
                        <a:rPr lang="en-US" sz="2800" baseline="0" dirty="0"/>
                        <a:t>: </a:t>
                      </a:r>
                      <a:endParaRPr lang="ru-RU" sz="2800" baseline="0" dirty="0"/>
                    </a:p>
                    <a:p>
                      <a:r>
                        <a:rPr lang="ru-RU" sz="2800" baseline="0" dirty="0"/>
                        <a:t>Переименовать локальную ветку</a:t>
                      </a:r>
                    </a:p>
                    <a:p>
                      <a:r>
                        <a:rPr lang="ru-RU" sz="2800" baseline="0" dirty="0"/>
                        <a:t>Удалить </a:t>
                      </a:r>
                      <a:r>
                        <a:rPr lang="ru-RU" sz="2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ветку (</a:t>
                      </a:r>
                      <a:r>
                        <a:rPr lang="ru-RU" sz="2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oldname</a:t>
                      </a:r>
                      <a:r>
                        <a:rPr lang="ru-RU" sz="2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), которую вы хотите переименовать</a:t>
                      </a:r>
                    </a:p>
                    <a:p>
                      <a:r>
                        <a:rPr lang="ru-RU" sz="2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Загрузить (</a:t>
                      </a:r>
                      <a:r>
                        <a:rPr lang="ru-RU" sz="2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push</a:t>
                      </a:r>
                      <a:r>
                        <a:rPr lang="ru-RU" sz="2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ветку </a:t>
                      </a:r>
                      <a:r>
                        <a:rPr lang="ru-RU" sz="2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newname</a:t>
                      </a:r>
                      <a:r>
                        <a:rPr lang="ru-RU" sz="2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в удаленный </a:t>
                      </a:r>
                      <a:r>
                        <a:rPr lang="ru-RU" sz="2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репозиторий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git</a:t>
                      </a:r>
                      <a:r>
                        <a:rPr lang="en-US" sz="2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merge fix_bug_001 </a:t>
                      </a:r>
                      <a:endParaRPr lang="en-US" sz="2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мержим</a:t>
                      </a:r>
                      <a:r>
                        <a:rPr lang="ru-RU" sz="2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ветки (</a:t>
                      </a:r>
                      <a:r>
                        <a:rPr lang="en-US" sz="2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fix_bug_001 c master)</a:t>
                      </a:r>
                      <a:r>
                        <a:rPr lang="ru-RU" sz="2800" dirty="0"/>
                        <a:t> -объединение ветки с активной веткой</a:t>
                      </a:r>
                      <a:endParaRPr lang="en-US" sz="2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8055">
                <a:tc>
                  <a:txBody>
                    <a:bodyPr/>
                    <a:lstStyle/>
                    <a:p>
                      <a:r>
                        <a:rPr lang="en-US" sz="2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git</a:t>
                      </a:r>
                      <a:r>
                        <a:rPr lang="en-US" sz="2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branch -d fix_bug_001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удаляем ветку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055">
                <a:tc>
                  <a:txBody>
                    <a:bodyPr/>
                    <a:lstStyle/>
                    <a:p>
                      <a:r>
                        <a:rPr lang="en-US" sz="2800" dirty="0" err="1"/>
                        <a:t>git</a:t>
                      </a:r>
                      <a:r>
                        <a:rPr lang="en-US" sz="2800" dirty="0"/>
                        <a:t> reset --hard ORIG_HEAD 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/>
                        <a:t>сброс произошедшего слияния, ветки вернулись в исходное до состояние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4581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157538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– </a:t>
            </a:r>
            <a:r>
              <a:rPr lang="ru-RU" dirty="0">
                <a:solidFill>
                  <a:schemeClr val="tx1"/>
                </a:solidFill>
              </a:rPr>
              <a:t>Работа с удаленными ветками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Рисунок 5" descr="Вырезка экрана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7869" b="73284"/>
          <a:stretch/>
        </p:blipFill>
        <p:spPr>
          <a:xfrm>
            <a:off x="590338" y="1971073"/>
            <a:ext cx="10735861" cy="3582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39897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– </a:t>
            </a:r>
            <a:r>
              <a:rPr lang="ru-RU" dirty="0">
                <a:solidFill>
                  <a:schemeClr val="tx1"/>
                </a:solidFill>
              </a:rPr>
              <a:t>Работа с удаленными ветками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Рисунок 5" descr="Вырезка экрана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980" b="31994"/>
          <a:stretch/>
        </p:blipFill>
        <p:spPr>
          <a:xfrm>
            <a:off x="46907" y="1906546"/>
            <a:ext cx="12159145" cy="3682133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 flipH="1">
            <a:off x="479685" y="5869712"/>
            <a:ext cx="931156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Загрузить (</a:t>
            </a:r>
            <a:r>
              <a:rPr lang="ru-RU" dirty="0" err="1"/>
              <a:t>push</a:t>
            </a:r>
            <a:r>
              <a:rPr lang="ru-RU" dirty="0"/>
              <a:t>) ветку </a:t>
            </a:r>
            <a:r>
              <a:rPr lang="en-US" dirty="0"/>
              <a:t>iss53 </a:t>
            </a:r>
            <a:r>
              <a:rPr lang="ru-RU" dirty="0"/>
              <a:t>в удаленный </a:t>
            </a:r>
            <a:r>
              <a:rPr lang="ru-RU" dirty="0" err="1"/>
              <a:t>репозиторий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249515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– </a:t>
            </a:r>
            <a:r>
              <a:rPr lang="ru-RU" dirty="0">
                <a:solidFill>
                  <a:schemeClr val="tx1"/>
                </a:solidFill>
              </a:rPr>
              <a:t>Работа с удаленными ветками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Рисунок 5" descr="Вырезка экрана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824" r="40747"/>
          <a:stretch/>
        </p:blipFill>
        <p:spPr>
          <a:xfrm>
            <a:off x="954873" y="1737360"/>
            <a:ext cx="9210906" cy="3639928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 flipH="1">
            <a:off x="306750" y="5729435"/>
            <a:ext cx="56893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Получить список локальных и удаленных веток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984141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– </a:t>
            </a:r>
            <a:r>
              <a:rPr lang="ru-RU" dirty="0">
                <a:solidFill>
                  <a:schemeClr val="tx1"/>
                </a:solidFill>
              </a:rPr>
              <a:t>Работа с удаленными ветками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776" y="1737360"/>
            <a:ext cx="8004335" cy="4829620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 flipH="1">
            <a:off x="9090986" y="2990538"/>
            <a:ext cx="196426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Загрузить (</a:t>
            </a:r>
            <a:r>
              <a:rPr lang="ru-RU" dirty="0" err="1"/>
              <a:t>push</a:t>
            </a:r>
            <a:r>
              <a:rPr lang="ru-RU" dirty="0"/>
              <a:t>) ветку в удаленный </a:t>
            </a:r>
            <a:r>
              <a:rPr lang="ru-RU" dirty="0" err="1"/>
              <a:t>репозиторий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270086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– </a:t>
            </a:r>
            <a:r>
              <a:rPr lang="ru-RU" dirty="0">
                <a:solidFill>
                  <a:schemeClr val="tx1"/>
                </a:solidFill>
              </a:rPr>
              <a:t>Работа с удаленными ветками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687" y="1583219"/>
            <a:ext cx="4125941" cy="5274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44511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– </a:t>
            </a:r>
            <a:r>
              <a:rPr lang="ru-RU" dirty="0">
                <a:solidFill>
                  <a:schemeClr val="tx1"/>
                </a:solidFill>
              </a:rPr>
              <a:t>Работа с удаленными ветками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557" y="1737360"/>
            <a:ext cx="7733949" cy="4791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57031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– </a:t>
            </a:r>
            <a:r>
              <a:rPr lang="ru-RU" dirty="0">
                <a:solidFill>
                  <a:schemeClr val="tx1"/>
                </a:solidFill>
              </a:rPr>
              <a:t>Работа с удаленными ветками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37360"/>
            <a:ext cx="12226487" cy="4395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68450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– </a:t>
            </a:r>
            <a:r>
              <a:rPr lang="ru-RU" dirty="0">
                <a:solidFill>
                  <a:schemeClr val="tx1"/>
                </a:solidFill>
              </a:rPr>
              <a:t>Работа с удаленными ветками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559" y="2143072"/>
            <a:ext cx="11659051" cy="2451230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762606" y="6386731"/>
            <a:ext cx="907904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t"/>
            <a:r>
              <a:rPr lang="ru-RU" sz="1600" dirty="0"/>
              <a:t>отправка изменений из локальной ветки </a:t>
            </a:r>
            <a:r>
              <a:rPr lang="en-US" sz="1600" dirty="0"/>
              <a:t>iss53 </a:t>
            </a:r>
            <a:r>
              <a:rPr lang="ru-RU" sz="1600" dirty="0"/>
              <a:t>в удаленную ветку</a:t>
            </a:r>
            <a:r>
              <a:rPr lang="en-US" sz="1600" dirty="0"/>
              <a:t> br1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275550173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2675" y="0"/>
            <a:ext cx="9920125" cy="58319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– </a:t>
            </a:r>
            <a:r>
              <a:rPr lang="ru-RU" dirty="0">
                <a:solidFill>
                  <a:schemeClr val="tx1"/>
                </a:solidFill>
              </a:rPr>
              <a:t>Работа с удаленными ветками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928" y="595238"/>
            <a:ext cx="7129389" cy="6175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98108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785" y="0"/>
            <a:ext cx="10058400" cy="56089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– </a:t>
            </a:r>
            <a:r>
              <a:rPr lang="ru-RU" dirty="0">
                <a:solidFill>
                  <a:schemeClr val="tx1"/>
                </a:solidFill>
              </a:rPr>
              <a:t>основные команды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4967949"/>
              </p:ext>
            </p:extLst>
          </p:nvPr>
        </p:nvGraphicFramePr>
        <p:xfrm>
          <a:off x="0" y="746760"/>
          <a:ext cx="11951970" cy="61112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1451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06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1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500" dirty="0">
                          <a:effectLst/>
                        </a:rPr>
                        <a:t> </a:t>
                      </a:r>
                      <a:endParaRPr lang="ru-RU" sz="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800" b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git pull </a:t>
                      </a:r>
                      <a:endParaRPr lang="ru-RU" sz="2800" b="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4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забрать изменения с удалённого сервера</a:t>
                      </a:r>
                      <a:endParaRPr lang="ru-RU" sz="2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800" b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git push </a:t>
                      </a:r>
                      <a:endParaRPr lang="ru-RU" sz="2800" b="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4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отправить локальные изменения на удалённый сервер</a:t>
                      </a:r>
                      <a:endParaRPr lang="ru-RU" sz="2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800" b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git branch </a:t>
                      </a:r>
                      <a:endParaRPr lang="ru-RU" sz="2800" b="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4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показать текущую ветку/список веток</a:t>
                      </a:r>
                      <a:endParaRPr lang="ru-RU" sz="2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800" b="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git</a:t>
                      </a:r>
                      <a:r>
                        <a:rPr lang="ru-RU" sz="2800" b="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ru-RU" sz="2800" b="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merge</a:t>
                      </a:r>
                      <a:r>
                        <a:rPr lang="en-US" sz="2800" b="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ru-RU" sz="2800" b="0" dirty="0">
                          <a:solidFill>
                            <a:srgbClr val="8B000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&lt;</a:t>
                      </a:r>
                      <a:r>
                        <a:rPr lang="ru-RU" sz="2800" b="0" dirty="0" err="1">
                          <a:solidFill>
                            <a:srgbClr val="8B000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branch_name</a:t>
                      </a:r>
                      <a:r>
                        <a:rPr lang="ru-RU" sz="2800" b="0" dirty="0">
                          <a:solidFill>
                            <a:srgbClr val="8B000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&gt;</a:t>
                      </a:r>
                      <a:r>
                        <a:rPr lang="ru-RU" sz="2800" b="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 </a:t>
                      </a:r>
                      <a:endParaRPr lang="ru-RU" sz="2800" b="0" dirty="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4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влить в текущую ветку указанную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2400" b="0" dirty="0" err="1">
                          <a:solidFill>
                            <a:srgbClr val="8B000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branch_name</a:t>
                      </a:r>
                      <a:endParaRPr lang="ru-RU" sz="2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800" b="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git</a:t>
                      </a:r>
                      <a:r>
                        <a:rPr lang="ru-RU" sz="2800" b="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ru-RU" sz="2800" b="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add</a:t>
                      </a:r>
                      <a:r>
                        <a:rPr lang="ru-RU" sz="2800" b="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 </a:t>
                      </a:r>
                      <a:endParaRPr lang="ru-RU" sz="2800" b="0" dirty="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4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добавить в текущее состояние изменённые файлы</a:t>
                      </a:r>
                      <a:endParaRPr lang="ru-RU" sz="2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800" b="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git</a:t>
                      </a:r>
                      <a:r>
                        <a:rPr lang="ru-RU" sz="2800" b="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ru-RU" sz="2800" b="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commit</a:t>
                      </a:r>
                      <a:r>
                        <a:rPr lang="ru-RU" sz="2800" b="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 </a:t>
                      </a:r>
                      <a:endParaRPr lang="ru-RU" sz="2800" b="0" dirty="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4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зафиксировать изменения и сделать </a:t>
                      </a:r>
                      <a:r>
                        <a:rPr lang="ru-RU" sz="24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коммит</a:t>
                      </a:r>
                      <a:endParaRPr lang="ru-RU" sz="2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800" b="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git</a:t>
                      </a:r>
                      <a:r>
                        <a:rPr lang="ru-RU" sz="2800" b="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ru-RU" sz="2800" b="0" kern="12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stash</a:t>
                      </a:r>
                      <a:r>
                        <a:rPr lang="ru-RU" sz="2800" b="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 </a:t>
                      </a:r>
                      <a:endParaRPr lang="ru-RU" sz="2800" b="0" dirty="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4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временно сохранить локальные изменения не создавая </a:t>
                      </a:r>
                      <a:r>
                        <a:rPr lang="ru-RU" sz="24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коммит</a:t>
                      </a:r>
                      <a:r>
                        <a:rPr lang="ru-RU" sz="24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и вернуться в чистый рабочий каталог</a:t>
                      </a:r>
                      <a:endParaRPr lang="ru-RU" sz="24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kern="12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git</a:t>
                      </a:r>
                      <a:r>
                        <a:rPr lang="en-US" sz="2800" b="0" kern="12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rebase</a:t>
                      </a:r>
                      <a:r>
                        <a:rPr lang="ru-RU" sz="2800" b="0" kern="12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&lt;</a:t>
                      </a:r>
                      <a:r>
                        <a:rPr lang="ru-RU" sz="2800" b="0" kern="12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branch_name</a:t>
                      </a:r>
                      <a:r>
                        <a:rPr lang="ru-RU" sz="2800" b="0" kern="12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&gt;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4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удалит и последовательно переместит </a:t>
                      </a:r>
                      <a:r>
                        <a:rPr lang="ru-RU" sz="2400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коммиты</a:t>
                      </a:r>
                      <a:r>
                        <a:rPr lang="en-US" sz="24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ru-RU" sz="24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из текущей ветки в указанную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kern="12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git</a:t>
                      </a:r>
                      <a:r>
                        <a:rPr lang="en-US" sz="2800" b="0" kern="1200" baseline="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reset</a:t>
                      </a:r>
                      <a:endParaRPr lang="ru-RU" sz="2800" b="0" kern="1200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Times New Roman" panose="02020603050405020304" pitchFamily="18" charset="0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отмен</a:t>
                      </a:r>
                      <a:r>
                        <a:rPr lang="en-US" sz="2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r>
                        <a:rPr lang="ru-RU" sz="2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локальных изменений в </a:t>
                      </a:r>
                      <a:r>
                        <a:rPr lang="ru-RU" sz="24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репозитории</a:t>
                      </a:r>
                      <a:r>
                        <a:rPr lang="en-US" sz="2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--soft, --mixed, --hard</a:t>
                      </a:r>
                      <a:r>
                        <a:rPr lang="en-US" sz="2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ru-RU" sz="2400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kern="1200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git</a:t>
                      </a:r>
                      <a:r>
                        <a:rPr lang="en-US" sz="2800" b="0" kern="12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revert</a:t>
                      </a:r>
                      <a:endParaRPr lang="ru-RU" sz="2800" b="0" kern="1200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Times New Roman" panose="02020603050405020304" pitchFamily="18" charset="0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отменяет внесенные в </a:t>
                      </a:r>
                      <a:r>
                        <a:rPr lang="ru-RU" sz="2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коммите</a:t>
                      </a:r>
                      <a:r>
                        <a:rPr lang="ru-RU" sz="2400" b="0" i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изменения и добавляет новый </a:t>
                      </a:r>
                      <a:r>
                        <a:rPr lang="ru-RU" sz="2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коммит</a:t>
                      </a:r>
                      <a:r>
                        <a:rPr lang="ru-RU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с полученным содержимым</a:t>
                      </a:r>
                      <a:endParaRPr lang="ru-RU" sz="2400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547223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CA0FA89-A23C-7BEE-A041-EBF4DFACA7B9}"/>
              </a:ext>
            </a:extLst>
          </p:cNvPr>
          <p:cNvSpPr txBox="1">
            <a:spLocks/>
          </p:cNvSpPr>
          <p:nvPr/>
        </p:nvSpPr>
        <p:spPr>
          <a:xfrm>
            <a:off x="1097280" y="288758"/>
            <a:ext cx="9920125" cy="58319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2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solidFill>
                  <a:schemeClr val="tx1"/>
                </a:solidFill>
              </a:rPr>
              <a:t>Когда создается </a:t>
            </a:r>
            <a:r>
              <a:rPr lang="en-US" dirty="0">
                <a:solidFill>
                  <a:schemeClr val="tx1"/>
                </a:solidFill>
              </a:rPr>
              <a:t>ORIG_HEAD</a:t>
            </a:r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ECF35B53-005F-8902-5E63-CF6D13A8D2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0756405"/>
              </p:ext>
            </p:extLst>
          </p:nvPr>
        </p:nvGraphicFramePr>
        <p:xfrm>
          <a:off x="1097280" y="1892300"/>
          <a:ext cx="10629498" cy="3274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6152">
                  <a:extLst>
                    <a:ext uri="{9D8B030D-6E8A-4147-A177-3AD203B41FA5}">
                      <a16:colId xmlns:a16="http://schemas.microsoft.com/office/drawing/2014/main" val="2859150085"/>
                    </a:ext>
                  </a:extLst>
                </a:gridCol>
                <a:gridCol w="4590180">
                  <a:extLst>
                    <a:ext uri="{9D8B030D-6E8A-4147-A177-3AD203B41FA5}">
                      <a16:colId xmlns:a16="http://schemas.microsoft.com/office/drawing/2014/main" val="736732290"/>
                    </a:ext>
                  </a:extLst>
                </a:gridCol>
                <a:gridCol w="3543166">
                  <a:extLst>
                    <a:ext uri="{9D8B030D-6E8A-4147-A177-3AD203B41FA5}">
                      <a16:colId xmlns:a16="http://schemas.microsoft.com/office/drawing/2014/main" val="3002905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800" b="0" dirty="0">
                          <a:effectLst/>
                          <a:latin typeface="quote-cjk-patch"/>
                        </a:rPr>
                        <a:t>Команда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800" b="0">
                          <a:effectLst/>
                          <a:latin typeface="quote-cjk-patch"/>
                        </a:rPr>
                        <a:t>Когда создается </a:t>
                      </a:r>
                      <a:r>
                        <a:rPr lang="en-US" sz="2800" b="0">
                          <a:effectLst/>
                          <a:latin typeface="quote-cjk-patch"/>
                        </a:rPr>
                        <a:t>ORIG_HEAD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800" b="0">
                          <a:effectLst/>
                          <a:latin typeface="quote-cjk-patch"/>
                        </a:rPr>
                        <a:t>Для чего используется</a:t>
                      </a: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2621414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800" b="0">
                          <a:effectLst/>
                          <a:latin typeface="Menlo"/>
                        </a:rPr>
                        <a:t>git merge</a:t>
                      </a:r>
                      <a:endParaRPr lang="en-US" sz="2800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800" b="0">
                          <a:effectLst/>
                          <a:latin typeface="quote-cjk-patch"/>
                        </a:rPr>
                        <a:t>Перед слиянием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800" b="0">
                          <a:effectLst/>
                          <a:latin typeface="quote-cjk-patch"/>
                        </a:rPr>
                        <a:t>Для отмены слияния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4235919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800" b="0" dirty="0">
                          <a:effectLst/>
                          <a:latin typeface="Menlo"/>
                        </a:rPr>
                        <a:t>git rebase</a:t>
                      </a:r>
                      <a:endParaRPr lang="en-US" sz="28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800" b="0">
                          <a:effectLst/>
                          <a:latin typeface="quote-cjk-patch"/>
                        </a:rPr>
                        <a:t>Перед перемещением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800" b="0">
                          <a:effectLst/>
                          <a:latin typeface="quote-cjk-patch"/>
                        </a:rPr>
                        <a:t>Для отмены </a:t>
                      </a:r>
                      <a:r>
                        <a:rPr lang="en-US" sz="2800" b="0">
                          <a:effectLst/>
                          <a:latin typeface="quote-cjk-patch"/>
                        </a:rPr>
                        <a:t>rebase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0298953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800" b="0">
                          <a:effectLst/>
                          <a:latin typeface="Menlo"/>
                        </a:rPr>
                        <a:t>git reset</a:t>
                      </a:r>
                      <a:endParaRPr lang="en-US" sz="2800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800" b="0">
                          <a:effectLst/>
                          <a:latin typeface="quote-cjk-patch"/>
                        </a:rPr>
                        <a:t>Перед сбросом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800" b="0">
                          <a:effectLst/>
                          <a:latin typeface="quote-cjk-patch"/>
                        </a:rPr>
                        <a:t>Для отмены </a:t>
                      </a:r>
                      <a:r>
                        <a:rPr lang="en-US" sz="2800" b="0">
                          <a:effectLst/>
                          <a:latin typeface="quote-cjk-patch"/>
                        </a:rPr>
                        <a:t>reset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421005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800" b="0">
                          <a:effectLst/>
                          <a:latin typeface="Menlo"/>
                        </a:rPr>
                        <a:t>git cherry-pick</a:t>
                      </a:r>
                      <a:endParaRPr lang="en-US" sz="2800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800" b="0" dirty="0">
                          <a:effectLst/>
                          <a:latin typeface="quote-cjk-patch"/>
                        </a:rPr>
                        <a:t>Перед выбором коммита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800" b="0">
                          <a:effectLst/>
                          <a:latin typeface="quote-cjk-patch"/>
                        </a:rPr>
                        <a:t>Для отмены операции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357470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800" b="0">
                          <a:effectLst/>
                          <a:latin typeface="Menlo"/>
                        </a:rPr>
                        <a:t>git pull</a:t>
                      </a:r>
                      <a:endParaRPr lang="en-US" sz="2800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800" b="0">
                          <a:effectLst/>
                          <a:latin typeface="quote-cjk-patch"/>
                        </a:rPr>
                        <a:t>По сути перед </a:t>
                      </a:r>
                      <a:r>
                        <a:rPr lang="en-US" sz="2800" b="0">
                          <a:effectLst/>
                          <a:latin typeface="quote-cjk-patch"/>
                        </a:rPr>
                        <a:t>merge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800" b="0" dirty="0">
                          <a:effectLst/>
                          <a:latin typeface="quote-cjk-patch"/>
                        </a:rPr>
                        <a:t>Для отмены </a:t>
                      </a:r>
                      <a:r>
                        <a:rPr lang="en-US" sz="2800" b="0" dirty="0">
                          <a:effectLst/>
                          <a:latin typeface="quote-cjk-patch"/>
                        </a:rPr>
                        <a:t>pull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323753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016556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F8CE8-EF07-49B3-0B9E-6AD709C1B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B3E93F7-E80E-0692-4C42-C5D7B373DF20}"/>
              </a:ext>
            </a:extLst>
          </p:cNvPr>
          <p:cNvSpPr txBox="1">
            <a:spLocks/>
          </p:cNvSpPr>
          <p:nvPr/>
        </p:nvSpPr>
        <p:spPr>
          <a:xfrm>
            <a:off x="1097280" y="288758"/>
            <a:ext cx="9920125" cy="58319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2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solidFill>
                  <a:schemeClr val="tx1"/>
                </a:solidFill>
              </a:rPr>
              <a:t>Когда создается </a:t>
            </a:r>
            <a:r>
              <a:rPr lang="en-US" dirty="0">
                <a:solidFill>
                  <a:schemeClr val="tx1"/>
                </a:solidFill>
              </a:rPr>
              <a:t>ORIG_HEAD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B45077-EE3D-B222-E478-F3E08B405787}"/>
              </a:ext>
            </a:extLst>
          </p:cNvPr>
          <p:cNvSpPr txBox="1"/>
          <p:nvPr/>
        </p:nvSpPr>
        <p:spPr>
          <a:xfrm>
            <a:off x="2058847" y="2241768"/>
            <a:ext cx="7996989" cy="337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lnSpc>
                <a:spcPts val="1650"/>
              </a:lnSpc>
            </a:pPr>
            <a:r>
              <a:rPr lang="ru-RU" sz="2800" b="1" dirty="0"/>
              <a:t>Отмена слияния (</a:t>
            </a:r>
            <a:r>
              <a:rPr lang="en-US" sz="2800" b="1" dirty="0"/>
              <a:t>merge)</a:t>
            </a:r>
          </a:p>
          <a:p>
            <a:pPr algn="l" latinLnBrk="1">
              <a:lnSpc>
                <a:spcPts val="1650"/>
              </a:lnSpc>
              <a:buNone/>
            </a:pPr>
            <a:endParaRPr lang="ru-RU" sz="2800" b="0" i="1" dirty="0">
              <a:solidFill>
                <a:srgbClr val="A0A1A7"/>
              </a:solidFill>
              <a:effectLst/>
              <a:latin typeface="Menlo"/>
            </a:endParaRPr>
          </a:p>
          <a:p>
            <a:pPr algn="l" latinLnBrk="1">
              <a:buNone/>
            </a:pPr>
            <a:r>
              <a:rPr lang="ru-RU" sz="2800" b="0" i="1" dirty="0">
                <a:solidFill>
                  <a:srgbClr val="A0A1A7"/>
                </a:solidFill>
                <a:effectLst/>
                <a:latin typeface="Menlo"/>
              </a:rPr>
              <a:t>Если что-то пошло не так - отменяем </a:t>
            </a:r>
            <a:r>
              <a:rPr lang="ru-RU" sz="2800" b="0" i="1" dirty="0" err="1">
                <a:solidFill>
                  <a:srgbClr val="A0A1A7"/>
                </a:solidFill>
                <a:effectLst/>
                <a:latin typeface="Menlo"/>
              </a:rPr>
              <a:t>merge</a:t>
            </a:r>
            <a:endParaRPr lang="ru-RU" sz="2800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buNone/>
            </a:pPr>
            <a:r>
              <a:rPr lang="ru-RU" sz="2800" b="0" dirty="0" err="1">
                <a:solidFill>
                  <a:srgbClr val="4078F2"/>
                </a:solidFill>
                <a:effectLst/>
                <a:latin typeface="Menlo"/>
              </a:rPr>
              <a:t>git</a:t>
            </a:r>
            <a:r>
              <a:rPr lang="ru-RU" sz="2800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ru-RU" sz="2800" b="0" dirty="0" err="1">
                <a:solidFill>
                  <a:srgbClr val="0F1115"/>
                </a:solidFill>
                <a:effectLst/>
                <a:latin typeface="Menlo"/>
              </a:rPr>
              <a:t>reset</a:t>
            </a:r>
            <a:r>
              <a:rPr lang="ru-RU" sz="2800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ru-RU" sz="2800" b="0" dirty="0">
                <a:solidFill>
                  <a:srgbClr val="4078F2"/>
                </a:solidFill>
                <a:effectLst/>
                <a:latin typeface="Menlo"/>
              </a:rPr>
              <a:t>--</a:t>
            </a:r>
            <a:r>
              <a:rPr lang="ru-RU" sz="2800" b="0" dirty="0" err="1">
                <a:solidFill>
                  <a:srgbClr val="4078F2"/>
                </a:solidFill>
                <a:effectLst/>
                <a:latin typeface="Menlo"/>
              </a:rPr>
              <a:t>hard</a:t>
            </a:r>
            <a:r>
              <a:rPr lang="ru-RU" sz="2800" b="0" dirty="0">
                <a:solidFill>
                  <a:srgbClr val="0F1115"/>
                </a:solidFill>
                <a:effectLst/>
                <a:latin typeface="Menlo"/>
              </a:rPr>
              <a:t> ORIG_HEAD</a:t>
            </a:r>
          </a:p>
          <a:p>
            <a:pPr algn="l" latinLnBrk="1">
              <a:buNone/>
            </a:pPr>
            <a:r>
              <a:rPr lang="ru-RU" sz="2800" b="0" i="1" dirty="0">
                <a:solidFill>
                  <a:srgbClr val="A0A1A7"/>
                </a:solidFill>
                <a:effectLst/>
                <a:latin typeface="Menlo"/>
              </a:rPr>
              <a:t># ИЛИ проще (специальная команда для отмены </a:t>
            </a:r>
            <a:r>
              <a:rPr lang="ru-RU" sz="2800" b="0" i="1" dirty="0" err="1">
                <a:solidFill>
                  <a:srgbClr val="A0A1A7"/>
                </a:solidFill>
                <a:effectLst/>
                <a:latin typeface="Menlo"/>
              </a:rPr>
              <a:t>merge</a:t>
            </a:r>
            <a:r>
              <a:rPr lang="ru-RU" sz="2800" b="0" i="1" dirty="0">
                <a:solidFill>
                  <a:srgbClr val="A0A1A7"/>
                </a:solidFill>
                <a:effectLst/>
                <a:latin typeface="Menlo"/>
              </a:rPr>
              <a:t>):</a:t>
            </a:r>
            <a:endParaRPr lang="ru-RU" sz="2800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buNone/>
            </a:pPr>
            <a:r>
              <a:rPr lang="ru-RU" sz="2800" b="0" dirty="0" err="1">
                <a:solidFill>
                  <a:srgbClr val="4078F2"/>
                </a:solidFill>
                <a:effectLst/>
                <a:latin typeface="Menlo"/>
              </a:rPr>
              <a:t>git</a:t>
            </a:r>
            <a:r>
              <a:rPr lang="ru-RU" sz="2800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ru-RU" sz="2800" b="0" dirty="0" err="1">
                <a:solidFill>
                  <a:srgbClr val="0F1115"/>
                </a:solidFill>
                <a:effectLst/>
                <a:latin typeface="Menlo"/>
              </a:rPr>
              <a:t>merge</a:t>
            </a:r>
            <a:r>
              <a:rPr lang="ru-RU" sz="2800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ru-RU" sz="2800" b="0" dirty="0">
                <a:solidFill>
                  <a:srgbClr val="4078F2"/>
                </a:solidFill>
                <a:effectLst/>
                <a:latin typeface="Menlo"/>
              </a:rPr>
              <a:t>–</a:t>
            </a:r>
            <a:r>
              <a:rPr lang="ru-RU" sz="2800" b="0" dirty="0" err="1">
                <a:solidFill>
                  <a:srgbClr val="4078F2"/>
                </a:solidFill>
                <a:effectLst/>
                <a:latin typeface="Menlo"/>
              </a:rPr>
              <a:t>abort</a:t>
            </a:r>
            <a:endParaRPr lang="ru-RU" sz="2800" b="0" dirty="0">
              <a:solidFill>
                <a:srgbClr val="4078F2"/>
              </a:solidFill>
              <a:effectLst/>
              <a:latin typeface="Menlo"/>
            </a:endParaRPr>
          </a:p>
          <a:p>
            <a:pPr algn="l" latinLnBrk="1">
              <a:buNone/>
            </a:pPr>
            <a:endParaRPr lang="ru-RU" sz="2800" dirty="0">
              <a:solidFill>
                <a:srgbClr val="4078F2"/>
              </a:solidFill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ru-RU" sz="2800" b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95999262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F3868-81AE-297F-5ECB-6D6116D62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B68CC13-D123-0CF4-116D-5F75B73CE932}"/>
              </a:ext>
            </a:extLst>
          </p:cNvPr>
          <p:cNvSpPr txBox="1">
            <a:spLocks/>
          </p:cNvSpPr>
          <p:nvPr/>
        </p:nvSpPr>
        <p:spPr>
          <a:xfrm>
            <a:off x="1097280" y="288758"/>
            <a:ext cx="9920125" cy="58319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2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solidFill>
                  <a:schemeClr val="tx1"/>
                </a:solidFill>
              </a:rPr>
              <a:t>Когда создается </a:t>
            </a:r>
            <a:r>
              <a:rPr lang="en-US" dirty="0">
                <a:solidFill>
                  <a:schemeClr val="tx1"/>
                </a:solidFill>
              </a:rPr>
              <a:t>ORIG_HEAD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989F04-8167-E732-D721-4020B07F12C0}"/>
              </a:ext>
            </a:extLst>
          </p:cNvPr>
          <p:cNvSpPr txBox="1"/>
          <p:nvPr/>
        </p:nvSpPr>
        <p:spPr>
          <a:xfrm>
            <a:off x="1336952" y="1800180"/>
            <a:ext cx="9920125" cy="4461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ru-RU" sz="2400" b="1" dirty="0"/>
              <a:t>Отмена </a:t>
            </a:r>
            <a:r>
              <a:rPr lang="en-US" sz="2400" b="1" dirty="0"/>
              <a:t>rebase</a:t>
            </a:r>
          </a:p>
          <a:p>
            <a:pPr latinLnBrk="1"/>
            <a:r>
              <a:rPr lang="ru-RU" sz="2400" i="1" dirty="0">
                <a:solidFill>
                  <a:srgbClr val="A0A1A7"/>
                </a:solidFill>
                <a:latin typeface="Menlo"/>
              </a:rPr>
              <a:t># 1. Начинаем </a:t>
            </a:r>
            <a:r>
              <a:rPr lang="en-US" sz="2400" i="1" dirty="0">
                <a:solidFill>
                  <a:srgbClr val="A0A1A7"/>
                </a:solidFill>
                <a:latin typeface="Menlo"/>
              </a:rPr>
              <a:t>rebase</a:t>
            </a:r>
            <a:endParaRPr lang="en-US" sz="2400" dirty="0">
              <a:solidFill>
                <a:srgbClr val="0F1115"/>
              </a:solidFill>
              <a:latin typeface="Menlo"/>
            </a:endParaRPr>
          </a:p>
          <a:p>
            <a:pPr latinLnBrk="1"/>
            <a:r>
              <a:rPr lang="en-US" sz="2400" dirty="0">
                <a:solidFill>
                  <a:srgbClr val="4078F2"/>
                </a:solidFill>
                <a:latin typeface="Menlo"/>
              </a:rPr>
              <a:t>git</a:t>
            </a:r>
            <a:r>
              <a:rPr lang="en-US" sz="2400" dirty="0">
                <a:solidFill>
                  <a:srgbClr val="0F1115"/>
                </a:solidFill>
                <a:latin typeface="Menlo"/>
              </a:rPr>
              <a:t> rebase main feature-branch</a:t>
            </a:r>
          </a:p>
          <a:p>
            <a:pPr latinLnBrk="1"/>
            <a:endParaRPr lang="en-US" sz="2400" dirty="0">
              <a:solidFill>
                <a:srgbClr val="0F1115"/>
              </a:solidFill>
              <a:latin typeface="Menlo"/>
            </a:endParaRPr>
          </a:p>
          <a:p>
            <a:pPr latinLnBrk="1"/>
            <a:r>
              <a:rPr lang="en-US" sz="2400" i="1" dirty="0">
                <a:solidFill>
                  <a:srgbClr val="A0A1A7"/>
                </a:solidFill>
                <a:latin typeface="Menlo"/>
              </a:rPr>
              <a:t># 2. </a:t>
            </a:r>
            <a:r>
              <a:rPr lang="ru-RU" sz="2400" i="1" dirty="0">
                <a:solidFill>
                  <a:srgbClr val="A0A1A7"/>
                </a:solidFill>
                <a:latin typeface="Menlo"/>
              </a:rPr>
              <a:t>Возникают конфликты, хотим отменить</a:t>
            </a:r>
            <a:endParaRPr lang="ru-RU" sz="2400" dirty="0">
              <a:solidFill>
                <a:srgbClr val="0F1115"/>
              </a:solidFill>
              <a:latin typeface="Menlo"/>
            </a:endParaRPr>
          </a:p>
          <a:p>
            <a:pPr latinLnBrk="1"/>
            <a:r>
              <a:rPr lang="en-US" sz="2400" dirty="0">
                <a:solidFill>
                  <a:srgbClr val="4078F2"/>
                </a:solidFill>
                <a:latin typeface="Menlo"/>
              </a:rPr>
              <a:t>git</a:t>
            </a:r>
            <a:r>
              <a:rPr lang="en-US" sz="2400" dirty="0">
                <a:solidFill>
                  <a:srgbClr val="0F1115"/>
                </a:solidFill>
                <a:latin typeface="Menlo"/>
              </a:rPr>
              <a:t> rebase </a:t>
            </a:r>
            <a:r>
              <a:rPr lang="en-US" sz="2400" dirty="0">
                <a:solidFill>
                  <a:srgbClr val="4078F2"/>
                </a:solidFill>
                <a:latin typeface="Menlo"/>
              </a:rPr>
              <a:t>--abort</a:t>
            </a:r>
            <a:endParaRPr lang="en-US" sz="2400" dirty="0">
              <a:solidFill>
                <a:srgbClr val="0F1115"/>
              </a:solidFill>
              <a:latin typeface="Menlo"/>
            </a:endParaRPr>
          </a:p>
          <a:p>
            <a:pPr latinLnBrk="1"/>
            <a:r>
              <a:rPr lang="en-US" sz="2400" i="1" dirty="0">
                <a:solidFill>
                  <a:srgbClr val="A0A1A7"/>
                </a:solidFill>
                <a:latin typeface="Menlo"/>
              </a:rPr>
              <a:t># </a:t>
            </a:r>
            <a:r>
              <a:rPr lang="ru-RU" sz="2400" i="1" dirty="0">
                <a:solidFill>
                  <a:srgbClr val="A0A1A7"/>
                </a:solidFill>
                <a:latin typeface="Menlo"/>
              </a:rPr>
              <a:t>Внутренне использует </a:t>
            </a:r>
            <a:r>
              <a:rPr lang="en-US" sz="2400" i="1" dirty="0">
                <a:solidFill>
                  <a:srgbClr val="A0A1A7"/>
                </a:solidFill>
                <a:latin typeface="Menlo"/>
              </a:rPr>
              <a:t>ORIG_HEAD </a:t>
            </a:r>
            <a:r>
              <a:rPr lang="ru-RU" sz="2400" i="1" dirty="0">
                <a:solidFill>
                  <a:srgbClr val="A0A1A7"/>
                </a:solidFill>
                <a:latin typeface="Menlo"/>
              </a:rPr>
              <a:t>для восстановления</a:t>
            </a:r>
            <a:endParaRPr lang="ru-RU" sz="2400" dirty="0">
              <a:solidFill>
                <a:srgbClr val="0F1115"/>
              </a:solidFill>
              <a:latin typeface="Menlo"/>
            </a:endParaRPr>
          </a:p>
          <a:p>
            <a:pPr latinLnBrk="1"/>
            <a:endParaRPr lang="ru-RU" sz="2800" dirty="0">
              <a:solidFill>
                <a:srgbClr val="0F1115"/>
              </a:solidFill>
              <a:latin typeface="Menlo"/>
            </a:endParaRPr>
          </a:p>
          <a:p>
            <a:pPr latinLnBrk="1"/>
            <a:r>
              <a:rPr lang="ru-RU" sz="2400" i="1" dirty="0">
                <a:solidFill>
                  <a:srgbClr val="A0A1A7"/>
                </a:solidFill>
                <a:latin typeface="Menlo"/>
              </a:rPr>
              <a:t># 3. Вручную через </a:t>
            </a:r>
            <a:r>
              <a:rPr lang="en-US" sz="2400" i="1" dirty="0">
                <a:solidFill>
                  <a:srgbClr val="A0A1A7"/>
                </a:solidFill>
                <a:latin typeface="Menlo"/>
              </a:rPr>
              <a:t>ORIG_HEAD (</a:t>
            </a:r>
            <a:r>
              <a:rPr lang="ru-RU" sz="2400" i="1" dirty="0">
                <a:solidFill>
                  <a:srgbClr val="A0A1A7"/>
                </a:solidFill>
                <a:latin typeface="Menlo"/>
              </a:rPr>
              <a:t>если </a:t>
            </a:r>
            <a:r>
              <a:rPr lang="en-US" sz="2400" i="1" dirty="0">
                <a:solidFill>
                  <a:srgbClr val="A0A1A7"/>
                </a:solidFill>
                <a:latin typeface="Menlo"/>
              </a:rPr>
              <a:t>rebase --abort </a:t>
            </a:r>
            <a:r>
              <a:rPr lang="ru-RU" sz="2400" i="1" dirty="0">
                <a:solidFill>
                  <a:srgbClr val="A0A1A7"/>
                </a:solidFill>
                <a:latin typeface="Menlo"/>
              </a:rPr>
              <a:t>не работает)</a:t>
            </a:r>
            <a:endParaRPr lang="ru-RU" sz="2400" dirty="0">
              <a:solidFill>
                <a:srgbClr val="0F1115"/>
              </a:solidFill>
              <a:latin typeface="Menlo"/>
            </a:endParaRPr>
          </a:p>
          <a:p>
            <a:pPr latinLnBrk="1"/>
            <a:r>
              <a:rPr lang="en-US" sz="2400" dirty="0">
                <a:solidFill>
                  <a:srgbClr val="4078F2"/>
                </a:solidFill>
                <a:latin typeface="Menlo"/>
              </a:rPr>
              <a:t>git</a:t>
            </a:r>
            <a:r>
              <a:rPr lang="en-US" sz="2400" dirty="0">
                <a:solidFill>
                  <a:srgbClr val="0F1115"/>
                </a:solidFill>
                <a:latin typeface="Menlo"/>
              </a:rPr>
              <a:t> reset </a:t>
            </a:r>
            <a:r>
              <a:rPr lang="en-US" sz="2400" dirty="0">
                <a:solidFill>
                  <a:srgbClr val="4078F2"/>
                </a:solidFill>
                <a:latin typeface="Menlo"/>
              </a:rPr>
              <a:t>--hard</a:t>
            </a:r>
            <a:r>
              <a:rPr lang="en-US" sz="2400" dirty="0">
                <a:solidFill>
                  <a:srgbClr val="0F1115"/>
                </a:solidFill>
                <a:latin typeface="Menlo"/>
              </a:rPr>
              <a:t> ORIG_HEAD</a:t>
            </a:r>
          </a:p>
          <a:p>
            <a:pPr algn="l" latinLnBrk="1">
              <a:buNone/>
            </a:pPr>
            <a:endParaRPr lang="ru-RU" sz="2400" dirty="0">
              <a:solidFill>
                <a:srgbClr val="4078F2"/>
              </a:solidFill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ru-RU" sz="2400" b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828029835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46CE4-B483-A7FC-ABDF-9999515B3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22CF58A-FFB3-8B81-5CB8-DB9A8CC38914}"/>
              </a:ext>
            </a:extLst>
          </p:cNvPr>
          <p:cNvSpPr txBox="1">
            <a:spLocks/>
          </p:cNvSpPr>
          <p:nvPr/>
        </p:nvSpPr>
        <p:spPr>
          <a:xfrm>
            <a:off x="1097280" y="288758"/>
            <a:ext cx="9920125" cy="58319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2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solidFill>
                  <a:schemeClr val="tx1"/>
                </a:solidFill>
              </a:rPr>
              <a:t>Когда создается </a:t>
            </a:r>
            <a:r>
              <a:rPr lang="en-US" dirty="0">
                <a:solidFill>
                  <a:schemeClr val="tx1"/>
                </a:solidFill>
              </a:rPr>
              <a:t>ORIG_HEAD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DB91E9-26FD-186C-839D-DC15C9BE263D}"/>
              </a:ext>
            </a:extLst>
          </p:cNvPr>
          <p:cNvSpPr txBox="1"/>
          <p:nvPr/>
        </p:nvSpPr>
        <p:spPr>
          <a:xfrm>
            <a:off x="0" y="871950"/>
            <a:ext cx="6250964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ru-RU" sz="2800" b="1" dirty="0"/>
              <a:t>Отмена </a:t>
            </a:r>
            <a:r>
              <a:rPr lang="en-US" sz="2800" b="1" dirty="0"/>
              <a:t>reset</a:t>
            </a:r>
          </a:p>
          <a:p>
            <a:pPr algn="l" latinLnBrk="1">
              <a:buNone/>
            </a:pPr>
            <a:r>
              <a:rPr lang="ru-RU" sz="2800" b="0" i="1" dirty="0">
                <a:solidFill>
                  <a:srgbClr val="A0A1A7"/>
                </a:solidFill>
                <a:effectLst/>
                <a:latin typeface="Menlo"/>
              </a:rPr>
              <a:t># 1. Проверяем текущее состояние</a:t>
            </a:r>
            <a:endParaRPr lang="ru-RU" sz="2800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buNone/>
            </a:pPr>
            <a:r>
              <a:rPr lang="en-US" sz="2800" b="0" dirty="0">
                <a:solidFill>
                  <a:srgbClr val="4078F2"/>
                </a:solidFill>
                <a:effectLst/>
                <a:latin typeface="Menlo"/>
              </a:rPr>
              <a:t>git</a:t>
            </a:r>
            <a:r>
              <a:rPr lang="en-US" sz="2800" b="0" dirty="0">
                <a:solidFill>
                  <a:srgbClr val="0F1115"/>
                </a:solidFill>
                <a:effectLst/>
                <a:latin typeface="Menlo"/>
              </a:rPr>
              <a:t> log </a:t>
            </a:r>
            <a:r>
              <a:rPr lang="en-US" sz="2800" b="0" dirty="0">
                <a:solidFill>
                  <a:srgbClr val="4078F2"/>
                </a:solidFill>
                <a:effectLst/>
                <a:latin typeface="Menlo"/>
              </a:rPr>
              <a:t>--</a:t>
            </a:r>
            <a:r>
              <a:rPr lang="en-US" sz="2800" b="0" dirty="0" err="1">
                <a:solidFill>
                  <a:srgbClr val="4078F2"/>
                </a:solidFill>
                <a:effectLst/>
                <a:latin typeface="Menlo"/>
              </a:rPr>
              <a:t>oneline</a:t>
            </a:r>
            <a:r>
              <a:rPr lang="en-US" sz="2800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2800" b="0" dirty="0">
                <a:solidFill>
                  <a:srgbClr val="4078F2"/>
                </a:solidFill>
                <a:effectLst/>
                <a:latin typeface="Menlo"/>
              </a:rPr>
              <a:t>-3</a:t>
            </a:r>
            <a:endParaRPr lang="en-US" sz="2800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buNone/>
            </a:pPr>
            <a:r>
              <a:rPr lang="en-US" sz="2800" b="0" i="1" dirty="0">
                <a:solidFill>
                  <a:srgbClr val="A0A1A7"/>
                </a:solidFill>
                <a:effectLst/>
                <a:latin typeface="Menlo"/>
              </a:rPr>
              <a:t># c1d2e3 Latest commit</a:t>
            </a:r>
            <a:endParaRPr lang="en-US" sz="2800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buNone/>
            </a:pPr>
            <a:r>
              <a:rPr lang="en-US" sz="2800" b="0" i="1" dirty="0">
                <a:solidFill>
                  <a:srgbClr val="A0A1A7"/>
                </a:solidFill>
                <a:effectLst/>
                <a:latin typeface="Menlo"/>
              </a:rPr>
              <a:t># f4g5h6 Middle commit</a:t>
            </a:r>
            <a:endParaRPr lang="en-US" sz="2800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buNone/>
            </a:pPr>
            <a:r>
              <a:rPr lang="en-US" sz="2800" b="0" i="1" dirty="0">
                <a:solidFill>
                  <a:srgbClr val="A0A1A7"/>
                </a:solidFill>
                <a:effectLst/>
                <a:latin typeface="Menlo"/>
              </a:rPr>
              <a:t># i7j8k9 Old commit</a:t>
            </a:r>
            <a:endParaRPr lang="en-US" sz="2800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buNone/>
            </a:pPr>
            <a:endParaRPr lang="en-US" sz="2800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buNone/>
            </a:pPr>
            <a:r>
              <a:rPr lang="en-US" sz="2800" b="0" i="1" dirty="0">
                <a:solidFill>
                  <a:srgbClr val="A0A1A7"/>
                </a:solidFill>
                <a:effectLst/>
                <a:latin typeface="Menlo"/>
              </a:rPr>
              <a:t># 2. </a:t>
            </a:r>
            <a:r>
              <a:rPr lang="ru-RU" sz="2800" b="0" i="1" dirty="0">
                <a:solidFill>
                  <a:srgbClr val="A0A1A7"/>
                </a:solidFill>
                <a:effectLst/>
                <a:latin typeface="Menlo"/>
              </a:rPr>
              <a:t>Делаем </a:t>
            </a:r>
            <a:r>
              <a:rPr lang="en-US" sz="2800" b="0" i="1" dirty="0">
                <a:solidFill>
                  <a:srgbClr val="A0A1A7"/>
                </a:solidFill>
                <a:effectLst/>
                <a:latin typeface="Menlo"/>
              </a:rPr>
              <a:t>hard reset (</a:t>
            </a:r>
            <a:r>
              <a:rPr lang="ru-RU" sz="2800" b="0" i="1" dirty="0">
                <a:solidFill>
                  <a:srgbClr val="A0A1A7"/>
                </a:solidFill>
                <a:effectLst/>
                <a:latin typeface="Menlo"/>
              </a:rPr>
              <a:t>опасно!)</a:t>
            </a:r>
            <a:endParaRPr lang="ru-RU" sz="2800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buNone/>
            </a:pPr>
            <a:r>
              <a:rPr lang="en-US" sz="2800" b="0" dirty="0">
                <a:solidFill>
                  <a:srgbClr val="4078F2"/>
                </a:solidFill>
                <a:effectLst/>
                <a:latin typeface="Menlo"/>
              </a:rPr>
              <a:t>git</a:t>
            </a:r>
            <a:r>
              <a:rPr lang="en-US" sz="2800" b="0" dirty="0">
                <a:solidFill>
                  <a:srgbClr val="0F1115"/>
                </a:solidFill>
                <a:effectLst/>
                <a:latin typeface="Menlo"/>
              </a:rPr>
              <a:t> reset </a:t>
            </a:r>
            <a:r>
              <a:rPr lang="en-US" sz="2800" b="0" dirty="0">
                <a:solidFill>
                  <a:srgbClr val="4078F2"/>
                </a:solidFill>
                <a:effectLst/>
                <a:latin typeface="Menlo"/>
              </a:rPr>
              <a:t>--hard</a:t>
            </a:r>
            <a:r>
              <a:rPr lang="en-US" sz="2800" b="0" dirty="0">
                <a:solidFill>
                  <a:srgbClr val="0F1115"/>
                </a:solidFill>
                <a:effectLst/>
                <a:latin typeface="Menlo"/>
              </a:rPr>
              <a:t> HEAD~2</a:t>
            </a:r>
          </a:p>
          <a:p>
            <a:pPr algn="l" latinLnBrk="1">
              <a:buNone/>
            </a:pPr>
            <a:endParaRPr lang="en-US" sz="2800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buNone/>
            </a:pPr>
            <a:r>
              <a:rPr lang="en-US" sz="2800" b="0" i="1" dirty="0">
                <a:solidFill>
                  <a:srgbClr val="A0A1A7"/>
                </a:solidFill>
                <a:effectLst/>
                <a:latin typeface="Menlo"/>
              </a:rPr>
              <a:t># 3. ORIG_HEAD </a:t>
            </a:r>
            <a:r>
              <a:rPr lang="ru-RU" sz="2800" b="0" i="1" dirty="0">
                <a:solidFill>
                  <a:srgbClr val="A0A1A7"/>
                </a:solidFill>
                <a:effectLst/>
                <a:latin typeface="Menlo"/>
              </a:rPr>
              <a:t>теперь указывает на </a:t>
            </a:r>
            <a:r>
              <a:rPr lang="en-US" sz="2800" b="0" i="1" dirty="0">
                <a:solidFill>
                  <a:srgbClr val="A0A1A7"/>
                </a:solidFill>
                <a:effectLst/>
                <a:latin typeface="Menlo"/>
              </a:rPr>
              <a:t>c1d2e3</a:t>
            </a:r>
            <a:endParaRPr lang="en-US" sz="2800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buNone/>
            </a:pPr>
            <a:r>
              <a:rPr lang="en-US" sz="2800" b="0" dirty="0">
                <a:solidFill>
                  <a:srgbClr val="4078F2"/>
                </a:solidFill>
                <a:effectLst/>
                <a:latin typeface="Menlo"/>
              </a:rPr>
              <a:t>cat</a:t>
            </a:r>
            <a:r>
              <a:rPr lang="en-US" sz="2800" b="0" dirty="0">
                <a:solidFill>
                  <a:srgbClr val="0F1115"/>
                </a:solidFill>
                <a:effectLst/>
                <a:latin typeface="Menlo"/>
              </a:rPr>
              <a:t> .git/ORIG_HEAD  </a:t>
            </a:r>
            <a:r>
              <a:rPr lang="en-US" sz="2800" b="0" i="1" dirty="0">
                <a:solidFill>
                  <a:srgbClr val="A0A1A7"/>
                </a:solidFill>
                <a:effectLst/>
                <a:latin typeface="Menlo"/>
              </a:rPr>
              <a:t># c1d2e3...</a:t>
            </a:r>
            <a:endParaRPr lang="ru-RU" sz="2800" b="0" dirty="0">
              <a:solidFill>
                <a:srgbClr val="0F1115"/>
              </a:solidFill>
              <a:effectLst/>
              <a:latin typeface="Menl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15794B-CBA4-2996-416F-FEAE332B7FEB}"/>
              </a:ext>
            </a:extLst>
          </p:cNvPr>
          <p:cNvSpPr txBox="1"/>
          <p:nvPr/>
        </p:nvSpPr>
        <p:spPr>
          <a:xfrm>
            <a:off x="7411451" y="1302837"/>
            <a:ext cx="4507831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en-US" sz="2800" b="0" i="1" dirty="0">
                <a:solidFill>
                  <a:srgbClr val="A0A1A7"/>
                </a:solidFill>
                <a:effectLst/>
                <a:latin typeface="Menlo"/>
              </a:rPr>
              <a:t># 4. </a:t>
            </a:r>
            <a:r>
              <a:rPr lang="ru-RU" sz="2800" b="0" i="1" dirty="0">
                <a:solidFill>
                  <a:srgbClr val="A0A1A7"/>
                </a:solidFill>
                <a:effectLst/>
                <a:latin typeface="Menlo"/>
              </a:rPr>
              <a:t>Ой, это была ошибка! Восстанавливаем:</a:t>
            </a:r>
            <a:endParaRPr lang="ru-RU" sz="2800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buNone/>
            </a:pPr>
            <a:r>
              <a:rPr lang="en-US" sz="2800" b="0" dirty="0">
                <a:solidFill>
                  <a:srgbClr val="4078F2"/>
                </a:solidFill>
                <a:effectLst/>
                <a:latin typeface="Menlo"/>
              </a:rPr>
              <a:t>git</a:t>
            </a:r>
            <a:r>
              <a:rPr lang="en-US" sz="2800" b="0" dirty="0">
                <a:solidFill>
                  <a:srgbClr val="0F1115"/>
                </a:solidFill>
                <a:effectLst/>
                <a:latin typeface="Menlo"/>
              </a:rPr>
              <a:t> reset </a:t>
            </a:r>
            <a:r>
              <a:rPr lang="en-US" sz="2800" b="0" dirty="0">
                <a:solidFill>
                  <a:srgbClr val="4078F2"/>
                </a:solidFill>
                <a:effectLst/>
                <a:latin typeface="Menlo"/>
              </a:rPr>
              <a:t>--hard</a:t>
            </a:r>
            <a:r>
              <a:rPr lang="en-US" sz="2800" b="0" dirty="0">
                <a:solidFill>
                  <a:srgbClr val="0F1115"/>
                </a:solidFill>
                <a:effectLst/>
                <a:latin typeface="Menlo"/>
              </a:rPr>
              <a:t> ORIG_HEAD</a:t>
            </a:r>
          </a:p>
          <a:p>
            <a:pPr algn="l" latinLnBrk="1">
              <a:buNone/>
            </a:pPr>
            <a:endParaRPr lang="en-US" sz="2800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buNone/>
            </a:pPr>
            <a:r>
              <a:rPr lang="en-US" sz="2800" b="0" i="1" dirty="0">
                <a:solidFill>
                  <a:srgbClr val="A0A1A7"/>
                </a:solidFill>
                <a:effectLst/>
                <a:latin typeface="Menlo"/>
              </a:rPr>
              <a:t># 5. </a:t>
            </a:r>
            <a:r>
              <a:rPr lang="ru-RU" sz="2800" b="0" i="1" dirty="0">
                <a:solidFill>
                  <a:srgbClr val="A0A1A7"/>
                </a:solidFill>
                <a:effectLst/>
                <a:latin typeface="Menlo"/>
              </a:rPr>
              <a:t>Проверяем - вернулись к исходному состоянию</a:t>
            </a:r>
            <a:endParaRPr lang="ru-RU" sz="2800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buNone/>
            </a:pPr>
            <a:r>
              <a:rPr lang="en-US" sz="2800" b="0" dirty="0">
                <a:solidFill>
                  <a:srgbClr val="4078F2"/>
                </a:solidFill>
                <a:effectLst/>
                <a:latin typeface="Menlo"/>
              </a:rPr>
              <a:t>git</a:t>
            </a:r>
            <a:r>
              <a:rPr lang="en-US" sz="2800" b="0" dirty="0">
                <a:solidFill>
                  <a:srgbClr val="0F1115"/>
                </a:solidFill>
                <a:effectLst/>
                <a:latin typeface="Menlo"/>
              </a:rPr>
              <a:t> log </a:t>
            </a:r>
            <a:r>
              <a:rPr lang="en-US" sz="2800" b="0" dirty="0">
                <a:solidFill>
                  <a:srgbClr val="4078F2"/>
                </a:solidFill>
                <a:effectLst/>
                <a:latin typeface="Menlo"/>
              </a:rPr>
              <a:t>--</a:t>
            </a:r>
            <a:r>
              <a:rPr lang="en-US" sz="2800" b="0" dirty="0" err="1">
                <a:solidFill>
                  <a:srgbClr val="4078F2"/>
                </a:solidFill>
                <a:effectLst/>
                <a:latin typeface="Menlo"/>
              </a:rPr>
              <a:t>oneline</a:t>
            </a:r>
            <a:r>
              <a:rPr lang="en-US" sz="2800" b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2800" b="0" dirty="0">
                <a:solidFill>
                  <a:srgbClr val="4078F2"/>
                </a:solidFill>
                <a:effectLst/>
                <a:latin typeface="Menlo"/>
              </a:rPr>
              <a:t>-3</a:t>
            </a:r>
            <a:endParaRPr lang="en-US" sz="2800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buNone/>
            </a:pPr>
            <a:r>
              <a:rPr lang="en-US" sz="2800" b="0" i="1" dirty="0">
                <a:solidFill>
                  <a:srgbClr val="A0A1A7"/>
                </a:solidFill>
                <a:effectLst/>
                <a:latin typeface="Menlo"/>
              </a:rPr>
              <a:t># c1d2e3 Latest commit</a:t>
            </a:r>
            <a:endParaRPr lang="en-US" sz="2800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buNone/>
            </a:pPr>
            <a:r>
              <a:rPr lang="en-US" sz="2800" b="0" i="1" dirty="0">
                <a:solidFill>
                  <a:srgbClr val="A0A1A7"/>
                </a:solidFill>
                <a:effectLst/>
                <a:latin typeface="Menlo"/>
              </a:rPr>
              <a:t># f4g5h6 Middle commit</a:t>
            </a:r>
            <a:endParaRPr lang="en-US" sz="2800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buNone/>
            </a:pPr>
            <a:r>
              <a:rPr lang="en-US" sz="2800" b="0" i="1" dirty="0">
                <a:solidFill>
                  <a:srgbClr val="A0A1A7"/>
                </a:solidFill>
                <a:effectLst/>
                <a:latin typeface="Menlo"/>
              </a:rPr>
              <a:t># i7j8k9 Old commit</a:t>
            </a:r>
            <a:endParaRPr lang="en-US" sz="2800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buNone/>
            </a:pPr>
            <a:endParaRPr lang="ru-RU" sz="2800" dirty="0">
              <a:solidFill>
                <a:srgbClr val="4078F2"/>
              </a:solidFill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285915065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A29F1-C349-CBC1-D05F-8B111A390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9CDF3D9-0578-7D4D-4974-8C8C29B8051D}"/>
              </a:ext>
            </a:extLst>
          </p:cNvPr>
          <p:cNvSpPr txBox="1">
            <a:spLocks/>
          </p:cNvSpPr>
          <p:nvPr/>
        </p:nvSpPr>
        <p:spPr>
          <a:xfrm>
            <a:off x="1097280" y="288758"/>
            <a:ext cx="9920125" cy="58319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2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solidFill>
                  <a:schemeClr val="tx1"/>
                </a:solidFill>
              </a:rPr>
              <a:t>Где находится </a:t>
            </a:r>
            <a:r>
              <a:rPr lang="en-US" dirty="0">
                <a:solidFill>
                  <a:schemeClr val="tx1"/>
                </a:solidFill>
              </a:rPr>
              <a:t>ORIG_HEAD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85003F-FAA2-0B6B-1E7C-747846AECA85}"/>
              </a:ext>
            </a:extLst>
          </p:cNvPr>
          <p:cNvSpPr txBox="1"/>
          <p:nvPr/>
        </p:nvSpPr>
        <p:spPr>
          <a:xfrm>
            <a:off x="1620253" y="2507594"/>
            <a:ext cx="10347158" cy="34027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ru-RU" sz="2800" b="0" i="1" dirty="0">
                <a:solidFill>
                  <a:srgbClr val="A0A1A7"/>
                </a:solidFill>
                <a:effectLst/>
                <a:latin typeface="Menlo"/>
              </a:rPr>
              <a:t># Посмотреть содержимое</a:t>
            </a:r>
          </a:p>
          <a:p>
            <a:pPr algn="l" latinLnBrk="1">
              <a:lnSpc>
                <a:spcPts val="1650"/>
              </a:lnSpc>
              <a:buNone/>
            </a:pPr>
            <a:endParaRPr lang="ru-RU" sz="2800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sz="2800" b="0" dirty="0">
                <a:solidFill>
                  <a:srgbClr val="4078F2"/>
                </a:solidFill>
                <a:effectLst/>
                <a:latin typeface="Menlo"/>
              </a:rPr>
              <a:t>cat</a:t>
            </a:r>
            <a:r>
              <a:rPr lang="en-US" sz="2800" b="0" dirty="0">
                <a:solidFill>
                  <a:srgbClr val="0F1115"/>
                </a:solidFill>
                <a:effectLst/>
                <a:latin typeface="Menlo"/>
              </a:rPr>
              <a:t> .git/ORIG_HEAD</a:t>
            </a:r>
            <a:endParaRPr lang="ru-RU" sz="2800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sz="2800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ru-RU" sz="2800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sz="2800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sz="2800" b="0" i="1" dirty="0">
                <a:solidFill>
                  <a:srgbClr val="A0A1A7"/>
                </a:solidFill>
                <a:effectLst/>
                <a:latin typeface="Menlo"/>
              </a:rPr>
              <a:t># </a:t>
            </a:r>
            <a:r>
              <a:rPr lang="ru-RU" sz="2800" b="0" i="1" dirty="0">
                <a:solidFill>
                  <a:srgbClr val="A0A1A7"/>
                </a:solidFill>
                <a:effectLst/>
                <a:latin typeface="Menlo"/>
              </a:rPr>
              <a:t>Или получить значение через </a:t>
            </a:r>
            <a:r>
              <a:rPr lang="en-US" sz="2800" b="0" i="1" dirty="0">
                <a:solidFill>
                  <a:srgbClr val="A0A1A7"/>
                </a:solidFill>
                <a:effectLst/>
                <a:latin typeface="Menlo"/>
              </a:rPr>
              <a:t>Git</a:t>
            </a:r>
            <a:endParaRPr lang="en-US" sz="2800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ru-RU" sz="2800" b="0" dirty="0">
              <a:solidFill>
                <a:srgbClr val="4078F2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sz="2800" b="0" dirty="0">
                <a:solidFill>
                  <a:srgbClr val="4078F2"/>
                </a:solidFill>
                <a:effectLst/>
                <a:latin typeface="Menlo"/>
              </a:rPr>
              <a:t>git</a:t>
            </a:r>
            <a:r>
              <a:rPr lang="en-US" sz="2800" b="0" dirty="0">
                <a:solidFill>
                  <a:srgbClr val="0F1115"/>
                </a:solidFill>
                <a:effectLst/>
                <a:latin typeface="Menlo"/>
              </a:rPr>
              <a:t> rev-parse ORIG_HEAD</a:t>
            </a:r>
            <a:endParaRPr lang="ru-RU" sz="2800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sz="2800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ru-RU" sz="2800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en-US" sz="2800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sz="2800" b="0" i="1" dirty="0">
                <a:solidFill>
                  <a:srgbClr val="A0A1A7"/>
                </a:solidFill>
                <a:effectLst/>
                <a:latin typeface="Menlo"/>
              </a:rPr>
              <a:t># </a:t>
            </a:r>
            <a:r>
              <a:rPr lang="ru-RU" sz="2800" b="0" i="1" dirty="0">
                <a:solidFill>
                  <a:srgbClr val="A0A1A7"/>
                </a:solidFill>
                <a:effectLst/>
                <a:latin typeface="Menlo"/>
              </a:rPr>
              <a:t>Показать коммит на который указывает </a:t>
            </a:r>
            <a:r>
              <a:rPr lang="en-US" sz="2800" b="0" i="1" dirty="0">
                <a:solidFill>
                  <a:srgbClr val="A0A1A7"/>
                </a:solidFill>
                <a:effectLst/>
                <a:latin typeface="Menlo"/>
              </a:rPr>
              <a:t>ORIG_HEAD</a:t>
            </a:r>
            <a:endParaRPr lang="en-US" sz="2800" b="0" dirty="0">
              <a:solidFill>
                <a:srgbClr val="0F1115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endParaRPr lang="ru-RU" sz="2800" b="0" dirty="0">
              <a:solidFill>
                <a:srgbClr val="4078F2"/>
              </a:solidFill>
              <a:effectLst/>
              <a:latin typeface="Menlo"/>
            </a:endParaRPr>
          </a:p>
          <a:p>
            <a:pPr algn="l" latinLnBrk="1">
              <a:lnSpc>
                <a:spcPts val="1650"/>
              </a:lnSpc>
              <a:buNone/>
            </a:pPr>
            <a:r>
              <a:rPr lang="en-US" sz="2800" b="0" dirty="0">
                <a:solidFill>
                  <a:srgbClr val="4078F2"/>
                </a:solidFill>
                <a:effectLst/>
                <a:latin typeface="Menlo"/>
              </a:rPr>
              <a:t>git</a:t>
            </a:r>
            <a:r>
              <a:rPr lang="en-US" sz="2800" b="0" dirty="0">
                <a:solidFill>
                  <a:srgbClr val="0F1115"/>
                </a:solidFill>
                <a:effectLst/>
                <a:latin typeface="Menlo"/>
              </a:rPr>
              <a:t> show ORIG_HEAD</a:t>
            </a:r>
          </a:p>
        </p:txBody>
      </p:sp>
    </p:spTree>
    <p:extLst>
      <p:ext uri="{BB962C8B-B14F-4D97-AF65-F5344CB8AC3E}">
        <p14:creationId xmlns:p14="http://schemas.microsoft.com/office/powerpoint/2010/main" val="381752099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785" y="0"/>
            <a:ext cx="10058400" cy="56089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G</a:t>
            </a:r>
            <a:r>
              <a:rPr lang="ru-RU" dirty="0" err="1">
                <a:solidFill>
                  <a:schemeClr val="tx1"/>
                </a:solidFill>
              </a:rPr>
              <a:t>it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– </a:t>
            </a:r>
            <a:r>
              <a:rPr lang="ru-RU" dirty="0"/>
              <a:t>Файл конфигурации .</a:t>
            </a:r>
            <a:r>
              <a:rPr lang="en-US" dirty="0" err="1"/>
              <a:t>gitignore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394741" y="804844"/>
            <a:ext cx="983604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можно описывать шаблоны игнорируемых в сводке </a:t>
            </a:r>
            <a:r>
              <a:rPr lang="en-US" sz="2800" dirty="0" err="1"/>
              <a:t>git</a:t>
            </a:r>
            <a:r>
              <a:rPr lang="en-US" sz="2800" dirty="0"/>
              <a:t> status </a:t>
            </a:r>
            <a:r>
              <a:rPr lang="ru-RU" sz="2800" dirty="0"/>
              <a:t>файлов определенного формата</a:t>
            </a:r>
            <a:r>
              <a:rPr lang="en-US" sz="2800" dirty="0"/>
              <a:t>:</a:t>
            </a:r>
          </a:p>
        </p:txBody>
      </p:sp>
      <p:pic>
        <p:nvPicPr>
          <p:cNvPr id="6" name="Рисунок 5" descr="Вырезка экрана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317" y="1865443"/>
            <a:ext cx="4148139" cy="4266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16654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Git</a:t>
            </a:r>
            <a:r>
              <a:rPr lang="en-US" dirty="0"/>
              <a:t> - </a:t>
            </a:r>
            <a:r>
              <a:rPr lang="ru-RU" dirty="0"/>
              <a:t>Рекомендации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90500" y="1845734"/>
            <a:ext cx="11194676" cy="4326466"/>
          </a:xfrm>
        </p:spPr>
        <p:txBody>
          <a:bodyPr>
            <a:noAutofit/>
          </a:bodyPr>
          <a:lstStyle/>
          <a:p>
            <a:r>
              <a:rPr lang="ru-RU" sz="3200" dirty="0"/>
              <a:t>Хорошие манеры:</a:t>
            </a:r>
          </a:p>
          <a:p>
            <a:r>
              <a:rPr lang="ru-RU" sz="3200" dirty="0"/>
              <a:t>● </a:t>
            </a:r>
            <a:r>
              <a:rPr lang="ru-RU" sz="3200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commit</a:t>
            </a:r>
            <a:r>
              <a:rPr lang="ru-RU" sz="32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ru-RU" sz="3200" dirty="0"/>
              <a:t>понятные и цельные изменения</a:t>
            </a:r>
          </a:p>
          <a:p>
            <a:r>
              <a:rPr lang="ru-RU" sz="3200" dirty="0"/>
              <a:t>● </a:t>
            </a:r>
            <a:r>
              <a:rPr lang="ru-RU" sz="3200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commit</a:t>
            </a:r>
            <a:r>
              <a:rPr lang="ru-RU" sz="32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ru-RU" sz="3200" dirty="0"/>
              <a:t>чаще, но не </a:t>
            </a:r>
            <a:r>
              <a:rPr lang="ru-RU" sz="3200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commit</a:t>
            </a:r>
            <a:r>
              <a:rPr lang="ru-RU" sz="32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ru-RU" sz="3200" dirty="0"/>
              <a:t>недоделанную работу</a:t>
            </a:r>
          </a:p>
          <a:p>
            <a:r>
              <a:rPr lang="ru-RU" sz="3200" dirty="0"/>
              <a:t>● тестируйте ваш код перед </a:t>
            </a:r>
            <a:r>
              <a:rPr lang="ru-RU" sz="3200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commit</a:t>
            </a:r>
            <a:r>
              <a:rPr lang="ru-RU" sz="32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endParaRPr lang="ru-RU" sz="3200" dirty="0"/>
          </a:p>
          <a:p>
            <a:r>
              <a:rPr lang="ru-RU" sz="3200" dirty="0"/>
              <a:t>● пишите понятные сообщения к </a:t>
            </a:r>
            <a:r>
              <a:rPr lang="ru-RU" sz="3200" dirty="0" err="1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commit</a:t>
            </a:r>
            <a:r>
              <a:rPr lang="ru-RU" sz="3200" dirty="0">
                <a:solidFill>
                  <a:srgbClr val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endParaRPr lang="ru-RU" sz="3200" dirty="0"/>
          </a:p>
          <a:p>
            <a:r>
              <a:rPr lang="ru-RU" sz="3200" dirty="0"/>
              <a:t>● используйте </a:t>
            </a:r>
            <a:r>
              <a:rPr lang="en-US" sz="3200" dirty="0" err="1"/>
              <a:t>git</a:t>
            </a:r>
            <a:r>
              <a:rPr lang="en-US" sz="3200" dirty="0"/>
              <a:t> flow</a:t>
            </a:r>
          </a:p>
          <a:p>
            <a:r>
              <a:rPr lang="ru-RU" sz="3200" dirty="0"/>
              <a:t>● помечать релизы с помощью тегов (почитайте про </a:t>
            </a:r>
            <a:r>
              <a:rPr lang="ru-RU" sz="3200" dirty="0" err="1"/>
              <a:t>semver</a:t>
            </a:r>
            <a:r>
              <a:rPr lang="ru-RU" sz="3200" dirty="0"/>
              <a:t>)</a:t>
            </a: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514350" indent="-514350">
              <a:buAutoNum type="arabicPeriod"/>
            </a:pP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16176169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9658</TotalTime>
  <Words>13675</Words>
  <Application>Microsoft Office PowerPoint</Application>
  <PresentationFormat>Широкоэкранный</PresentationFormat>
  <Paragraphs>1251</Paragraphs>
  <Slides>94</Slides>
  <Notes>83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94</vt:i4>
      </vt:variant>
    </vt:vector>
  </HeadingPairs>
  <TitlesOfParts>
    <vt:vector size="106" baseType="lpstr">
      <vt:lpstr>-apple-system</vt:lpstr>
      <vt:lpstr>Arial</vt:lpstr>
      <vt:lpstr>Calibri</vt:lpstr>
      <vt:lpstr>Calibri Light</vt:lpstr>
      <vt:lpstr>Courier New</vt:lpstr>
      <vt:lpstr>Inter</vt:lpstr>
      <vt:lpstr>Menlo</vt:lpstr>
      <vt:lpstr>quote-cjk-patch</vt:lpstr>
      <vt:lpstr>Roboto</vt:lpstr>
      <vt:lpstr>TT Norms Pro</vt:lpstr>
      <vt:lpstr>Wingdings</vt:lpstr>
      <vt:lpstr>Retrospect</vt:lpstr>
      <vt:lpstr>Избранные главы информатики</vt:lpstr>
      <vt:lpstr>Основы CI/CD, Git</vt:lpstr>
      <vt:lpstr>Waterfall</vt:lpstr>
      <vt:lpstr>Agile ( SCRUM, Kanban, Lean…)</vt:lpstr>
      <vt:lpstr>DevOps  модель CAMS</vt:lpstr>
      <vt:lpstr>Жизненный цикл DevOps</vt:lpstr>
      <vt:lpstr>Основы CI/CD</vt:lpstr>
      <vt:lpstr>Основы CI/CD - задачи</vt:lpstr>
      <vt:lpstr>Основы CI/CD - принципы</vt:lpstr>
      <vt:lpstr>Основы CI/CD – этапы</vt:lpstr>
      <vt:lpstr>Основы CI/CD – этапы</vt:lpstr>
      <vt:lpstr>CI-пайплайн (Continuous Integration Pipeline</vt:lpstr>
      <vt:lpstr>Из чего состоит CI-пайплайн?</vt:lpstr>
      <vt:lpstr>Пример CI-пайплайна на GitHub Actions </vt:lpstr>
      <vt:lpstr>CD-пайплайн (Continuous Delivery/Deployment Pipeline)</vt:lpstr>
      <vt:lpstr>Два варианта CD: </vt:lpstr>
      <vt:lpstr>Из чего состоит CD-пайплайн? </vt:lpstr>
      <vt:lpstr>Пример CD-пайплайна (GitHub Actions + AWS): </vt:lpstr>
      <vt:lpstr>Презентация PowerPoint</vt:lpstr>
      <vt:lpstr>Презентация PowerPoint</vt:lpstr>
      <vt:lpstr>Основы CI/CD – преимущества и недостатки</vt:lpstr>
      <vt:lpstr>Основы CI/CD – инструменты </vt:lpstr>
      <vt:lpstr>CI/CD  vs DevOps </vt:lpstr>
      <vt:lpstr>Другие DevOps-практики, связанные с CI/CD</vt:lpstr>
      <vt:lpstr>Полезные ссылки</vt:lpstr>
      <vt:lpstr>Git и системы контроля версий</vt:lpstr>
      <vt:lpstr>Системы контроля версий</vt:lpstr>
      <vt:lpstr>Локальная система контроля версий</vt:lpstr>
      <vt:lpstr>Локальная система контроля версий</vt:lpstr>
      <vt:lpstr>Централизованная система контроля версий</vt:lpstr>
      <vt:lpstr>Централизованная система контроля версий</vt:lpstr>
      <vt:lpstr>Распределенная система контроля версий</vt:lpstr>
      <vt:lpstr>Распределенная система контроля версий</vt:lpstr>
      <vt:lpstr>Системы контроля версий - возможности</vt:lpstr>
      <vt:lpstr>Git и системы контроля версий</vt:lpstr>
      <vt:lpstr>Git - Полезные ссылки</vt:lpstr>
      <vt:lpstr>Git – установка  </vt:lpstr>
      <vt:lpstr>Git – основные понятия</vt:lpstr>
      <vt:lpstr>Git – основные понятия</vt:lpstr>
      <vt:lpstr>Git – настройка</vt:lpstr>
      <vt:lpstr>Git – настройка</vt:lpstr>
      <vt:lpstr>Git – настройка</vt:lpstr>
      <vt:lpstr>Git – help  </vt:lpstr>
      <vt:lpstr>Git – начало работы.  Создание удаленного репозитория</vt:lpstr>
      <vt:lpstr>Презентация PowerPoint</vt:lpstr>
      <vt:lpstr>Git –  Создание локального репозитория</vt:lpstr>
      <vt:lpstr>Git –  Создание локального репозитория</vt:lpstr>
      <vt:lpstr>Git –  Создание локального репозитория</vt:lpstr>
      <vt:lpstr>Git – архитектура</vt:lpstr>
      <vt:lpstr>Git – состояния файлов</vt:lpstr>
      <vt:lpstr>Git – состояния файлов</vt:lpstr>
      <vt:lpstr>Git – объекты (.git/objects/)</vt:lpstr>
      <vt:lpstr>Git – индексирование файлов</vt:lpstr>
      <vt:lpstr>Git – индексирование файлов</vt:lpstr>
      <vt:lpstr>Git –  индексирование файлов</vt:lpstr>
      <vt:lpstr>Git –  Создание коммита</vt:lpstr>
      <vt:lpstr>Git –  Создание коммита</vt:lpstr>
      <vt:lpstr>Git –  Создание коммита</vt:lpstr>
      <vt:lpstr>Git</vt:lpstr>
      <vt:lpstr>Git </vt:lpstr>
      <vt:lpstr>Git –  Создание коммита</vt:lpstr>
      <vt:lpstr>Git –  Создание коммита</vt:lpstr>
      <vt:lpstr>Презентация PowerPoint</vt:lpstr>
      <vt:lpstr>Git –  Создание коммита</vt:lpstr>
      <vt:lpstr>Git –  Создание коммита</vt:lpstr>
      <vt:lpstr>Git –  Ветвление</vt:lpstr>
      <vt:lpstr>Git –  Ветвление</vt:lpstr>
      <vt:lpstr>Git –  Ветвление</vt:lpstr>
      <vt:lpstr>Git –  Ветвление</vt:lpstr>
      <vt:lpstr>Git –  Ветвление</vt:lpstr>
      <vt:lpstr>Git –  Ветвление</vt:lpstr>
      <vt:lpstr>Git –  Ветвление</vt:lpstr>
      <vt:lpstr>Git –  Ветвление</vt:lpstr>
      <vt:lpstr>Git – Работа с удаленными ветками</vt:lpstr>
      <vt:lpstr>Git – Работа с удаленными ветками</vt:lpstr>
      <vt:lpstr>Git – Просмотр состояния ветки</vt:lpstr>
      <vt:lpstr>Git – Работа с удаленными ветками</vt:lpstr>
      <vt:lpstr>Git – Работа с удаленными ветками</vt:lpstr>
      <vt:lpstr>Git – Работа с удаленными ветками</vt:lpstr>
      <vt:lpstr>Git – Работа с удаленными ветками</vt:lpstr>
      <vt:lpstr>Git – Работа с удаленными ветками</vt:lpstr>
      <vt:lpstr>Git – Работа с удаленными ветками</vt:lpstr>
      <vt:lpstr>Git – Работа с удаленными ветками</vt:lpstr>
      <vt:lpstr>Git – Работа с удаленными ветками</vt:lpstr>
      <vt:lpstr>Git – Работа с удаленными ветками</vt:lpstr>
      <vt:lpstr>Git – Работа с удаленными ветками</vt:lpstr>
      <vt:lpstr>Git – основные команды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Git – Файл конфигурации .gitignore</vt:lpstr>
      <vt:lpstr>Git - Рекомендации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Zhvakina</dc:creator>
  <cp:lastModifiedBy>ANNA</cp:lastModifiedBy>
  <cp:revision>640</cp:revision>
  <cp:lastPrinted>2016-01-26T13:20:45Z</cp:lastPrinted>
  <dcterms:created xsi:type="dcterms:W3CDTF">2015-03-09T11:51:14Z</dcterms:created>
  <dcterms:modified xsi:type="dcterms:W3CDTF">2026-02-11T08:39:41Z</dcterms:modified>
</cp:coreProperties>
</file>